
<file path=[Content_Types].xml><?xml version="1.0" encoding="utf-8"?>
<Types xmlns="http://schemas.openxmlformats.org/package/2006/content-types">
  <Default Extension="gif" ContentType="image/gif"/>
  <Default Extension="jpeg" ContentType="image/jpeg"/>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4"/>
  </p:sldMasterIdLst>
  <p:notesMasterIdLst>
    <p:notesMasterId r:id="rId25"/>
  </p:notesMasterIdLst>
  <p:handoutMasterIdLst>
    <p:handoutMasterId r:id="rId26"/>
  </p:handoutMasterIdLst>
  <p:sldIdLst>
    <p:sldId id="294" r:id="rId5"/>
    <p:sldId id="299" r:id="rId6"/>
    <p:sldId id="300" r:id="rId7"/>
    <p:sldId id="292" r:id="rId8"/>
    <p:sldId id="289" r:id="rId9"/>
    <p:sldId id="298" r:id="rId10"/>
    <p:sldId id="301" r:id="rId11"/>
    <p:sldId id="302" r:id="rId12"/>
    <p:sldId id="312" r:id="rId13"/>
    <p:sldId id="303" r:id="rId14"/>
    <p:sldId id="304" r:id="rId15"/>
    <p:sldId id="311" r:id="rId16"/>
    <p:sldId id="305" r:id="rId17"/>
    <p:sldId id="306" r:id="rId18"/>
    <p:sldId id="307" r:id="rId19"/>
    <p:sldId id="308" r:id="rId20"/>
    <p:sldId id="309" r:id="rId21"/>
    <p:sldId id="310" r:id="rId22"/>
    <p:sldId id="296" r:id="rId23"/>
    <p:sldId id="295" r:id="rId24"/>
  </p:sldIdLst>
  <p:sldSz cx="12192000" cy="6858000"/>
  <p:notesSz cx="6858000" cy="9144000"/>
  <p:custDataLst>
    <p:tags r:id="rId27"/>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pos="416" userDrawn="1">
          <p15:clr>
            <a:srgbClr val="A4A3A4"/>
          </p15:clr>
        </p15:guide>
        <p15:guide id="2" pos="7256" userDrawn="1">
          <p15:clr>
            <a:srgbClr val="A4A3A4"/>
          </p15:clr>
        </p15:guide>
        <p15:guide id="3" orient="horz" pos="663" userDrawn="1">
          <p15:clr>
            <a:srgbClr val="A4A3A4"/>
          </p15:clr>
        </p15:guide>
        <p15:guide id="4" orient="horz" pos="712" userDrawn="1">
          <p15:clr>
            <a:srgbClr val="A4A3A4"/>
          </p15:clr>
        </p15:guide>
        <p15:guide id="5" orient="horz" pos="3928" userDrawn="1">
          <p15:clr>
            <a:srgbClr val="A4A3A4"/>
          </p15:clr>
        </p15:guide>
        <p15:guide id="6" orient="horz" pos="3864" userDrawn="1">
          <p15:clr>
            <a:srgbClr val="A4A3A4"/>
          </p15:clr>
        </p15:guide>
        <p15:guide id="7"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8F8F8F"/>
    <a:srgbClr val="2819A9"/>
    <a:srgbClr val="2210A0"/>
    <a:srgbClr val="0D1EC3"/>
    <a:srgbClr val="0619C9"/>
    <a:srgbClr val="0B309F"/>
    <a:srgbClr val="000BB1"/>
    <a:srgbClr val="183CC1"/>
    <a:srgbClr val="0D2E98"/>
    <a:srgbClr val="000CB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93" d="100"/>
          <a:sy n="93" d="100"/>
        </p:scale>
        <p:origin x="82" y="154"/>
      </p:cViewPr>
      <p:guideLst>
        <p:guide pos="416"/>
        <p:guide pos="7256"/>
        <p:guide orient="horz" pos="663"/>
        <p:guide orient="horz" pos="712"/>
        <p:guide orient="horz" pos="3928"/>
        <p:guide orient="horz" pos="3864"/>
        <p:guide pos="3840"/>
      </p:guideLst>
    </p:cSldViewPr>
  </p:slideViewPr>
  <p:notesTextViewPr>
    <p:cViewPr>
      <p:scale>
        <a:sx n="1" d="1"/>
        <a:sy n="1" d="1"/>
      </p:scale>
      <p:origin x="0" y="0"/>
    </p:cViewPr>
  </p:notesTextViewPr>
  <p:sorterViewPr>
    <p:cViewPr>
      <p:scale>
        <a:sx n="125" d="100"/>
        <a:sy n="125" d="100"/>
      </p:scale>
      <p:origin x="0" y="0"/>
    </p:cViewPr>
  </p:sorterViewPr>
  <p:notesViewPr>
    <p:cSldViewPr snapToGrid="0">
      <p:cViewPr varScale="1">
        <p:scale>
          <a:sx n="66" d="100"/>
          <a:sy n="66" d="100"/>
        </p:scale>
        <p:origin x="3134" y="67"/>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handoutMaster" Target="handoutMasters/handoutMaster1.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notesMaster" Target="notesMasters/notesMaster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presProps" Target="presProp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tags" Target="tags/tag1.xml"/><Relationship Id="rId30"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A8864C25-809E-46F6-9741-46EF54402907}" type="datetimeFigureOut">
              <a:rPr lang="zh-CN" altLang="en-US" smtClean="0"/>
              <a:t>2025/12/10</a:t>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536D1C3B-3769-4666-89BB-1B482D52AF80}" type="slidenum">
              <a:rPr lang="zh-CN" altLang="en-US" smtClean="0"/>
              <a:t>‹#›</a:t>
            </a:fld>
            <a:endParaRPr lang="zh-CN"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1B22528-82E1-495B-9ED9-436C1E041C52}" type="datetimeFigureOut">
              <a:rPr lang="zh-CN" altLang="en-US" smtClean="0"/>
              <a:t>2025/12/10</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425E86B-9D03-4C65-950A-1885923859C1}"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5.png"/><Relationship Id="rId7" Type="http://schemas.openxmlformats.org/officeDocument/2006/relationships/image" Target="../media/image8.png"/><Relationship Id="rId2" Type="http://schemas.openxmlformats.org/officeDocument/2006/relationships/image" Target="../media/image4.png"/><Relationship Id="rId1" Type="http://schemas.openxmlformats.org/officeDocument/2006/relationships/slideMaster" Target="../slideMasters/slideMaster1.xml"/><Relationship Id="rId6" Type="http://schemas.openxmlformats.org/officeDocument/2006/relationships/image" Target="../media/image7.png"/><Relationship Id="rId5" Type="http://schemas.microsoft.com/office/2007/relationships/hdphoto" Target="../media/hdphoto1.wdp"/><Relationship Id="rId4" Type="http://schemas.openxmlformats.org/officeDocument/2006/relationships/image" Target="../media/image6.pn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仅标题">
    <p:spTree>
      <p:nvGrpSpPr>
        <p:cNvPr id="1" name=""/>
        <p:cNvGrpSpPr/>
        <p:nvPr/>
      </p:nvGrpSpPr>
      <p:grpSpPr>
        <a:xfrm>
          <a:off x="0" y="0"/>
          <a:ext cx="0" cy="0"/>
          <a:chOff x="0" y="0"/>
          <a:chExt cx="0" cy="0"/>
        </a:xfrm>
      </p:grpSpPr>
      <p:pic>
        <p:nvPicPr>
          <p:cNvPr id="2" name="图片 1">
            <a:extLst>
              <a:ext uri="{FF2B5EF4-FFF2-40B4-BE49-F238E27FC236}">
                <a16:creationId xmlns:a16="http://schemas.microsoft.com/office/drawing/2014/main" id="{663D3D0E-06D1-2322-4DBA-D04C266B0349}"/>
              </a:ext>
            </a:extLst>
          </p:cNvPr>
          <p:cNvPicPr>
            <a:picLocks noChangeAspect="1"/>
          </p:cNvPicPr>
          <p:nvPr userDrawn="1"/>
        </p:nvPicPr>
        <p:blipFill rotWithShape="1">
          <a:blip r:embed="rId2"/>
          <a:srcRect l="8022" t="511" r="8022" b="77961"/>
          <a:stretch/>
        </p:blipFill>
        <p:spPr>
          <a:xfrm>
            <a:off x="0" y="0"/>
            <a:ext cx="12192000" cy="2349352"/>
          </a:xfrm>
          <a:custGeom>
            <a:avLst/>
            <a:gdLst>
              <a:gd name="connsiteX0" fmla="*/ 0 w 12192000"/>
              <a:gd name="connsiteY0" fmla="*/ 0 h 6858000"/>
              <a:gd name="connsiteX1" fmla="*/ 12192000 w 12192000"/>
              <a:gd name="connsiteY1" fmla="*/ 0 h 6858000"/>
              <a:gd name="connsiteX2" fmla="*/ 12192000 w 12192000"/>
              <a:gd name="connsiteY2" fmla="*/ 6858000 h 6858000"/>
              <a:gd name="connsiteX3" fmla="*/ 0 w 1219200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2192000" h="6858000">
                <a:moveTo>
                  <a:pt x="0" y="0"/>
                </a:moveTo>
                <a:lnTo>
                  <a:pt x="12192000" y="0"/>
                </a:lnTo>
                <a:lnTo>
                  <a:pt x="12192000" y="6858000"/>
                </a:lnTo>
                <a:lnTo>
                  <a:pt x="0" y="6858000"/>
                </a:lnTo>
                <a:close/>
              </a:path>
            </a:pathLst>
          </a:custGeom>
        </p:spPr>
      </p:pic>
      <p:pic>
        <p:nvPicPr>
          <p:cNvPr id="3" name="图片 2" descr="文本&#10;&#10;描述已自动生成">
            <a:extLst>
              <a:ext uri="{FF2B5EF4-FFF2-40B4-BE49-F238E27FC236}">
                <a16:creationId xmlns:a16="http://schemas.microsoft.com/office/drawing/2014/main" id="{4D46B858-BB4B-25CF-27CA-492AF799F307}"/>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708938" y="282449"/>
            <a:ext cx="1097053" cy="315882"/>
          </a:xfrm>
          <a:prstGeom prst="rect">
            <a:avLst/>
          </a:prstGeom>
        </p:spPr>
      </p:pic>
      <p:sp>
        <p:nvSpPr>
          <p:cNvPr id="4" name="文本框 3">
            <a:extLst>
              <a:ext uri="{FF2B5EF4-FFF2-40B4-BE49-F238E27FC236}">
                <a16:creationId xmlns:a16="http://schemas.microsoft.com/office/drawing/2014/main" id="{649A5AE8-F941-039B-93B8-8878EB83B29D}"/>
              </a:ext>
            </a:extLst>
          </p:cNvPr>
          <p:cNvSpPr txBox="1"/>
          <p:nvPr userDrawn="1"/>
        </p:nvSpPr>
        <p:spPr>
          <a:xfrm>
            <a:off x="2996781" y="596844"/>
            <a:ext cx="6198438" cy="923330"/>
          </a:xfrm>
          <a:prstGeom prst="rect">
            <a:avLst/>
          </a:prstGeom>
          <a:noFill/>
        </p:spPr>
        <p:txBody>
          <a:bodyPr wrap="square" rtlCol="0">
            <a:spAutoFit/>
          </a:bodyPr>
          <a:lstStyle/>
          <a:p>
            <a:pPr algn="ctr"/>
            <a:r>
              <a:rPr lang="en-US" altLang="zh-CN" sz="5400" b="1" dirty="0">
                <a:solidFill>
                  <a:schemeClr val="bg1"/>
                </a:solidFill>
                <a:latin typeface="微软雅黑" panose="020B0503020204020204" pitchFamily="34" charset="-122"/>
                <a:ea typeface="微软雅黑" panose="020B0503020204020204" pitchFamily="34" charset="-122"/>
              </a:rPr>
              <a:t>CONTENTS</a:t>
            </a:r>
            <a:endParaRPr lang="zh-CN" altLang="en-US" sz="5400" b="1" dirty="0">
              <a:solidFill>
                <a:schemeClr val="bg1"/>
              </a:solidFill>
              <a:latin typeface="微软雅黑" panose="020B0503020204020204" pitchFamily="34" charset="-122"/>
              <a:ea typeface="微软雅黑" panose="020B0503020204020204" pitchFamily="34" charset="-122"/>
            </a:endParaRPr>
          </a:p>
        </p:txBody>
      </p:sp>
    </p:spTree>
  </p:cSld>
  <p:clrMapOvr>
    <a:masterClrMapping/>
  </p:clrMapOvr>
  <p:transition spd="med">
    <p:pull/>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pic>
        <p:nvPicPr>
          <p:cNvPr id="6" name="图片 5">
            <a:extLst>
              <a:ext uri="{FF2B5EF4-FFF2-40B4-BE49-F238E27FC236}">
                <a16:creationId xmlns:a16="http://schemas.microsoft.com/office/drawing/2014/main" id="{BD87B6FE-34DF-708A-6A8A-6A75A03FE97D}"/>
              </a:ext>
            </a:extLst>
          </p:cNvPr>
          <p:cNvPicPr>
            <a:picLocks noChangeAspect="1"/>
          </p:cNvPicPr>
          <p:nvPr userDrawn="1"/>
        </p:nvPicPr>
        <p:blipFill>
          <a:blip r:embed="rId2"/>
          <a:srcRect l="27110" t="13514" r="41427" b="62947"/>
          <a:stretch>
            <a:fillRect/>
          </a:stretch>
        </p:blipFill>
        <p:spPr>
          <a:xfrm>
            <a:off x="2" y="0"/>
            <a:ext cx="12191999" cy="6858001"/>
          </a:xfrm>
          <a:custGeom>
            <a:avLst/>
            <a:gdLst>
              <a:gd name="connsiteX0" fmla="*/ 0 w 12191999"/>
              <a:gd name="connsiteY0" fmla="*/ 0 h 6858001"/>
              <a:gd name="connsiteX1" fmla="*/ 12191999 w 12191999"/>
              <a:gd name="connsiteY1" fmla="*/ 0 h 6858001"/>
              <a:gd name="connsiteX2" fmla="*/ 12191999 w 12191999"/>
              <a:gd name="connsiteY2" fmla="*/ 6858001 h 6858001"/>
              <a:gd name="connsiteX3" fmla="*/ 0 w 12191999"/>
              <a:gd name="connsiteY3" fmla="*/ 6858001 h 6858001"/>
            </a:gdLst>
            <a:ahLst/>
            <a:cxnLst>
              <a:cxn ang="0">
                <a:pos x="connsiteX0" y="connsiteY0"/>
              </a:cxn>
              <a:cxn ang="0">
                <a:pos x="connsiteX1" y="connsiteY1"/>
              </a:cxn>
              <a:cxn ang="0">
                <a:pos x="connsiteX2" y="connsiteY2"/>
              </a:cxn>
              <a:cxn ang="0">
                <a:pos x="connsiteX3" y="connsiteY3"/>
              </a:cxn>
            </a:cxnLst>
            <a:rect l="l" t="t" r="r" b="b"/>
            <a:pathLst>
              <a:path w="12191999" h="6858001">
                <a:moveTo>
                  <a:pt x="0" y="0"/>
                </a:moveTo>
                <a:lnTo>
                  <a:pt x="12191999" y="0"/>
                </a:lnTo>
                <a:lnTo>
                  <a:pt x="12191999" y="6858001"/>
                </a:lnTo>
                <a:lnTo>
                  <a:pt x="0" y="6858001"/>
                </a:lnTo>
                <a:close/>
              </a:path>
            </a:pathLst>
          </a:custGeom>
        </p:spPr>
      </p:pic>
      <p:pic>
        <p:nvPicPr>
          <p:cNvPr id="7" name="图片 6" descr="文本&#10;&#10;描述已自动生成">
            <a:extLst>
              <a:ext uri="{FF2B5EF4-FFF2-40B4-BE49-F238E27FC236}">
                <a16:creationId xmlns:a16="http://schemas.microsoft.com/office/drawing/2014/main" id="{B0F6AF02-6457-B190-C2A6-9AF8FD52C036}"/>
              </a:ext>
            </a:extLst>
          </p:cNvPr>
          <p:cNvPicPr>
            <a:picLocks noChangeAspect="1"/>
          </p:cNvPicPr>
          <p:nvPr userDrawn="1"/>
        </p:nvPicPr>
        <p:blipFill>
          <a:blip r:embed="rId3" cstate="print">
            <a:duotone>
              <a:prstClr val="black"/>
              <a:schemeClr val="accent2">
                <a:tint val="45000"/>
                <a:satMod val="400000"/>
              </a:schemeClr>
            </a:duotone>
            <a:extLst>
              <a:ext uri="{28A0092B-C50C-407E-A947-70E740481C1C}">
                <a14:useLocalDpi xmlns:a14="http://schemas.microsoft.com/office/drawing/2010/main" val="0"/>
              </a:ext>
            </a:extLst>
          </a:blip>
          <a:stretch>
            <a:fillRect/>
          </a:stretch>
        </p:blipFill>
        <p:spPr>
          <a:xfrm>
            <a:off x="10708938" y="251183"/>
            <a:ext cx="1097053" cy="315882"/>
          </a:xfrm>
          <a:prstGeom prst="rect">
            <a:avLst/>
          </a:prstGeom>
        </p:spPr>
      </p:pic>
    </p:spTree>
    <p:extLst>
      <p:ext uri="{BB962C8B-B14F-4D97-AF65-F5344CB8AC3E}">
        <p14:creationId xmlns:p14="http://schemas.microsoft.com/office/powerpoint/2010/main" val="4042490374"/>
      </p:ext>
    </p:extLst>
  </p:cSld>
  <p:clrMapOvr>
    <a:masterClrMapping/>
  </p:clrMapOvr>
  <p:transition spd="med">
    <p:pull/>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2_自定义版式">
    <p:spTree>
      <p:nvGrpSpPr>
        <p:cNvPr id="1" name=""/>
        <p:cNvGrpSpPr/>
        <p:nvPr/>
      </p:nvGrpSpPr>
      <p:grpSpPr>
        <a:xfrm>
          <a:off x="0" y="0"/>
          <a:ext cx="0" cy="0"/>
          <a:chOff x="0" y="0"/>
          <a:chExt cx="0" cy="0"/>
        </a:xfrm>
      </p:grpSpPr>
      <p:pic>
        <p:nvPicPr>
          <p:cNvPr id="6" name="图片 5" descr="形状, 圆圈&#10;&#10;描述已自动生成">
            <a:extLst>
              <a:ext uri="{FF2B5EF4-FFF2-40B4-BE49-F238E27FC236}">
                <a16:creationId xmlns:a16="http://schemas.microsoft.com/office/drawing/2014/main" id="{C9099671-9E66-DBF6-61A3-C7FDBA292CA0}"/>
              </a:ext>
            </a:extLst>
          </p:cNvPr>
          <p:cNvPicPr>
            <a:picLocks/>
          </p:cNvPicPr>
          <p:nvPr userDrawn="1"/>
        </p:nvPicPr>
        <p:blipFill>
          <a:blip r:embed="rId2" cstate="print">
            <a:extLst>
              <a:ext uri="{28A0092B-C50C-407E-A947-70E740481C1C}">
                <a14:useLocalDpi xmlns:a14="http://schemas.microsoft.com/office/drawing/2010/main" val="0"/>
              </a:ext>
            </a:extLst>
          </a:blip>
          <a:stretch>
            <a:fillRect/>
          </a:stretch>
        </p:blipFill>
        <p:spPr>
          <a:xfrm>
            <a:off x="-6000" y="-9000"/>
            <a:ext cx="12204000" cy="6876000"/>
          </a:xfrm>
          <a:prstGeom prst="rect">
            <a:avLst/>
          </a:prstGeom>
        </p:spPr>
      </p:pic>
      <p:pic>
        <p:nvPicPr>
          <p:cNvPr id="8" name="图片 7" descr="背景图案&#10;&#10;描述已自动生成">
            <a:extLst>
              <a:ext uri="{FF2B5EF4-FFF2-40B4-BE49-F238E27FC236}">
                <a16:creationId xmlns:a16="http://schemas.microsoft.com/office/drawing/2014/main" id="{7B4824D5-72BF-7A23-BF18-1574D7C78C75}"/>
              </a:ext>
            </a:extLst>
          </p:cNvPr>
          <p:cNvPicPr>
            <a:picLocks noChangeAspect="1"/>
          </p:cNvPicPr>
          <p:nvPr userDrawn="1"/>
        </p:nvPicPr>
        <p:blipFill>
          <a:blip r:embed="rId3" cstate="print">
            <a:extLst>
              <a:ext uri="{28A0092B-C50C-407E-A947-70E740481C1C}">
                <a14:useLocalDpi xmlns:a14="http://schemas.microsoft.com/office/drawing/2010/main" val="0"/>
              </a:ext>
            </a:extLst>
          </a:blip>
          <a:srcRect l="8005" t="524" r="8005" b="36649"/>
          <a:stretch>
            <a:fillRect/>
          </a:stretch>
        </p:blipFill>
        <p:spPr>
          <a:xfrm>
            <a:off x="0" y="0"/>
            <a:ext cx="12192000" cy="6858000"/>
          </a:xfrm>
          <a:custGeom>
            <a:avLst/>
            <a:gdLst>
              <a:gd name="connsiteX0" fmla="*/ 0 w 12192000"/>
              <a:gd name="connsiteY0" fmla="*/ 0 h 6858000"/>
              <a:gd name="connsiteX1" fmla="*/ 12192000 w 12192000"/>
              <a:gd name="connsiteY1" fmla="*/ 0 h 6858000"/>
              <a:gd name="connsiteX2" fmla="*/ 12192000 w 12192000"/>
              <a:gd name="connsiteY2" fmla="*/ 6858000 h 6858000"/>
              <a:gd name="connsiteX3" fmla="*/ 0 w 1219200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2192000" h="6858000">
                <a:moveTo>
                  <a:pt x="0" y="0"/>
                </a:moveTo>
                <a:lnTo>
                  <a:pt x="12192000" y="0"/>
                </a:lnTo>
                <a:lnTo>
                  <a:pt x="12192000" y="6858000"/>
                </a:lnTo>
                <a:lnTo>
                  <a:pt x="0" y="6858000"/>
                </a:lnTo>
                <a:close/>
              </a:path>
            </a:pathLst>
          </a:custGeom>
        </p:spPr>
      </p:pic>
      <p:pic>
        <p:nvPicPr>
          <p:cNvPr id="7" name="图片 6" descr="图片包含 游戏机, 星星, 烟花&#10;&#10;描述已自动生成">
            <a:extLst>
              <a:ext uri="{FF2B5EF4-FFF2-40B4-BE49-F238E27FC236}">
                <a16:creationId xmlns:a16="http://schemas.microsoft.com/office/drawing/2014/main" id="{9F46B72D-6102-97AC-CD27-7BB5938C07A1}"/>
              </a:ext>
            </a:extLst>
          </p:cNvPr>
          <p:cNvPicPr>
            <a:picLocks noChangeAspect="1"/>
          </p:cNvPicPr>
          <p:nvPr userDrawn="1"/>
        </p:nvPicPr>
        <p:blipFill>
          <a:blip r:embed="rId4">
            <a:alphaModFix amt="50000"/>
            <a:extLst>
              <a:ext uri="{BEBA8EAE-BF5A-486C-A8C5-ECC9F3942E4B}">
                <a14:imgProps xmlns:a14="http://schemas.microsoft.com/office/drawing/2010/main">
                  <a14:imgLayer r:embed="rId5">
                    <a14:imgEffect>
                      <a14:brightnessContrast bright="20000"/>
                    </a14:imgEffect>
                  </a14:imgLayer>
                </a14:imgProps>
              </a:ext>
              <a:ext uri="{28A0092B-C50C-407E-A947-70E740481C1C}">
                <a14:useLocalDpi xmlns:a14="http://schemas.microsoft.com/office/drawing/2010/main" val="0"/>
              </a:ext>
            </a:extLst>
          </a:blip>
          <a:srcRect b="56196"/>
          <a:stretch>
            <a:fillRect/>
          </a:stretch>
        </p:blipFill>
        <p:spPr>
          <a:xfrm>
            <a:off x="2381052" y="1907747"/>
            <a:ext cx="7429897" cy="2536575"/>
          </a:xfrm>
          <a:custGeom>
            <a:avLst/>
            <a:gdLst>
              <a:gd name="connsiteX0" fmla="*/ 0 w 9069388"/>
              <a:gd name="connsiteY0" fmla="*/ 0 h 3096300"/>
              <a:gd name="connsiteX1" fmla="*/ 9069388 w 9069388"/>
              <a:gd name="connsiteY1" fmla="*/ 0 h 3096300"/>
              <a:gd name="connsiteX2" fmla="*/ 9069388 w 9069388"/>
              <a:gd name="connsiteY2" fmla="*/ 3096300 h 3096300"/>
              <a:gd name="connsiteX3" fmla="*/ 0 w 9069388"/>
              <a:gd name="connsiteY3" fmla="*/ 3096300 h 3096300"/>
            </a:gdLst>
            <a:ahLst/>
            <a:cxnLst>
              <a:cxn ang="0">
                <a:pos x="connsiteX0" y="connsiteY0"/>
              </a:cxn>
              <a:cxn ang="0">
                <a:pos x="connsiteX1" y="connsiteY1"/>
              </a:cxn>
              <a:cxn ang="0">
                <a:pos x="connsiteX2" y="connsiteY2"/>
              </a:cxn>
              <a:cxn ang="0">
                <a:pos x="connsiteX3" y="connsiteY3"/>
              </a:cxn>
            </a:cxnLst>
            <a:rect l="l" t="t" r="r" b="b"/>
            <a:pathLst>
              <a:path w="9069388" h="3096300">
                <a:moveTo>
                  <a:pt x="0" y="0"/>
                </a:moveTo>
                <a:lnTo>
                  <a:pt x="9069388" y="0"/>
                </a:lnTo>
                <a:lnTo>
                  <a:pt x="9069388" y="3096300"/>
                </a:lnTo>
                <a:lnTo>
                  <a:pt x="0" y="3096300"/>
                </a:lnTo>
                <a:close/>
              </a:path>
            </a:pathLst>
          </a:custGeom>
        </p:spPr>
      </p:pic>
      <p:pic>
        <p:nvPicPr>
          <p:cNvPr id="9" name="图片 8" descr="黑暗中的灯光&#10;&#10;描述已自动生成">
            <a:extLst>
              <a:ext uri="{FF2B5EF4-FFF2-40B4-BE49-F238E27FC236}">
                <a16:creationId xmlns:a16="http://schemas.microsoft.com/office/drawing/2014/main" id="{8048D727-B0AC-7EC4-DFC3-1AFD3FACCBE9}"/>
              </a:ext>
            </a:extLst>
          </p:cNvPr>
          <p:cNvPicPr>
            <a:picLocks noChangeAspect="1"/>
          </p:cNvPicPr>
          <p:nvPr userDrawn="1"/>
        </p:nvPicPr>
        <p:blipFill rotWithShape="1">
          <a:blip r:embed="rId6" cstate="print">
            <a:duotone>
              <a:schemeClr val="accent1">
                <a:shade val="45000"/>
                <a:satMod val="135000"/>
              </a:schemeClr>
              <a:prstClr val="white"/>
            </a:duotone>
            <a:extLst>
              <a:ext uri="{28A0092B-C50C-407E-A947-70E740481C1C}">
                <a14:useLocalDpi xmlns:a14="http://schemas.microsoft.com/office/drawing/2010/main" val="0"/>
              </a:ext>
            </a:extLst>
          </a:blip>
          <a:srcRect l="5246" t="35122" r="5246" b="35122"/>
          <a:stretch/>
        </p:blipFill>
        <p:spPr>
          <a:xfrm>
            <a:off x="2133600" y="4095780"/>
            <a:ext cx="7924800" cy="672416"/>
          </a:xfrm>
          <a:prstGeom prst="rect">
            <a:avLst/>
          </a:prstGeom>
        </p:spPr>
      </p:pic>
      <p:pic>
        <p:nvPicPr>
          <p:cNvPr id="10" name="图片 9" descr="文本&#10;&#10;描述已自动生成">
            <a:extLst>
              <a:ext uri="{FF2B5EF4-FFF2-40B4-BE49-F238E27FC236}">
                <a16:creationId xmlns:a16="http://schemas.microsoft.com/office/drawing/2014/main" id="{32C7F171-8824-3E75-2C33-A3DD320A1FBD}"/>
              </a:ext>
            </a:extLst>
          </p:cNvPr>
          <p:cNvPicPr>
            <a:picLocks noChangeAspect="1"/>
          </p:cNvPicPr>
          <p:nvPr userDrawn="1"/>
        </p:nvPicPr>
        <p:blipFill>
          <a:blip r:embed="rId7" cstate="print">
            <a:extLst>
              <a:ext uri="{28A0092B-C50C-407E-A947-70E740481C1C}">
                <a14:useLocalDpi xmlns:a14="http://schemas.microsoft.com/office/drawing/2010/main" val="0"/>
              </a:ext>
            </a:extLst>
          </a:blip>
          <a:stretch>
            <a:fillRect/>
          </a:stretch>
        </p:blipFill>
        <p:spPr>
          <a:xfrm>
            <a:off x="5093110" y="835181"/>
            <a:ext cx="2005780" cy="577538"/>
          </a:xfrm>
          <a:prstGeom prst="rect">
            <a:avLst/>
          </a:prstGeom>
        </p:spPr>
      </p:pic>
    </p:spTree>
    <p:extLst>
      <p:ext uri="{BB962C8B-B14F-4D97-AF65-F5344CB8AC3E}">
        <p14:creationId xmlns:p14="http://schemas.microsoft.com/office/powerpoint/2010/main" val="3636873137"/>
      </p:ext>
    </p:extLst>
  </p:cSld>
  <p:clrMapOvr>
    <a:masterClrMapping/>
  </p:clrMapOvr>
  <p:transition spd="med">
    <p:pull/>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blank" preserve="1">
  <p:cSld name="2_空白">
    <p:spTree>
      <p:nvGrpSpPr>
        <p:cNvPr id="1" name=""/>
        <p:cNvGrpSpPr/>
        <p:nvPr/>
      </p:nvGrpSpPr>
      <p:grpSpPr>
        <a:xfrm>
          <a:off x="0" y="0"/>
          <a:ext cx="0" cy="0"/>
          <a:chOff x="0" y="0"/>
          <a:chExt cx="0" cy="0"/>
        </a:xfrm>
      </p:grpSpPr>
      <p:pic>
        <p:nvPicPr>
          <p:cNvPr id="2" name="图片 1">
            <a:extLst>
              <a:ext uri="{FF2B5EF4-FFF2-40B4-BE49-F238E27FC236}">
                <a16:creationId xmlns:a16="http://schemas.microsoft.com/office/drawing/2014/main" id="{A7886FAB-697C-D516-09FB-987EA48E259E}"/>
              </a:ext>
            </a:extLst>
          </p:cNvPr>
          <p:cNvPicPr>
            <a:picLocks noChangeAspect="1"/>
          </p:cNvPicPr>
          <p:nvPr userDrawn="1"/>
        </p:nvPicPr>
        <p:blipFill rotWithShape="1">
          <a:blip r:embed="rId2"/>
          <a:srcRect l="8022" t="3036" r="8022" b="86177"/>
          <a:stretch/>
        </p:blipFill>
        <p:spPr>
          <a:xfrm>
            <a:off x="0" y="6249520"/>
            <a:ext cx="12192000" cy="608481"/>
          </a:xfrm>
          <a:custGeom>
            <a:avLst/>
            <a:gdLst>
              <a:gd name="connsiteX0" fmla="*/ 0 w 12192000"/>
              <a:gd name="connsiteY0" fmla="*/ 0 h 608481"/>
              <a:gd name="connsiteX1" fmla="*/ 412037 w 12192000"/>
              <a:gd name="connsiteY1" fmla="*/ 53286 h 608481"/>
              <a:gd name="connsiteX2" fmla="*/ 6096000 w 12192000"/>
              <a:gd name="connsiteY2" fmla="*/ 312514 h 608481"/>
              <a:gd name="connsiteX3" fmla="*/ 11779963 w 12192000"/>
              <a:gd name="connsiteY3" fmla="*/ 53286 h 608481"/>
              <a:gd name="connsiteX4" fmla="*/ 12192000 w 12192000"/>
              <a:gd name="connsiteY4" fmla="*/ 0 h 608481"/>
              <a:gd name="connsiteX5" fmla="*/ 12192000 w 12192000"/>
              <a:gd name="connsiteY5" fmla="*/ 608481 h 608481"/>
              <a:gd name="connsiteX6" fmla="*/ 0 w 12192000"/>
              <a:gd name="connsiteY6" fmla="*/ 608481 h 6084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0" h="608481">
                <a:moveTo>
                  <a:pt x="0" y="0"/>
                </a:moveTo>
                <a:lnTo>
                  <a:pt x="412037" y="53286"/>
                </a:lnTo>
                <a:cubicBezTo>
                  <a:pt x="1763070" y="211603"/>
                  <a:pt x="3807678" y="312514"/>
                  <a:pt x="6096000" y="312514"/>
                </a:cubicBezTo>
                <a:cubicBezTo>
                  <a:pt x="8384323" y="312514"/>
                  <a:pt x="10428931" y="211603"/>
                  <a:pt x="11779963" y="53286"/>
                </a:cubicBezTo>
                <a:lnTo>
                  <a:pt x="12192000" y="0"/>
                </a:lnTo>
                <a:lnTo>
                  <a:pt x="12192000" y="608481"/>
                </a:lnTo>
                <a:lnTo>
                  <a:pt x="0" y="608481"/>
                </a:lnTo>
                <a:close/>
              </a:path>
            </a:pathLst>
          </a:custGeom>
        </p:spPr>
      </p:pic>
      <p:pic>
        <p:nvPicPr>
          <p:cNvPr id="4" name="图片 3" descr="文本&#10;&#10;描述已自动生成">
            <a:extLst>
              <a:ext uri="{FF2B5EF4-FFF2-40B4-BE49-F238E27FC236}">
                <a16:creationId xmlns:a16="http://schemas.microsoft.com/office/drawing/2014/main" id="{F53596A4-DDDF-338F-74DC-7C0AAC980219}"/>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708938" y="6455034"/>
            <a:ext cx="1097053" cy="315882"/>
          </a:xfrm>
          <a:prstGeom prst="rect">
            <a:avLst/>
          </a:prstGeom>
        </p:spPr>
      </p:pic>
      <p:grpSp>
        <p:nvGrpSpPr>
          <p:cNvPr id="3" name="组合 2">
            <a:extLst>
              <a:ext uri="{FF2B5EF4-FFF2-40B4-BE49-F238E27FC236}">
                <a16:creationId xmlns:a16="http://schemas.microsoft.com/office/drawing/2014/main" id="{76AC738E-4B74-711B-09EE-B43812C77BC5}"/>
              </a:ext>
            </a:extLst>
          </p:cNvPr>
          <p:cNvGrpSpPr/>
          <p:nvPr userDrawn="1"/>
        </p:nvGrpSpPr>
        <p:grpSpPr>
          <a:xfrm>
            <a:off x="653415" y="0"/>
            <a:ext cx="0" cy="871817"/>
            <a:chOff x="358140" y="-184150"/>
            <a:chExt cx="0" cy="871817"/>
          </a:xfrm>
        </p:grpSpPr>
        <p:cxnSp>
          <p:nvCxnSpPr>
            <p:cNvPr id="5" name="直接连接符 4">
              <a:extLst>
                <a:ext uri="{FF2B5EF4-FFF2-40B4-BE49-F238E27FC236}">
                  <a16:creationId xmlns:a16="http://schemas.microsoft.com/office/drawing/2014/main" id="{CD0E2F18-11FE-B29E-3732-56B77B56137A}"/>
                </a:ext>
              </a:extLst>
            </p:cNvPr>
            <p:cNvCxnSpPr>
              <a:cxnSpLocks/>
            </p:cNvCxnSpPr>
            <p:nvPr/>
          </p:nvCxnSpPr>
          <p:spPr>
            <a:xfrm>
              <a:off x="358140" y="363667"/>
              <a:ext cx="0" cy="324000"/>
            </a:xfrm>
            <a:prstGeom prst="line">
              <a:avLst/>
            </a:prstGeom>
            <a:ln w="38100" cap="rnd"/>
          </p:spPr>
          <p:style>
            <a:lnRef idx="1">
              <a:schemeClr val="accent1"/>
            </a:lnRef>
            <a:fillRef idx="0">
              <a:schemeClr val="accent1"/>
            </a:fillRef>
            <a:effectRef idx="0">
              <a:schemeClr val="accent1"/>
            </a:effectRef>
            <a:fontRef idx="minor">
              <a:schemeClr val="tx1"/>
            </a:fontRef>
          </p:style>
        </p:cxnSp>
        <p:cxnSp>
          <p:nvCxnSpPr>
            <p:cNvPr id="6" name="Straight Connector 64+">
              <a:extLst>
                <a:ext uri="{FF2B5EF4-FFF2-40B4-BE49-F238E27FC236}">
                  <a16:creationId xmlns:a16="http://schemas.microsoft.com/office/drawing/2014/main" id="{E0B66896-880A-14FA-EA01-5678111E28A8}"/>
                </a:ext>
              </a:extLst>
            </p:cNvPr>
            <p:cNvCxnSpPr>
              <a:cxnSpLocks/>
            </p:cNvCxnSpPr>
            <p:nvPr/>
          </p:nvCxnSpPr>
          <p:spPr>
            <a:xfrm>
              <a:off x="358140" y="-184150"/>
              <a:ext cx="0" cy="646242"/>
            </a:xfrm>
            <a:prstGeom prst="line">
              <a:avLst/>
            </a:prstGeom>
            <a:ln w="3175" cap="rnd"/>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876300520"/>
      </p:ext>
    </p:extLst>
  </p:cSld>
  <p:clrMapOvr>
    <a:masterClrMapping/>
  </p:clrMapOvr>
  <p:transition spd="med">
    <p:pull/>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97F59F95-A8A5-42D7-AAC5-7FAC9982165F}" type="datetimeFigureOut">
              <a:rPr lang="zh-CN" altLang="en-US" smtClean="0"/>
              <a:t>2025/12/10</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89BF8A11-AB4E-46B9-9579-1E1A5872BCB2}" type="slidenum">
              <a:rPr lang="zh-CN" altLang="en-US" smtClean="0"/>
              <a:t>‹#›</a:t>
            </a:fld>
            <a:endParaRPr lang="zh-CN" altLang="en-US"/>
          </a:p>
        </p:txBody>
      </p:sp>
      <p:pic>
        <p:nvPicPr>
          <p:cNvPr id="9" name="图片 8" descr="775205267430540270d03f71c79b4a3"/>
          <p:cNvPicPr>
            <a:picLocks noChangeAspect="1"/>
          </p:cNvPicPr>
          <p:nvPr userDrawn="1"/>
        </p:nvPicPr>
        <p:blipFill>
          <a:blip r:embed="rId2"/>
          <a:stretch>
            <a:fillRect/>
          </a:stretch>
        </p:blipFill>
        <p:spPr>
          <a:xfrm>
            <a:off x="0" y="0"/>
            <a:ext cx="12192000" cy="6861810"/>
          </a:xfrm>
          <a:prstGeom prst="rect">
            <a:avLst/>
          </a:prstGeom>
        </p:spPr>
      </p:pic>
    </p:spTree>
  </p:cSld>
  <p:clrMapOvr>
    <a:masterClrMapping/>
  </p:clrMapOvr>
  <p:transition spd="med">
    <p:pull/>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97F59F95-A8A5-42D7-AAC5-7FAC9982165F}" type="datetimeFigureOut">
              <a:rPr lang="zh-CN" altLang="en-US" smtClean="0"/>
              <a:t>2025/12/10</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89BF8A11-AB4E-46B9-9579-1E1A5872BCB2}" type="slidenum">
              <a:rPr lang="zh-CN" altLang="en-US" smtClean="0"/>
              <a:t>‹#›</a:t>
            </a:fld>
            <a:endParaRPr lang="zh-CN" altLang="en-US"/>
          </a:p>
        </p:txBody>
      </p:sp>
    </p:spTree>
  </p:cSld>
  <p:clrMapOvr>
    <a:masterClrMapping/>
  </p:clrMapOvr>
  <p:transition spd="med">
    <p:pull/>
  </p:transition>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7F59F95-A8A5-42D7-AAC5-7FAC9982165F}" type="datetimeFigureOut">
              <a:rPr lang="zh-CN" altLang="en-US" smtClean="0"/>
              <a:t>2025/12/10</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9BF8A11-AB4E-46B9-9579-1E1A5872BCB2}"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54" r:id="rId1"/>
    <p:sldLayoutId id="2147483665" r:id="rId2"/>
    <p:sldLayoutId id="2147483663" r:id="rId3"/>
    <p:sldLayoutId id="2147483664" r:id="rId4"/>
    <p:sldLayoutId id="2147483656" r:id="rId5"/>
    <p:sldLayoutId id="2147483659" r:id="rId6"/>
  </p:sldLayoutIdLst>
  <p:transition spd="med">
    <p:pull/>
  </p:transition>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416" userDrawn="1">
          <p15:clr>
            <a:srgbClr val="F26B43"/>
          </p15:clr>
        </p15:guide>
        <p15:guide id="2" pos="7256" userDrawn="1">
          <p15:clr>
            <a:srgbClr val="F26B43"/>
          </p15:clr>
        </p15:guide>
        <p15:guide id="3" orient="horz" pos="648" userDrawn="1">
          <p15:clr>
            <a:srgbClr val="F26B43"/>
          </p15:clr>
        </p15:guide>
        <p15:guide id="4" orient="horz" pos="712" userDrawn="1">
          <p15:clr>
            <a:srgbClr val="F26B43"/>
          </p15:clr>
        </p15:guide>
        <p15:guide id="5" orient="horz" pos="3928" userDrawn="1">
          <p15:clr>
            <a:srgbClr val="F26B43"/>
          </p15:clr>
        </p15:guide>
        <p15:guide id="6" orient="horz" pos="3864"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2" Type="http://schemas.openxmlformats.org/officeDocument/2006/relationships/image" Target="../media/image10.gif"/><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12.png"/><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microsoft.com/office/2007/relationships/hdphoto" Target="../media/hdphoto3.wdp"/><Relationship Id="rId2" Type="http://schemas.openxmlformats.org/officeDocument/2006/relationships/image" Target="../media/image13.png"/><Relationship Id="rId1" Type="http://schemas.openxmlformats.org/officeDocument/2006/relationships/slideLayout" Target="../slideLayouts/slideLayout4.xml"/><Relationship Id="rId4" Type="http://schemas.openxmlformats.org/officeDocument/2006/relationships/image" Target="../media/image14.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image" Target="../media/image17.jpeg"/><Relationship Id="rId1" Type="http://schemas.openxmlformats.org/officeDocument/2006/relationships/slideLayout" Target="../slideLayouts/slideLayout4.xml"/><Relationship Id="rId6" Type="http://schemas.openxmlformats.org/officeDocument/2006/relationships/image" Target="../media/image21.jpeg"/><Relationship Id="rId5" Type="http://schemas.openxmlformats.org/officeDocument/2006/relationships/image" Target="../media/image20.jpeg"/><Relationship Id="rId4" Type="http://schemas.openxmlformats.org/officeDocument/2006/relationships/image" Target="../media/image19.jpe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8" name="文本框 17">
            <a:extLst>
              <a:ext uri="{FF2B5EF4-FFF2-40B4-BE49-F238E27FC236}">
                <a16:creationId xmlns:a16="http://schemas.microsoft.com/office/drawing/2014/main" id="{DBF001A8-4DFF-582F-4E44-13100941A737}"/>
              </a:ext>
            </a:extLst>
          </p:cNvPr>
          <p:cNvSpPr txBox="1"/>
          <p:nvPr/>
        </p:nvSpPr>
        <p:spPr>
          <a:xfrm>
            <a:off x="5537193" y="4842675"/>
            <a:ext cx="1117614" cy="307777"/>
          </a:xfrm>
          <a:prstGeom prst="rect">
            <a:avLst/>
          </a:prstGeom>
          <a:noFill/>
        </p:spPr>
        <p:txBody>
          <a:bodyPr wrap="none" rtlCol="0">
            <a:spAutoFit/>
          </a:bodyPr>
          <a:lstStyle/>
          <a:p>
            <a:pPr algn="ctr"/>
            <a:r>
              <a:rPr lang="en-US" altLang="zh-CN" sz="1400" dirty="0">
                <a:solidFill>
                  <a:schemeClr val="bg1"/>
                </a:solidFill>
                <a:latin typeface="微软雅黑" panose="020B0503020204020204" pitchFamily="34" charset="-122"/>
                <a:ea typeface="微软雅黑" panose="020B0503020204020204" pitchFamily="34" charset="-122"/>
              </a:rPr>
              <a:t>2025.12.10</a:t>
            </a:r>
            <a:endParaRPr lang="zh-CN" altLang="en-US" sz="5400" dirty="0">
              <a:solidFill>
                <a:schemeClr val="bg1"/>
              </a:solidFill>
              <a:latin typeface="微软雅黑" panose="020B0503020204020204" pitchFamily="34" charset="-122"/>
              <a:ea typeface="微软雅黑" panose="020B0503020204020204" pitchFamily="34" charset="-122"/>
            </a:endParaRPr>
          </a:p>
        </p:txBody>
      </p:sp>
      <p:grpSp>
        <p:nvGrpSpPr>
          <p:cNvPr id="11" name="组合 10">
            <a:extLst>
              <a:ext uri="{FF2B5EF4-FFF2-40B4-BE49-F238E27FC236}">
                <a16:creationId xmlns:a16="http://schemas.microsoft.com/office/drawing/2014/main" id="{6CA04BA3-F75A-E9ED-F137-7544656E2E69}"/>
              </a:ext>
            </a:extLst>
          </p:cNvPr>
          <p:cNvGrpSpPr/>
          <p:nvPr/>
        </p:nvGrpSpPr>
        <p:grpSpPr>
          <a:xfrm>
            <a:off x="2310349" y="1989647"/>
            <a:ext cx="7571303" cy="1627287"/>
            <a:chOff x="2348915" y="1913447"/>
            <a:chExt cx="7571303" cy="1627287"/>
          </a:xfrm>
        </p:grpSpPr>
        <p:sp>
          <p:nvSpPr>
            <p:cNvPr id="9" name="文本框 8">
              <a:extLst>
                <a:ext uri="{FF2B5EF4-FFF2-40B4-BE49-F238E27FC236}">
                  <a16:creationId xmlns:a16="http://schemas.microsoft.com/office/drawing/2014/main" id="{3A5EA19D-F162-089D-7AF5-1091492144C2}"/>
                </a:ext>
              </a:extLst>
            </p:cNvPr>
            <p:cNvSpPr txBox="1"/>
            <p:nvPr/>
          </p:nvSpPr>
          <p:spPr>
            <a:xfrm>
              <a:off x="3580024" y="1913447"/>
              <a:ext cx="5109091" cy="830997"/>
            </a:xfrm>
            <a:prstGeom prst="rect">
              <a:avLst/>
            </a:prstGeom>
            <a:noFill/>
          </p:spPr>
          <p:txBody>
            <a:bodyPr wrap="none" rtlCol="0">
              <a:spAutoFit/>
            </a:bodyPr>
            <a:lstStyle/>
            <a:p>
              <a:pPr algn="ctr"/>
              <a:r>
                <a:rPr kumimoji="0" lang="zh-CN" altLang="en-US" sz="48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rPr>
                <a:t>第二届</a:t>
              </a:r>
              <a:r>
                <a:rPr kumimoji="0" lang="en-US" altLang="zh-CN" sz="48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rPr>
                <a:t>”</a:t>
              </a:r>
              <a:r>
                <a:rPr kumimoji="0" lang="zh-CN" altLang="en-US" sz="48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rPr>
                <a:t>兴智杯</a:t>
              </a:r>
              <a:r>
                <a:rPr kumimoji="0" lang="en-US" altLang="zh-CN" sz="48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rPr>
                <a:t>”</a:t>
              </a:r>
              <a:endParaRPr lang="zh-CN" altLang="en-US" sz="4800" b="1" dirty="0">
                <a:solidFill>
                  <a:schemeClr val="bg1"/>
                </a:solidFill>
                <a:latin typeface="微软雅黑" panose="020B0503020204020204" pitchFamily="34" charset="-122"/>
                <a:ea typeface="微软雅黑" panose="020B0503020204020204" pitchFamily="34" charset="-122"/>
              </a:endParaRPr>
            </a:p>
          </p:txBody>
        </p:sp>
        <p:sp>
          <p:nvSpPr>
            <p:cNvPr id="10" name="文本框 9">
              <a:extLst>
                <a:ext uri="{FF2B5EF4-FFF2-40B4-BE49-F238E27FC236}">
                  <a16:creationId xmlns:a16="http://schemas.microsoft.com/office/drawing/2014/main" id="{662FEC6E-1F00-85D9-B00C-2970A25849D5}"/>
                </a:ext>
              </a:extLst>
            </p:cNvPr>
            <p:cNvSpPr txBox="1"/>
            <p:nvPr/>
          </p:nvSpPr>
          <p:spPr>
            <a:xfrm>
              <a:off x="2348915" y="2709737"/>
              <a:ext cx="7571303" cy="830997"/>
            </a:xfrm>
            <a:prstGeom prst="rect">
              <a:avLst/>
            </a:prstGeom>
            <a:noFill/>
          </p:spPr>
          <p:txBody>
            <a:bodyPr wrap="none" rtlCol="0">
              <a:spAutoFit/>
            </a:bodyPr>
            <a:lstStyle/>
            <a:p>
              <a:pPr algn="ctr"/>
              <a:r>
                <a:rPr kumimoji="0" lang="zh-CN" altLang="en-US" sz="48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rPr>
                <a:t>全国人工智能创新应用大赛</a:t>
              </a:r>
              <a:endParaRPr lang="zh-CN" altLang="en-US" sz="4800" b="1" dirty="0">
                <a:solidFill>
                  <a:schemeClr val="bg1"/>
                </a:solidFill>
                <a:latin typeface="微软雅黑" panose="020B0503020204020204" pitchFamily="34" charset="-122"/>
                <a:ea typeface="微软雅黑" panose="020B0503020204020204" pitchFamily="34" charset="-122"/>
              </a:endParaRPr>
            </a:p>
          </p:txBody>
        </p:sp>
      </p:grpSp>
    </p:spTree>
    <p:extLst>
      <p:ext uri="{BB962C8B-B14F-4D97-AF65-F5344CB8AC3E}">
        <p14:creationId xmlns:p14="http://schemas.microsoft.com/office/powerpoint/2010/main" val="45445824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232859-BF75-A434-7F0C-F8B2C079B3C4}"/>
            </a:ext>
          </a:extLst>
        </p:cNvPr>
        <p:cNvGrpSpPr/>
        <p:nvPr/>
      </p:nvGrpSpPr>
      <p:grpSpPr>
        <a:xfrm>
          <a:off x="0" y="0"/>
          <a:ext cx="0" cy="0"/>
          <a:chOff x="0" y="0"/>
          <a:chExt cx="0" cy="0"/>
        </a:xfrm>
      </p:grpSpPr>
      <p:grpSp>
        <p:nvGrpSpPr>
          <p:cNvPr id="11" name="组合 10">
            <a:extLst>
              <a:ext uri="{FF2B5EF4-FFF2-40B4-BE49-F238E27FC236}">
                <a16:creationId xmlns:a16="http://schemas.microsoft.com/office/drawing/2014/main" id="{97111709-06DB-544F-04F0-5205AF592D94}"/>
              </a:ext>
            </a:extLst>
          </p:cNvPr>
          <p:cNvGrpSpPr/>
          <p:nvPr/>
        </p:nvGrpSpPr>
        <p:grpSpPr>
          <a:xfrm>
            <a:off x="6003635" y="1989647"/>
            <a:ext cx="184733" cy="1627287"/>
            <a:chOff x="6042201" y="1913447"/>
            <a:chExt cx="184733" cy="1627287"/>
          </a:xfrm>
        </p:grpSpPr>
        <p:sp>
          <p:nvSpPr>
            <p:cNvPr id="9" name="文本框 8">
              <a:extLst>
                <a:ext uri="{FF2B5EF4-FFF2-40B4-BE49-F238E27FC236}">
                  <a16:creationId xmlns:a16="http://schemas.microsoft.com/office/drawing/2014/main" id="{6C00C19E-A964-BD9A-9CFB-0294460FD64C}"/>
                </a:ext>
              </a:extLst>
            </p:cNvPr>
            <p:cNvSpPr txBox="1"/>
            <p:nvPr/>
          </p:nvSpPr>
          <p:spPr>
            <a:xfrm>
              <a:off x="6042204" y="1913447"/>
              <a:ext cx="184730" cy="830997"/>
            </a:xfrm>
            <a:prstGeom prst="rect">
              <a:avLst/>
            </a:prstGeom>
            <a:noFill/>
          </p:spPr>
          <p:txBody>
            <a:bodyPr wrap="none" rtlCol="0">
              <a:spAutoFit/>
            </a:bodyPr>
            <a:lstStyle/>
            <a:p>
              <a:pPr algn="ctr"/>
              <a:endParaRPr lang="zh-CN" altLang="en-US" sz="4800" b="1" dirty="0">
                <a:solidFill>
                  <a:schemeClr val="bg1"/>
                </a:solidFill>
                <a:latin typeface="微软雅黑" panose="020B0503020204020204" pitchFamily="34" charset="-122"/>
                <a:ea typeface="微软雅黑" panose="020B0503020204020204" pitchFamily="34" charset="-122"/>
              </a:endParaRPr>
            </a:p>
          </p:txBody>
        </p:sp>
        <p:sp>
          <p:nvSpPr>
            <p:cNvPr id="10" name="文本框 9">
              <a:extLst>
                <a:ext uri="{FF2B5EF4-FFF2-40B4-BE49-F238E27FC236}">
                  <a16:creationId xmlns:a16="http://schemas.microsoft.com/office/drawing/2014/main" id="{816919FA-719D-FB68-9AF3-E15BD44ACF28}"/>
                </a:ext>
              </a:extLst>
            </p:cNvPr>
            <p:cNvSpPr txBox="1"/>
            <p:nvPr/>
          </p:nvSpPr>
          <p:spPr>
            <a:xfrm>
              <a:off x="6042201" y="2709737"/>
              <a:ext cx="184730" cy="830997"/>
            </a:xfrm>
            <a:prstGeom prst="rect">
              <a:avLst/>
            </a:prstGeom>
            <a:noFill/>
          </p:spPr>
          <p:txBody>
            <a:bodyPr wrap="none" rtlCol="0">
              <a:spAutoFit/>
            </a:bodyPr>
            <a:lstStyle/>
            <a:p>
              <a:pPr algn="ctr"/>
              <a:endParaRPr lang="zh-CN" altLang="en-US" sz="4800" b="1" dirty="0">
                <a:solidFill>
                  <a:schemeClr val="bg1"/>
                </a:solidFill>
                <a:latin typeface="微软雅黑" panose="020B0503020204020204" pitchFamily="34" charset="-122"/>
                <a:ea typeface="微软雅黑" panose="020B0503020204020204" pitchFamily="34" charset="-122"/>
              </a:endParaRPr>
            </a:p>
          </p:txBody>
        </p:sp>
      </p:grpSp>
      <p:sp>
        <p:nvSpPr>
          <p:cNvPr id="2" name="矩形: 圆角 1">
            <a:extLst>
              <a:ext uri="{FF2B5EF4-FFF2-40B4-BE49-F238E27FC236}">
                <a16:creationId xmlns:a16="http://schemas.microsoft.com/office/drawing/2014/main" id="{005B770A-1B34-3562-EF68-8C23DD809089}"/>
              </a:ext>
            </a:extLst>
          </p:cNvPr>
          <p:cNvSpPr/>
          <p:nvPr/>
        </p:nvSpPr>
        <p:spPr>
          <a:xfrm>
            <a:off x="0" y="1928174"/>
            <a:ext cx="12192000" cy="4979773"/>
          </a:xfrm>
          <a:prstGeom prst="roundRect">
            <a:avLst>
              <a:gd name="adj" fmla="val 0"/>
            </a:avLst>
          </a:prstGeom>
          <a:ln/>
        </p:spPr>
        <p:style>
          <a:lnRef idx="2">
            <a:schemeClr val="accent5"/>
          </a:lnRef>
          <a:fillRef idx="1">
            <a:schemeClr val="lt1"/>
          </a:fillRef>
          <a:effectRef idx="0">
            <a:schemeClr val="accent5"/>
          </a:effectRef>
          <a:fontRef idx="minor">
            <a:schemeClr val="dk1"/>
          </a:fontRef>
        </p:style>
        <p:txBody>
          <a:bodyPr rtlCol="0" anchor="ctr"/>
          <a:lstStyle/>
          <a:p>
            <a:endParaRPr lang="zh-CN" altLang="en-US" dirty="0">
              <a:latin typeface="Arial" panose="020B0604020202020204" pitchFamily="34" charset="0"/>
              <a:ea typeface="微软雅黑" panose="020B0503020204020204" pitchFamily="34" charset="-122"/>
              <a:sym typeface="Arial" panose="020B0604020202020204" pitchFamily="34" charset="0"/>
            </a:endParaRPr>
          </a:p>
        </p:txBody>
      </p:sp>
      <p:sp>
        <p:nvSpPr>
          <p:cNvPr id="3" name="文本框 2">
            <a:extLst>
              <a:ext uri="{FF2B5EF4-FFF2-40B4-BE49-F238E27FC236}">
                <a16:creationId xmlns:a16="http://schemas.microsoft.com/office/drawing/2014/main" id="{4E1D5D4D-857A-F49E-4C00-586766B7D88F}"/>
              </a:ext>
            </a:extLst>
          </p:cNvPr>
          <p:cNvSpPr txBox="1"/>
          <p:nvPr/>
        </p:nvSpPr>
        <p:spPr>
          <a:xfrm rot="16200000">
            <a:off x="4446692" y="-832169"/>
            <a:ext cx="2308324" cy="8615028"/>
          </a:xfrm>
          <a:prstGeom prst="rect">
            <a:avLst/>
          </a:prstGeom>
          <a:noFill/>
        </p:spPr>
        <p:txBody>
          <a:bodyPr vert="eaVert" wrap="square" rtlCol="0">
            <a:spAutoFit/>
          </a:bodyPr>
          <a:lstStyle/>
          <a:p>
            <a:r>
              <a:rPr lang="en-US" altLang="zh-CN" sz="6000" b="1" dirty="0">
                <a:solidFill>
                  <a:schemeClr val="accent1"/>
                </a:solidFill>
                <a:latin typeface="微软雅黑" panose="020B0503020204020204" pitchFamily="34" charset="-122"/>
                <a:ea typeface="微软雅黑" panose="020B0503020204020204" pitchFamily="34" charset="-122"/>
              </a:rPr>
              <a:t>AI</a:t>
            </a:r>
            <a:r>
              <a:rPr lang="zh-CN" altLang="en-US" sz="6000" b="1" dirty="0">
                <a:solidFill>
                  <a:schemeClr val="accent1"/>
                </a:solidFill>
                <a:latin typeface="微软雅黑" panose="020B0503020204020204" pitchFamily="34" charset="-122"/>
                <a:ea typeface="微软雅黑" panose="020B0503020204020204" pitchFamily="34" charset="-122"/>
              </a:rPr>
              <a:t>灵感助手：让每一条短视频先赢在想</a:t>
            </a:r>
            <a:endParaRPr lang="zh-CN" altLang="en-US" sz="6000" dirty="0">
              <a:solidFill>
                <a:schemeClr val="accent1"/>
              </a:solidFill>
              <a:latin typeface="微软雅黑" panose="020B0503020204020204" pitchFamily="34" charset="-122"/>
              <a:ea typeface="微软雅黑" panose="020B0503020204020204" pitchFamily="34" charset="-122"/>
            </a:endParaRPr>
          </a:p>
          <a:p>
            <a:endParaRPr lang="zh-CN" altLang="en-US" dirty="0"/>
          </a:p>
        </p:txBody>
      </p:sp>
      <p:sp>
        <p:nvSpPr>
          <p:cNvPr id="4" name="矩形: 圆角 68">
            <a:extLst>
              <a:ext uri="{FF2B5EF4-FFF2-40B4-BE49-F238E27FC236}">
                <a16:creationId xmlns:a16="http://schemas.microsoft.com/office/drawing/2014/main" id="{7F8956E3-DC7C-6AD3-ED4F-E4BB654F3FA0}"/>
              </a:ext>
            </a:extLst>
          </p:cNvPr>
          <p:cNvSpPr/>
          <p:nvPr/>
        </p:nvSpPr>
        <p:spPr>
          <a:xfrm>
            <a:off x="1293339" y="4749320"/>
            <a:ext cx="3256240" cy="546389"/>
          </a:xfrm>
          <a:prstGeom prst="roundRect">
            <a:avLst>
              <a:gd name="adj" fmla="val 50000"/>
            </a:avLst>
          </a:prstGeom>
          <a:solidFill>
            <a:srgbClr val="297BDF"/>
          </a:solidFill>
          <a:ln w="6055" cap="flat">
            <a:noFill/>
            <a:prstDash val="solid"/>
            <a:miter/>
          </a:ln>
        </p:spPr>
        <p:txBody>
          <a:bodyPr rtlCol="0" anchor="ctr"/>
          <a:lstStyle/>
          <a:p>
            <a:r>
              <a:rPr lang="zh-CN" altLang="en-US" sz="2000" b="1" dirty="0">
                <a:solidFill>
                  <a:schemeClr val="bg1"/>
                </a:solidFill>
                <a:latin typeface="微软雅黑" panose="020B0503020204020204" pitchFamily="34" charset="-122"/>
                <a:ea typeface="微软雅黑" panose="020B0503020204020204" pitchFamily="34" charset="-122"/>
                <a:sym typeface="Arial" panose="020B0604020202020204" pitchFamily="34" charset="0"/>
              </a:rPr>
              <a:t>团队：</a:t>
            </a:r>
            <a:r>
              <a:rPr lang="en-US" altLang="zh-CN" sz="2000" b="1" dirty="0">
                <a:solidFill>
                  <a:schemeClr val="bg1"/>
                </a:solidFill>
                <a:latin typeface="微软雅黑" panose="020B0503020204020204" pitchFamily="34" charset="-122"/>
                <a:ea typeface="微软雅黑" panose="020B0503020204020204" pitchFamily="34" charset="-122"/>
                <a:sym typeface="Arial" panose="020B0604020202020204" pitchFamily="34" charset="0"/>
              </a:rPr>
              <a:t>HOLLE WORLD</a:t>
            </a:r>
            <a:endParaRPr lang="zh-CN" altLang="en-US" sz="2000" b="1" dirty="0">
              <a:solidFill>
                <a:schemeClr val="bg1"/>
              </a:solidFill>
              <a:latin typeface="微软雅黑" panose="020B0503020204020204" pitchFamily="34" charset="-122"/>
              <a:ea typeface="微软雅黑" panose="020B0503020204020204" pitchFamily="34" charset="-122"/>
              <a:sym typeface="Arial" panose="020B0604020202020204" pitchFamily="34" charset="0"/>
            </a:endParaRPr>
          </a:p>
        </p:txBody>
      </p:sp>
      <p:pic>
        <p:nvPicPr>
          <p:cNvPr id="1026" name="Picture 2" descr="大脑简笔画图片-大脑简笔画素材-大脑简笔画模板图片下载-千库网">
            <a:extLst>
              <a:ext uri="{FF2B5EF4-FFF2-40B4-BE49-F238E27FC236}">
                <a16:creationId xmlns:a16="http://schemas.microsoft.com/office/drawing/2014/main" id="{FFE72643-36D3-0F76-B7F3-AAF162D20DE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271717" y="3616934"/>
            <a:ext cx="3048000" cy="3048000"/>
          </a:xfrm>
          <a:prstGeom prst="rect">
            <a:avLst/>
          </a:prstGeom>
          <a:noFill/>
          <a:extLst>
            <a:ext uri="{909E8E84-426E-40DD-AFC4-6F175D3DCCD1}">
              <a14:hiddenFill xmlns:a14="http://schemas.microsoft.com/office/drawing/2010/main">
                <a:solidFill>
                  <a:srgbClr val="FFFFFF"/>
                </a:solidFill>
              </a14:hiddenFill>
            </a:ext>
          </a:extLst>
        </p:spPr>
      </p:pic>
      <p:sp>
        <p:nvSpPr>
          <p:cNvPr id="5" name="文本框 4">
            <a:extLst>
              <a:ext uri="{FF2B5EF4-FFF2-40B4-BE49-F238E27FC236}">
                <a16:creationId xmlns:a16="http://schemas.microsoft.com/office/drawing/2014/main" id="{BD05E4B7-2855-255E-072C-95E4ADD219F7}"/>
              </a:ext>
            </a:extLst>
          </p:cNvPr>
          <p:cNvSpPr txBox="1"/>
          <p:nvPr/>
        </p:nvSpPr>
        <p:spPr>
          <a:xfrm>
            <a:off x="1294686" y="4089249"/>
            <a:ext cx="5176417" cy="400110"/>
          </a:xfrm>
          <a:prstGeom prst="rect">
            <a:avLst/>
          </a:prstGeom>
          <a:noFill/>
        </p:spPr>
        <p:txBody>
          <a:bodyPr wrap="none" rtlCol="0">
            <a:spAutoFit/>
          </a:bodyPr>
          <a:lstStyle/>
          <a:p>
            <a:r>
              <a:rPr lang="en-US" altLang="zh-CN" sz="2000" b="1" dirty="0">
                <a:solidFill>
                  <a:schemeClr val="accent1"/>
                </a:solidFill>
                <a:latin typeface="微软雅黑" panose="020B0503020204020204" pitchFamily="34" charset="-122"/>
                <a:ea typeface="微软雅黑" panose="020B0503020204020204" pitchFamily="34" charset="-122"/>
              </a:rPr>
              <a:t>——————————————————</a:t>
            </a:r>
            <a:endParaRPr lang="zh-CN" altLang="en-US" sz="2000" b="1" dirty="0">
              <a:solidFill>
                <a:schemeClr val="accent1"/>
              </a:solidFill>
              <a:latin typeface="微软雅黑" panose="020B0503020204020204" pitchFamily="34" charset="-122"/>
              <a:ea typeface="微软雅黑" panose="020B0503020204020204" pitchFamily="34" charset="-122"/>
            </a:endParaRPr>
          </a:p>
        </p:txBody>
      </p:sp>
      <p:sp>
        <p:nvSpPr>
          <p:cNvPr id="6" name="矩形: 圆角 68">
            <a:extLst>
              <a:ext uri="{FF2B5EF4-FFF2-40B4-BE49-F238E27FC236}">
                <a16:creationId xmlns:a16="http://schemas.microsoft.com/office/drawing/2014/main" id="{31DE55C9-05D0-C2DE-7633-7B44E40B05F4}"/>
              </a:ext>
            </a:extLst>
          </p:cNvPr>
          <p:cNvSpPr/>
          <p:nvPr/>
        </p:nvSpPr>
        <p:spPr>
          <a:xfrm>
            <a:off x="1293339" y="5517920"/>
            <a:ext cx="2520778" cy="480088"/>
          </a:xfrm>
          <a:prstGeom prst="roundRect">
            <a:avLst>
              <a:gd name="adj" fmla="val 50000"/>
            </a:avLst>
          </a:prstGeom>
          <a:solidFill>
            <a:srgbClr val="4B81BD"/>
          </a:solidFill>
          <a:ln w="6055" cap="flat">
            <a:noFill/>
            <a:prstDash val="solid"/>
            <a:miter/>
          </a:ln>
        </p:spPr>
        <p:txBody>
          <a:bodyPr rtlCol="0" anchor="ctr"/>
          <a:lstStyle/>
          <a:p>
            <a:r>
              <a:rPr lang="zh-CN" altLang="en-US" b="1" dirty="0">
                <a:solidFill>
                  <a:schemeClr val="bg1"/>
                </a:solidFill>
                <a:latin typeface="Arial" panose="020B0604020202020204" pitchFamily="34" charset="0"/>
                <a:ea typeface="微软雅黑" panose="020B0503020204020204" pitchFamily="34" charset="-122"/>
                <a:sym typeface="Arial" panose="020B0604020202020204" pitchFamily="34" charset="0"/>
              </a:rPr>
              <a:t>汇报人：刘卓轩</a:t>
            </a:r>
          </a:p>
        </p:txBody>
      </p:sp>
    </p:spTree>
    <p:extLst>
      <p:ext uri="{BB962C8B-B14F-4D97-AF65-F5344CB8AC3E}">
        <p14:creationId xmlns:p14="http://schemas.microsoft.com/office/powerpoint/2010/main" val="71844425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矩形: 圆角 14">
            <a:extLst>
              <a:ext uri="{FF2B5EF4-FFF2-40B4-BE49-F238E27FC236}">
                <a16:creationId xmlns:a16="http://schemas.microsoft.com/office/drawing/2014/main" id="{1EAAD99D-006F-E93E-D555-EC2D691A6076}"/>
              </a:ext>
            </a:extLst>
          </p:cNvPr>
          <p:cNvSpPr/>
          <p:nvPr/>
        </p:nvSpPr>
        <p:spPr>
          <a:xfrm>
            <a:off x="695326" y="1792349"/>
            <a:ext cx="2507556" cy="4516375"/>
          </a:xfrm>
          <a:prstGeom prst="roundRect">
            <a:avLst>
              <a:gd name="adj" fmla="val 5839"/>
            </a:avLst>
          </a:prstGeom>
          <a:solidFill>
            <a:schemeClr val="bg1"/>
          </a:solidFill>
          <a:ln>
            <a:noFill/>
          </a:ln>
          <a:effectLst>
            <a:outerShdw blurRad="254000" dist="139700" dir="5400000" sx="98000" sy="98000" algn="t" rotWithShape="0">
              <a:schemeClr val="bg1">
                <a:lumMod val="50000"/>
                <a:alpha val="21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pitchFamily="34" charset="-122"/>
              <a:ea typeface="微软雅黑" panose="020B0503020204020204" pitchFamily="34" charset="-122"/>
            </a:endParaRPr>
          </a:p>
        </p:txBody>
      </p:sp>
      <p:sp>
        <p:nvSpPr>
          <p:cNvPr id="16" name="矩形: 圆角 15">
            <a:extLst>
              <a:ext uri="{FF2B5EF4-FFF2-40B4-BE49-F238E27FC236}">
                <a16:creationId xmlns:a16="http://schemas.microsoft.com/office/drawing/2014/main" id="{51B01192-347C-4999-CC0C-6E02B49EFF5B}"/>
              </a:ext>
            </a:extLst>
          </p:cNvPr>
          <p:cNvSpPr/>
          <p:nvPr/>
        </p:nvSpPr>
        <p:spPr>
          <a:xfrm>
            <a:off x="3458213" y="1792349"/>
            <a:ext cx="2507556" cy="4516375"/>
          </a:xfrm>
          <a:prstGeom prst="roundRect">
            <a:avLst>
              <a:gd name="adj" fmla="val 5839"/>
            </a:avLst>
          </a:prstGeom>
          <a:solidFill>
            <a:schemeClr val="bg1"/>
          </a:solidFill>
          <a:ln>
            <a:noFill/>
          </a:ln>
          <a:effectLst>
            <a:outerShdw blurRad="254000" dist="139700" dir="5400000" sx="98000" sy="98000" algn="t" rotWithShape="0">
              <a:schemeClr val="bg1">
                <a:lumMod val="50000"/>
                <a:alpha val="21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pitchFamily="34" charset="-122"/>
              <a:ea typeface="微软雅黑" panose="020B0503020204020204" pitchFamily="34" charset="-122"/>
            </a:endParaRPr>
          </a:p>
        </p:txBody>
      </p:sp>
      <p:sp>
        <p:nvSpPr>
          <p:cNvPr id="17" name="矩形: 圆角 16">
            <a:extLst>
              <a:ext uri="{FF2B5EF4-FFF2-40B4-BE49-F238E27FC236}">
                <a16:creationId xmlns:a16="http://schemas.microsoft.com/office/drawing/2014/main" id="{08A4C3D2-7FC9-4CBB-9B5F-D9E452E3F9D4}"/>
              </a:ext>
            </a:extLst>
          </p:cNvPr>
          <p:cNvSpPr/>
          <p:nvPr/>
        </p:nvSpPr>
        <p:spPr>
          <a:xfrm>
            <a:off x="6221100" y="1792349"/>
            <a:ext cx="2507556" cy="4516375"/>
          </a:xfrm>
          <a:prstGeom prst="roundRect">
            <a:avLst>
              <a:gd name="adj" fmla="val 5839"/>
            </a:avLst>
          </a:prstGeom>
          <a:solidFill>
            <a:schemeClr val="bg1"/>
          </a:solidFill>
          <a:ln>
            <a:noFill/>
          </a:ln>
          <a:effectLst>
            <a:outerShdw blurRad="254000" dist="139700" dir="5400000" sx="98000" sy="98000" algn="t" rotWithShape="0">
              <a:schemeClr val="bg1">
                <a:lumMod val="50000"/>
                <a:alpha val="21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pitchFamily="34" charset="-122"/>
              <a:ea typeface="微软雅黑" panose="020B0503020204020204" pitchFamily="34" charset="-122"/>
            </a:endParaRPr>
          </a:p>
        </p:txBody>
      </p:sp>
      <p:sp>
        <p:nvSpPr>
          <p:cNvPr id="18" name="矩形: 圆角 17">
            <a:extLst>
              <a:ext uri="{FF2B5EF4-FFF2-40B4-BE49-F238E27FC236}">
                <a16:creationId xmlns:a16="http://schemas.microsoft.com/office/drawing/2014/main" id="{AB508E9B-3551-F48D-5159-9EB19FC2A969}"/>
              </a:ext>
            </a:extLst>
          </p:cNvPr>
          <p:cNvSpPr/>
          <p:nvPr/>
        </p:nvSpPr>
        <p:spPr>
          <a:xfrm>
            <a:off x="8983988" y="1792349"/>
            <a:ext cx="2507556" cy="4516375"/>
          </a:xfrm>
          <a:prstGeom prst="roundRect">
            <a:avLst>
              <a:gd name="adj" fmla="val 5839"/>
            </a:avLst>
          </a:prstGeom>
          <a:solidFill>
            <a:schemeClr val="bg1"/>
          </a:solidFill>
          <a:ln>
            <a:noFill/>
          </a:ln>
          <a:effectLst>
            <a:outerShdw blurRad="254000" dist="139700" dir="5400000" sx="98000" sy="98000" algn="t" rotWithShape="0">
              <a:schemeClr val="bg1">
                <a:lumMod val="50000"/>
                <a:alpha val="21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pitchFamily="34" charset="-122"/>
              <a:ea typeface="微软雅黑" panose="020B0503020204020204" pitchFamily="34" charset="-122"/>
            </a:endParaRPr>
          </a:p>
        </p:txBody>
      </p:sp>
      <p:sp>
        <p:nvSpPr>
          <p:cNvPr id="19" name="文本框 18">
            <a:extLst>
              <a:ext uri="{FF2B5EF4-FFF2-40B4-BE49-F238E27FC236}">
                <a16:creationId xmlns:a16="http://schemas.microsoft.com/office/drawing/2014/main" id="{5B2B369B-5470-13A6-0551-FD80EF7B187F}"/>
              </a:ext>
            </a:extLst>
          </p:cNvPr>
          <p:cNvSpPr txBox="1"/>
          <p:nvPr/>
        </p:nvSpPr>
        <p:spPr>
          <a:xfrm>
            <a:off x="918585" y="4694487"/>
            <a:ext cx="2061039" cy="830997"/>
          </a:xfrm>
          <a:prstGeom prst="rect">
            <a:avLst/>
          </a:prstGeom>
          <a:noFill/>
        </p:spPr>
        <p:txBody>
          <a:bodyPr wrap="square" rtlCol="0">
            <a:spAutoFit/>
          </a:bodyPr>
          <a:lstStyle/>
          <a:p>
            <a:pPr algn="ctr"/>
            <a:r>
              <a:rPr lang="zh-CN" altLang="en-US" sz="2400" b="1" dirty="0">
                <a:solidFill>
                  <a:schemeClr val="accent1"/>
                </a:solidFill>
                <a:latin typeface="微软雅黑" panose="020B0503020204020204" pitchFamily="34" charset="-122"/>
                <a:ea typeface="微软雅黑" panose="020B0503020204020204" pitchFamily="34" charset="-122"/>
              </a:rPr>
              <a:t>繁荣背后的真痛点</a:t>
            </a:r>
          </a:p>
        </p:txBody>
      </p:sp>
      <p:sp>
        <p:nvSpPr>
          <p:cNvPr id="20" name="文本框 19">
            <a:extLst>
              <a:ext uri="{FF2B5EF4-FFF2-40B4-BE49-F238E27FC236}">
                <a16:creationId xmlns:a16="http://schemas.microsoft.com/office/drawing/2014/main" id="{BEC2E162-B6C5-38BF-2D16-A5BAA4E74E65}"/>
              </a:ext>
            </a:extLst>
          </p:cNvPr>
          <p:cNvSpPr txBox="1"/>
          <p:nvPr/>
        </p:nvSpPr>
        <p:spPr>
          <a:xfrm>
            <a:off x="3778633" y="4694487"/>
            <a:ext cx="1866716" cy="1200329"/>
          </a:xfrm>
          <a:prstGeom prst="rect">
            <a:avLst/>
          </a:prstGeom>
          <a:noFill/>
        </p:spPr>
        <p:txBody>
          <a:bodyPr wrap="square" rtlCol="0">
            <a:spAutoFit/>
          </a:bodyPr>
          <a:lstStyle/>
          <a:p>
            <a:pPr algn="ctr"/>
            <a:r>
              <a:rPr lang="en-US" altLang="zh-CN" sz="2400" b="1" dirty="0">
                <a:solidFill>
                  <a:srgbClr val="2819A9"/>
                </a:solidFill>
                <a:latin typeface="微软雅黑" panose="020B0503020204020204" pitchFamily="34" charset="-122"/>
                <a:ea typeface="微软雅黑" panose="020B0503020204020204" pitchFamily="34" charset="-122"/>
              </a:rPr>
              <a:t>AI</a:t>
            </a:r>
            <a:r>
              <a:rPr lang="zh-CN" altLang="en-US" sz="2400" b="1" dirty="0">
                <a:solidFill>
                  <a:srgbClr val="2819A9"/>
                </a:solidFill>
                <a:latin typeface="微软雅黑" panose="020B0503020204020204" pitchFamily="34" charset="-122"/>
                <a:ea typeface="微软雅黑" panose="020B0503020204020204" pitchFamily="34" charset="-122"/>
              </a:rPr>
              <a:t>创意助手登场</a:t>
            </a:r>
          </a:p>
          <a:p>
            <a:pPr algn="ctr"/>
            <a:endParaRPr lang="zh-CN" altLang="en-US" sz="2400" b="1" dirty="0">
              <a:solidFill>
                <a:schemeClr val="accent1"/>
              </a:solidFill>
              <a:latin typeface="微软雅黑" panose="020B0503020204020204" pitchFamily="34" charset="-122"/>
              <a:ea typeface="微软雅黑" panose="020B0503020204020204" pitchFamily="34" charset="-122"/>
            </a:endParaRPr>
          </a:p>
        </p:txBody>
      </p:sp>
      <p:sp>
        <p:nvSpPr>
          <p:cNvPr id="21" name="文本框 20">
            <a:extLst>
              <a:ext uri="{FF2B5EF4-FFF2-40B4-BE49-F238E27FC236}">
                <a16:creationId xmlns:a16="http://schemas.microsoft.com/office/drawing/2014/main" id="{9B6A2AE1-4DFC-EE69-1B20-17C488C271BE}"/>
              </a:ext>
            </a:extLst>
          </p:cNvPr>
          <p:cNvSpPr txBox="1"/>
          <p:nvPr/>
        </p:nvSpPr>
        <p:spPr>
          <a:xfrm>
            <a:off x="6640163" y="4694487"/>
            <a:ext cx="1669430" cy="830997"/>
          </a:xfrm>
          <a:prstGeom prst="rect">
            <a:avLst/>
          </a:prstGeom>
          <a:noFill/>
        </p:spPr>
        <p:txBody>
          <a:bodyPr wrap="square" rtlCol="0">
            <a:spAutoFit/>
          </a:bodyPr>
          <a:lstStyle/>
          <a:p>
            <a:pPr algn="ctr"/>
            <a:r>
              <a:rPr lang="zh-CN" altLang="en-US" sz="2400" b="1" dirty="0">
                <a:solidFill>
                  <a:schemeClr val="accent1"/>
                </a:solidFill>
                <a:latin typeface="微软雅黑" panose="020B0503020204020204" pitchFamily="34" charset="-122"/>
                <a:ea typeface="微软雅黑" panose="020B0503020204020204" pitchFamily="34" charset="-122"/>
              </a:rPr>
              <a:t>护城河与赢面</a:t>
            </a:r>
          </a:p>
        </p:txBody>
      </p:sp>
      <p:sp>
        <p:nvSpPr>
          <p:cNvPr id="22" name="文本框 21">
            <a:extLst>
              <a:ext uri="{FF2B5EF4-FFF2-40B4-BE49-F238E27FC236}">
                <a16:creationId xmlns:a16="http://schemas.microsoft.com/office/drawing/2014/main" id="{BC24DB51-09A4-F1C1-EEB6-F1B2FAF55EBC}"/>
              </a:ext>
            </a:extLst>
          </p:cNvPr>
          <p:cNvSpPr txBox="1"/>
          <p:nvPr/>
        </p:nvSpPr>
        <p:spPr>
          <a:xfrm>
            <a:off x="9403051" y="4694487"/>
            <a:ext cx="1669430" cy="461665"/>
          </a:xfrm>
          <a:prstGeom prst="rect">
            <a:avLst/>
          </a:prstGeom>
          <a:noFill/>
        </p:spPr>
        <p:txBody>
          <a:bodyPr wrap="square" rtlCol="0">
            <a:spAutoFit/>
          </a:bodyPr>
          <a:lstStyle/>
          <a:p>
            <a:pPr algn="ctr"/>
            <a:r>
              <a:rPr lang="zh-CN" altLang="en-US" sz="2400" b="1" dirty="0">
                <a:solidFill>
                  <a:schemeClr val="accent1"/>
                </a:solidFill>
                <a:latin typeface="微软雅黑" panose="020B0503020204020204" pitchFamily="34" charset="-122"/>
                <a:ea typeface="微软雅黑" panose="020B0503020204020204" pitchFamily="34" charset="-122"/>
              </a:rPr>
              <a:t>价值总结</a:t>
            </a:r>
          </a:p>
        </p:txBody>
      </p:sp>
      <p:grpSp>
        <p:nvGrpSpPr>
          <p:cNvPr id="24" name="组合 23">
            <a:extLst>
              <a:ext uri="{FF2B5EF4-FFF2-40B4-BE49-F238E27FC236}">
                <a16:creationId xmlns:a16="http://schemas.microsoft.com/office/drawing/2014/main" id="{8EC669E6-9949-01E5-DE9B-E03490DB79D6}"/>
              </a:ext>
            </a:extLst>
          </p:cNvPr>
          <p:cNvGrpSpPr/>
          <p:nvPr/>
        </p:nvGrpSpPr>
        <p:grpSpPr>
          <a:xfrm>
            <a:off x="3905294" y="2425059"/>
            <a:ext cx="1613394" cy="1613396"/>
            <a:chOff x="1133019" y="2416926"/>
            <a:chExt cx="1613394" cy="1613396"/>
          </a:xfrm>
        </p:grpSpPr>
        <p:sp>
          <p:nvSpPr>
            <p:cNvPr id="25" name="椭圆 24">
              <a:extLst>
                <a:ext uri="{FF2B5EF4-FFF2-40B4-BE49-F238E27FC236}">
                  <a16:creationId xmlns:a16="http://schemas.microsoft.com/office/drawing/2014/main" id="{E8A9D023-4FDD-29B3-B0B1-7B949CF81A14}"/>
                </a:ext>
              </a:extLst>
            </p:cNvPr>
            <p:cNvSpPr/>
            <p:nvPr/>
          </p:nvSpPr>
          <p:spPr>
            <a:xfrm rot="19741494">
              <a:off x="1136666" y="2420574"/>
              <a:ext cx="1606100" cy="1606100"/>
            </a:xfrm>
            <a:prstGeom prst="ellipse">
              <a:avLst/>
            </a:prstGeom>
            <a:gradFill flip="none" rotWithShape="1">
              <a:gsLst>
                <a:gs pos="53000">
                  <a:schemeClr val="accent1">
                    <a:lumMod val="20000"/>
                    <a:lumOff val="80000"/>
                    <a:alpha val="22000"/>
                  </a:schemeClr>
                </a:gs>
                <a:gs pos="100000">
                  <a:schemeClr val="accent1">
                    <a:alpha val="10000"/>
                  </a:schemeClr>
                </a:gs>
              </a:gsLst>
              <a:path path="circle">
                <a:fillToRect l="50000" t="50000" r="50000" b="50000"/>
              </a:path>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endParaRPr>
            </a:p>
          </p:txBody>
        </p:sp>
        <p:grpSp>
          <p:nvGrpSpPr>
            <p:cNvPr id="26" name="组合 25">
              <a:extLst>
                <a:ext uri="{FF2B5EF4-FFF2-40B4-BE49-F238E27FC236}">
                  <a16:creationId xmlns:a16="http://schemas.microsoft.com/office/drawing/2014/main" id="{26044C31-DDE6-71F8-977E-95EEB2133791}"/>
                </a:ext>
              </a:extLst>
            </p:cNvPr>
            <p:cNvGrpSpPr/>
            <p:nvPr/>
          </p:nvGrpSpPr>
          <p:grpSpPr>
            <a:xfrm>
              <a:off x="1133019" y="2416926"/>
              <a:ext cx="1613394" cy="1613396"/>
              <a:chOff x="1133019" y="2416926"/>
              <a:chExt cx="1613394" cy="1613396"/>
            </a:xfrm>
          </p:grpSpPr>
          <p:sp>
            <p:nvSpPr>
              <p:cNvPr id="27" name="弧形 26">
                <a:extLst>
                  <a:ext uri="{FF2B5EF4-FFF2-40B4-BE49-F238E27FC236}">
                    <a16:creationId xmlns:a16="http://schemas.microsoft.com/office/drawing/2014/main" id="{B95B4D73-B7DC-83FB-9488-9F87F87D90B2}"/>
                  </a:ext>
                </a:extLst>
              </p:cNvPr>
              <p:cNvSpPr/>
              <p:nvPr/>
            </p:nvSpPr>
            <p:spPr>
              <a:xfrm rot="18364987">
                <a:off x="1133018" y="2416927"/>
                <a:ext cx="1613396" cy="1613394"/>
              </a:xfrm>
              <a:prstGeom prst="arc">
                <a:avLst/>
              </a:prstGeom>
              <a:noFill/>
              <a:ln w="12700">
                <a:gradFill flip="none" rotWithShape="1">
                  <a:gsLst>
                    <a:gs pos="0">
                      <a:schemeClr val="accent1"/>
                    </a:gs>
                    <a:gs pos="100000">
                      <a:schemeClr val="accent1">
                        <a:alpha val="0"/>
                      </a:schemeClr>
                    </a:gs>
                  </a:gsLst>
                  <a:lin ang="16200000" scaled="1"/>
                  <a:tileRect/>
                </a:gra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20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endParaRPr>
              </a:p>
            </p:txBody>
          </p:sp>
          <p:sp>
            <p:nvSpPr>
              <p:cNvPr id="28" name="弧形 27">
                <a:extLst>
                  <a:ext uri="{FF2B5EF4-FFF2-40B4-BE49-F238E27FC236}">
                    <a16:creationId xmlns:a16="http://schemas.microsoft.com/office/drawing/2014/main" id="{E8323D9A-09B6-5D74-F5CA-6DB6819DA964}"/>
                  </a:ext>
                </a:extLst>
              </p:cNvPr>
              <p:cNvSpPr/>
              <p:nvPr/>
            </p:nvSpPr>
            <p:spPr>
              <a:xfrm rot="7564987">
                <a:off x="1133018" y="2416927"/>
                <a:ext cx="1613396" cy="1613394"/>
              </a:xfrm>
              <a:prstGeom prst="arc">
                <a:avLst/>
              </a:prstGeom>
              <a:noFill/>
              <a:ln w="12700">
                <a:gradFill flip="none" rotWithShape="1">
                  <a:gsLst>
                    <a:gs pos="0">
                      <a:schemeClr val="accent1"/>
                    </a:gs>
                    <a:gs pos="100000">
                      <a:schemeClr val="accent1">
                        <a:alpha val="0"/>
                      </a:schemeClr>
                    </a:gs>
                  </a:gsLst>
                  <a:lin ang="16200000" scaled="1"/>
                  <a:tileRect/>
                </a:gra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20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endParaRPr>
              </a:p>
            </p:txBody>
          </p:sp>
        </p:grpSp>
      </p:grpSp>
      <p:sp>
        <p:nvSpPr>
          <p:cNvPr id="29" name="椭圆 28">
            <a:extLst>
              <a:ext uri="{FF2B5EF4-FFF2-40B4-BE49-F238E27FC236}">
                <a16:creationId xmlns:a16="http://schemas.microsoft.com/office/drawing/2014/main" id="{B9CFB53D-A420-8D92-63B1-6D957B026DB4}"/>
              </a:ext>
            </a:extLst>
          </p:cNvPr>
          <p:cNvSpPr/>
          <p:nvPr/>
        </p:nvSpPr>
        <p:spPr>
          <a:xfrm>
            <a:off x="4165263" y="2685027"/>
            <a:ext cx="1093456" cy="1093460"/>
          </a:xfrm>
          <a:prstGeom prst="ellipse">
            <a:avLst/>
          </a:prstGeom>
          <a:solidFill>
            <a:schemeClr val="bg1"/>
          </a:solidFill>
          <a:ln>
            <a:noFill/>
          </a:ln>
          <a:effectLst>
            <a:outerShdw blurRad="279400" dist="342900" dir="5400000" sx="88000" sy="88000" algn="t" rotWithShape="0">
              <a:schemeClr val="accent1">
                <a:alpha val="42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3200" dirty="0">
                <a:solidFill>
                  <a:schemeClr val="accent1"/>
                </a:solidFill>
                <a:latin typeface="微软雅黑" panose="020B0503020204020204" pitchFamily="34" charset="-122"/>
                <a:ea typeface="微软雅黑" panose="020B0503020204020204" pitchFamily="34" charset="-122"/>
              </a:rPr>
              <a:t>02</a:t>
            </a:r>
            <a:endParaRPr lang="zh-CN" altLang="en-US" sz="3200" dirty="0">
              <a:solidFill>
                <a:schemeClr val="accent1"/>
              </a:solidFill>
              <a:latin typeface="微软雅黑" panose="020B0503020204020204" pitchFamily="34" charset="-122"/>
              <a:ea typeface="微软雅黑" panose="020B0503020204020204" pitchFamily="34" charset="-122"/>
            </a:endParaRPr>
          </a:p>
        </p:txBody>
      </p:sp>
      <p:grpSp>
        <p:nvGrpSpPr>
          <p:cNvPr id="30" name="组合 29">
            <a:extLst>
              <a:ext uri="{FF2B5EF4-FFF2-40B4-BE49-F238E27FC236}">
                <a16:creationId xmlns:a16="http://schemas.microsoft.com/office/drawing/2014/main" id="{72A8A165-446E-9753-5E47-F9714C56EF58}"/>
              </a:ext>
            </a:extLst>
          </p:cNvPr>
          <p:cNvGrpSpPr/>
          <p:nvPr/>
        </p:nvGrpSpPr>
        <p:grpSpPr>
          <a:xfrm>
            <a:off x="6668181" y="2425059"/>
            <a:ext cx="1613394" cy="1613396"/>
            <a:chOff x="1133019" y="2416926"/>
            <a:chExt cx="1613394" cy="1613396"/>
          </a:xfrm>
        </p:grpSpPr>
        <p:sp>
          <p:nvSpPr>
            <p:cNvPr id="31" name="椭圆 30">
              <a:extLst>
                <a:ext uri="{FF2B5EF4-FFF2-40B4-BE49-F238E27FC236}">
                  <a16:creationId xmlns:a16="http://schemas.microsoft.com/office/drawing/2014/main" id="{7463AC66-FECE-2038-30AD-B97D16040715}"/>
                </a:ext>
              </a:extLst>
            </p:cNvPr>
            <p:cNvSpPr/>
            <p:nvPr/>
          </p:nvSpPr>
          <p:spPr>
            <a:xfrm rot="19741494">
              <a:off x="1136666" y="2420574"/>
              <a:ext cx="1606100" cy="1606100"/>
            </a:xfrm>
            <a:prstGeom prst="ellipse">
              <a:avLst/>
            </a:prstGeom>
            <a:gradFill flip="none" rotWithShape="1">
              <a:gsLst>
                <a:gs pos="53000">
                  <a:schemeClr val="accent1">
                    <a:lumMod val="20000"/>
                    <a:lumOff val="80000"/>
                    <a:alpha val="22000"/>
                  </a:schemeClr>
                </a:gs>
                <a:gs pos="100000">
                  <a:schemeClr val="accent1">
                    <a:alpha val="10000"/>
                  </a:schemeClr>
                </a:gs>
              </a:gsLst>
              <a:path path="circle">
                <a:fillToRect l="50000" t="50000" r="50000" b="50000"/>
              </a:path>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endParaRPr>
            </a:p>
          </p:txBody>
        </p:sp>
        <p:grpSp>
          <p:nvGrpSpPr>
            <p:cNvPr id="32" name="组合 31">
              <a:extLst>
                <a:ext uri="{FF2B5EF4-FFF2-40B4-BE49-F238E27FC236}">
                  <a16:creationId xmlns:a16="http://schemas.microsoft.com/office/drawing/2014/main" id="{5CD311DE-4585-538C-ACFE-864713C69F7F}"/>
                </a:ext>
              </a:extLst>
            </p:cNvPr>
            <p:cNvGrpSpPr/>
            <p:nvPr/>
          </p:nvGrpSpPr>
          <p:grpSpPr>
            <a:xfrm>
              <a:off x="1133019" y="2416926"/>
              <a:ext cx="1613394" cy="1613396"/>
              <a:chOff x="1133019" y="2416926"/>
              <a:chExt cx="1613394" cy="1613396"/>
            </a:xfrm>
          </p:grpSpPr>
          <p:sp>
            <p:nvSpPr>
              <p:cNvPr id="33" name="弧形 32">
                <a:extLst>
                  <a:ext uri="{FF2B5EF4-FFF2-40B4-BE49-F238E27FC236}">
                    <a16:creationId xmlns:a16="http://schemas.microsoft.com/office/drawing/2014/main" id="{73A53D4F-2C2E-A8A2-07A3-4955EBC737A4}"/>
                  </a:ext>
                </a:extLst>
              </p:cNvPr>
              <p:cNvSpPr/>
              <p:nvPr/>
            </p:nvSpPr>
            <p:spPr>
              <a:xfrm rot="18364987">
                <a:off x="1133018" y="2416927"/>
                <a:ext cx="1613396" cy="1613394"/>
              </a:xfrm>
              <a:prstGeom prst="arc">
                <a:avLst/>
              </a:prstGeom>
              <a:noFill/>
              <a:ln w="12700">
                <a:gradFill flip="none" rotWithShape="1">
                  <a:gsLst>
                    <a:gs pos="0">
                      <a:schemeClr val="accent1"/>
                    </a:gs>
                    <a:gs pos="100000">
                      <a:schemeClr val="accent1">
                        <a:alpha val="0"/>
                      </a:schemeClr>
                    </a:gs>
                  </a:gsLst>
                  <a:lin ang="16200000" scaled="1"/>
                  <a:tileRect/>
                </a:gra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20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endParaRPr>
              </a:p>
            </p:txBody>
          </p:sp>
          <p:sp>
            <p:nvSpPr>
              <p:cNvPr id="34" name="弧形 33">
                <a:extLst>
                  <a:ext uri="{FF2B5EF4-FFF2-40B4-BE49-F238E27FC236}">
                    <a16:creationId xmlns:a16="http://schemas.microsoft.com/office/drawing/2014/main" id="{567BC161-513F-3CB6-0685-333E0D62E783}"/>
                  </a:ext>
                </a:extLst>
              </p:cNvPr>
              <p:cNvSpPr/>
              <p:nvPr/>
            </p:nvSpPr>
            <p:spPr>
              <a:xfrm rot="7564987">
                <a:off x="1133018" y="2416927"/>
                <a:ext cx="1613396" cy="1613394"/>
              </a:xfrm>
              <a:prstGeom prst="arc">
                <a:avLst/>
              </a:prstGeom>
              <a:noFill/>
              <a:ln w="12700">
                <a:gradFill flip="none" rotWithShape="1">
                  <a:gsLst>
                    <a:gs pos="0">
                      <a:schemeClr val="accent1"/>
                    </a:gs>
                    <a:gs pos="100000">
                      <a:schemeClr val="accent1">
                        <a:alpha val="0"/>
                      </a:schemeClr>
                    </a:gs>
                  </a:gsLst>
                  <a:lin ang="16200000" scaled="1"/>
                  <a:tileRect/>
                </a:gra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20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endParaRPr>
              </a:p>
            </p:txBody>
          </p:sp>
        </p:grpSp>
      </p:grpSp>
      <p:sp>
        <p:nvSpPr>
          <p:cNvPr id="35" name="椭圆 34">
            <a:extLst>
              <a:ext uri="{FF2B5EF4-FFF2-40B4-BE49-F238E27FC236}">
                <a16:creationId xmlns:a16="http://schemas.microsoft.com/office/drawing/2014/main" id="{089BDB80-335F-4BAD-A913-93C87F5F958B}"/>
              </a:ext>
            </a:extLst>
          </p:cNvPr>
          <p:cNvSpPr/>
          <p:nvPr/>
        </p:nvSpPr>
        <p:spPr>
          <a:xfrm>
            <a:off x="6928150" y="2685027"/>
            <a:ext cx="1093456" cy="1093460"/>
          </a:xfrm>
          <a:prstGeom prst="ellipse">
            <a:avLst/>
          </a:prstGeom>
          <a:solidFill>
            <a:schemeClr val="bg1"/>
          </a:solidFill>
          <a:ln>
            <a:noFill/>
          </a:ln>
          <a:effectLst>
            <a:outerShdw blurRad="279400" dist="342900" dir="5400000" sx="88000" sy="88000" algn="t" rotWithShape="0">
              <a:schemeClr val="accent1">
                <a:alpha val="42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3200" dirty="0">
                <a:solidFill>
                  <a:schemeClr val="accent1"/>
                </a:solidFill>
                <a:latin typeface="微软雅黑" panose="020B0503020204020204" pitchFamily="34" charset="-122"/>
                <a:ea typeface="微软雅黑" panose="020B0503020204020204" pitchFamily="34" charset="-122"/>
              </a:rPr>
              <a:t>03</a:t>
            </a:r>
            <a:endParaRPr lang="zh-CN" altLang="en-US" sz="3200" dirty="0">
              <a:solidFill>
                <a:schemeClr val="accent1"/>
              </a:solidFill>
              <a:latin typeface="微软雅黑" panose="020B0503020204020204" pitchFamily="34" charset="-122"/>
              <a:ea typeface="微软雅黑" panose="020B0503020204020204" pitchFamily="34" charset="-122"/>
            </a:endParaRPr>
          </a:p>
        </p:txBody>
      </p:sp>
      <p:grpSp>
        <p:nvGrpSpPr>
          <p:cNvPr id="36" name="组合 35">
            <a:extLst>
              <a:ext uri="{FF2B5EF4-FFF2-40B4-BE49-F238E27FC236}">
                <a16:creationId xmlns:a16="http://schemas.microsoft.com/office/drawing/2014/main" id="{6D00E6F0-4F0C-23EF-8B30-1DE20B0EB8EB}"/>
              </a:ext>
            </a:extLst>
          </p:cNvPr>
          <p:cNvGrpSpPr/>
          <p:nvPr/>
        </p:nvGrpSpPr>
        <p:grpSpPr>
          <a:xfrm>
            <a:off x="9431069" y="2425059"/>
            <a:ext cx="1613394" cy="1613396"/>
            <a:chOff x="1133019" y="2416926"/>
            <a:chExt cx="1613394" cy="1613396"/>
          </a:xfrm>
        </p:grpSpPr>
        <p:sp>
          <p:nvSpPr>
            <p:cNvPr id="37" name="椭圆 36">
              <a:extLst>
                <a:ext uri="{FF2B5EF4-FFF2-40B4-BE49-F238E27FC236}">
                  <a16:creationId xmlns:a16="http://schemas.microsoft.com/office/drawing/2014/main" id="{18E10C68-9D7C-CBDE-3D80-7030168C73A7}"/>
                </a:ext>
              </a:extLst>
            </p:cNvPr>
            <p:cNvSpPr/>
            <p:nvPr/>
          </p:nvSpPr>
          <p:spPr>
            <a:xfrm rot="19741494">
              <a:off x="1136666" y="2420574"/>
              <a:ext cx="1606100" cy="1606100"/>
            </a:xfrm>
            <a:prstGeom prst="ellipse">
              <a:avLst/>
            </a:prstGeom>
            <a:gradFill flip="none" rotWithShape="1">
              <a:gsLst>
                <a:gs pos="53000">
                  <a:schemeClr val="accent1">
                    <a:lumMod val="20000"/>
                    <a:lumOff val="80000"/>
                    <a:alpha val="22000"/>
                  </a:schemeClr>
                </a:gs>
                <a:gs pos="100000">
                  <a:schemeClr val="accent1">
                    <a:alpha val="10000"/>
                  </a:schemeClr>
                </a:gs>
              </a:gsLst>
              <a:path path="circle">
                <a:fillToRect l="50000" t="50000" r="50000" b="50000"/>
              </a:path>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endParaRPr>
            </a:p>
          </p:txBody>
        </p:sp>
        <p:grpSp>
          <p:nvGrpSpPr>
            <p:cNvPr id="38" name="组合 37">
              <a:extLst>
                <a:ext uri="{FF2B5EF4-FFF2-40B4-BE49-F238E27FC236}">
                  <a16:creationId xmlns:a16="http://schemas.microsoft.com/office/drawing/2014/main" id="{D636436A-CD2D-EC3C-F6D1-A1F90852532B}"/>
                </a:ext>
              </a:extLst>
            </p:cNvPr>
            <p:cNvGrpSpPr/>
            <p:nvPr/>
          </p:nvGrpSpPr>
          <p:grpSpPr>
            <a:xfrm>
              <a:off x="1133019" y="2416926"/>
              <a:ext cx="1613394" cy="1613396"/>
              <a:chOff x="1133019" y="2416926"/>
              <a:chExt cx="1613394" cy="1613396"/>
            </a:xfrm>
          </p:grpSpPr>
          <p:sp>
            <p:nvSpPr>
              <p:cNvPr id="39" name="弧形 38">
                <a:extLst>
                  <a:ext uri="{FF2B5EF4-FFF2-40B4-BE49-F238E27FC236}">
                    <a16:creationId xmlns:a16="http://schemas.microsoft.com/office/drawing/2014/main" id="{FE00CC00-FB8B-B45E-08D9-663C752B2E05}"/>
                  </a:ext>
                </a:extLst>
              </p:cNvPr>
              <p:cNvSpPr/>
              <p:nvPr/>
            </p:nvSpPr>
            <p:spPr>
              <a:xfrm rot="18364987">
                <a:off x="1133018" y="2416927"/>
                <a:ext cx="1613396" cy="1613394"/>
              </a:xfrm>
              <a:prstGeom prst="arc">
                <a:avLst/>
              </a:prstGeom>
              <a:noFill/>
              <a:ln w="12700">
                <a:gradFill flip="none" rotWithShape="1">
                  <a:gsLst>
                    <a:gs pos="0">
                      <a:schemeClr val="accent1"/>
                    </a:gs>
                    <a:gs pos="100000">
                      <a:schemeClr val="accent1">
                        <a:alpha val="0"/>
                      </a:schemeClr>
                    </a:gs>
                  </a:gsLst>
                  <a:lin ang="16200000" scaled="1"/>
                  <a:tileRect/>
                </a:gra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20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endParaRPr>
              </a:p>
            </p:txBody>
          </p:sp>
          <p:sp>
            <p:nvSpPr>
              <p:cNvPr id="40" name="弧形 39">
                <a:extLst>
                  <a:ext uri="{FF2B5EF4-FFF2-40B4-BE49-F238E27FC236}">
                    <a16:creationId xmlns:a16="http://schemas.microsoft.com/office/drawing/2014/main" id="{E459A482-B434-8528-6EB7-D3D5891C7D77}"/>
                  </a:ext>
                </a:extLst>
              </p:cNvPr>
              <p:cNvSpPr/>
              <p:nvPr/>
            </p:nvSpPr>
            <p:spPr>
              <a:xfrm rot="7564987">
                <a:off x="1133018" y="2416927"/>
                <a:ext cx="1613396" cy="1613394"/>
              </a:xfrm>
              <a:prstGeom prst="arc">
                <a:avLst/>
              </a:prstGeom>
              <a:noFill/>
              <a:ln w="12700">
                <a:gradFill flip="none" rotWithShape="1">
                  <a:gsLst>
                    <a:gs pos="0">
                      <a:schemeClr val="accent1"/>
                    </a:gs>
                    <a:gs pos="100000">
                      <a:schemeClr val="accent1">
                        <a:alpha val="0"/>
                      </a:schemeClr>
                    </a:gs>
                  </a:gsLst>
                  <a:lin ang="16200000" scaled="1"/>
                  <a:tileRect/>
                </a:gra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20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endParaRPr>
              </a:p>
            </p:txBody>
          </p:sp>
        </p:grpSp>
      </p:grpSp>
      <p:sp>
        <p:nvSpPr>
          <p:cNvPr id="41" name="椭圆 40">
            <a:extLst>
              <a:ext uri="{FF2B5EF4-FFF2-40B4-BE49-F238E27FC236}">
                <a16:creationId xmlns:a16="http://schemas.microsoft.com/office/drawing/2014/main" id="{C3E3D67E-CC64-8A42-7588-46B830423FD6}"/>
              </a:ext>
            </a:extLst>
          </p:cNvPr>
          <p:cNvSpPr/>
          <p:nvPr/>
        </p:nvSpPr>
        <p:spPr>
          <a:xfrm>
            <a:off x="9691038" y="2685027"/>
            <a:ext cx="1093456" cy="1093460"/>
          </a:xfrm>
          <a:prstGeom prst="ellipse">
            <a:avLst/>
          </a:prstGeom>
          <a:solidFill>
            <a:schemeClr val="bg1"/>
          </a:solidFill>
          <a:ln>
            <a:noFill/>
          </a:ln>
          <a:effectLst>
            <a:outerShdw blurRad="279400" dist="342900" dir="5400000" sx="88000" sy="88000" algn="t" rotWithShape="0">
              <a:schemeClr val="accent1">
                <a:alpha val="42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3200" dirty="0">
                <a:solidFill>
                  <a:schemeClr val="accent1"/>
                </a:solidFill>
                <a:latin typeface="微软雅黑" panose="020B0503020204020204" pitchFamily="34" charset="-122"/>
                <a:ea typeface="微软雅黑" panose="020B0503020204020204" pitchFamily="34" charset="-122"/>
              </a:rPr>
              <a:t>04</a:t>
            </a:r>
            <a:endParaRPr lang="zh-CN" altLang="en-US" sz="3200" dirty="0">
              <a:solidFill>
                <a:schemeClr val="accent1"/>
              </a:solidFill>
              <a:latin typeface="微软雅黑" panose="020B0503020204020204" pitchFamily="34" charset="-122"/>
              <a:ea typeface="微软雅黑" panose="020B0503020204020204" pitchFamily="34" charset="-122"/>
            </a:endParaRPr>
          </a:p>
        </p:txBody>
      </p:sp>
      <p:grpSp>
        <p:nvGrpSpPr>
          <p:cNvPr id="43" name="组合 42">
            <a:extLst>
              <a:ext uri="{FF2B5EF4-FFF2-40B4-BE49-F238E27FC236}">
                <a16:creationId xmlns:a16="http://schemas.microsoft.com/office/drawing/2014/main" id="{F22416AD-49FA-F51D-3A70-50CDA83EE52C}"/>
              </a:ext>
            </a:extLst>
          </p:cNvPr>
          <p:cNvGrpSpPr/>
          <p:nvPr/>
        </p:nvGrpSpPr>
        <p:grpSpPr>
          <a:xfrm>
            <a:off x="1133019" y="2425059"/>
            <a:ext cx="1613394" cy="1613396"/>
            <a:chOff x="1133019" y="2416926"/>
            <a:chExt cx="1613394" cy="1613396"/>
          </a:xfrm>
        </p:grpSpPr>
        <p:sp>
          <p:nvSpPr>
            <p:cNvPr id="44" name="椭圆 43">
              <a:extLst>
                <a:ext uri="{FF2B5EF4-FFF2-40B4-BE49-F238E27FC236}">
                  <a16:creationId xmlns:a16="http://schemas.microsoft.com/office/drawing/2014/main" id="{5A1E0299-6A1C-8BA0-6987-7AD5FD4FB268}"/>
                </a:ext>
              </a:extLst>
            </p:cNvPr>
            <p:cNvSpPr/>
            <p:nvPr/>
          </p:nvSpPr>
          <p:spPr>
            <a:xfrm rot="19741494">
              <a:off x="1136666" y="2420574"/>
              <a:ext cx="1606100" cy="1606100"/>
            </a:xfrm>
            <a:prstGeom prst="ellipse">
              <a:avLst/>
            </a:prstGeom>
            <a:gradFill flip="none" rotWithShape="1">
              <a:gsLst>
                <a:gs pos="53000">
                  <a:schemeClr val="accent1">
                    <a:lumMod val="20000"/>
                    <a:lumOff val="80000"/>
                    <a:alpha val="22000"/>
                  </a:schemeClr>
                </a:gs>
                <a:gs pos="100000">
                  <a:schemeClr val="accent1">
                    <a:alpha val="10000"/>
                  </a:schemeClr>
                </a:gs>
              </a:gsLst>
              <a:path path="circle">
                <a:fillToRect l="50000" t="50000" r="50000" b="50000"/>
              </a:path>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endParaRPr>
            </a:p>
          </p:txBody>
        </p:sp>
        <p:grpSp>
          <p:nvGrpSpPr>
            <p:cNvPr id="45" name="组合 44">
              <a:extLst>
                <a:ext uri="{FF2B5EF4-FFF2-40B4-BE49-F238E27FC236}">
                  <a16:creationId xmlns:a16="http://schemas.microsoft.com/office/drawing/2014/main" id="{5D208640-1ED4-5AC5-ACCF-3F310BDA3C30}"/>
                </a:ext>
              </a:extLst>
            </p:cNvPr>
            <p:cNvGrpSpPr/>
            <p:nvPr/>
          </p:nvGrpSpPr>
          <p:grpSpPr>
            <a:xfrm>
              <a:off x="1133019" y="2416926"/>
              <a:ext cx="1613394" cy="1613396"/>
              <a:chOff x="1133019" y="2416926"/>
              <a:chExt cx="1613394" cy="1613396"/>
            </a:xfrm>
          </p:grpSpPr>
          <p:sp>
            <p:nvSpPr>
              <p:cNvPr id="46" name="弧形 45">
                <a:extLst>
                  <a:ext uri="{FF2B5EF4-FFF2-40B4-BE49-F238E27FC236}">
                    <a16:creationId xmlns:a16="http://schemas.microsoft.com/office/drawing/2014/main" id="{D6BA0024-2805-B3E6-3D68-CCB7A3B03B1C}"/>
                  </a:ext>
                </a:extLst>
              </p:cNvPr>
              <p:cNvSpPr/>
              <p:nvPr/>
            </p:nvSpPr>
            <p:spPr>
              <a:xfrm rot="18364987">
                <a:off x="1133018" y="2416927"/>
                <a:ext cx="1613396" cy="1613394"/>
              </a:xfrm>
              <a:prstGeom prst="arc">
                <a:avLst/>
              </a:prstGeom>
              <a:noFill/>
              <a:ln w="12700">
                <a:gradFill flip="none" rotWithShape="1">
                  <a:gsLst>
                    <a:gs pos="0">
                      <a:schemeClr val="accent1"/>
                    </a:gs>
                    <a:gs pos="100000">
                      <a:schemeClr val="accent1">
                        <a:alpha val="0"/>
                      </a:schemeClr>
                    </a:gs>
                  </a:gsLst>
                  <a:lin ang="16200000" scaled="1"/>
                  <a:tileRect/>
                </a:gra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20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endParaRPr>
              </a:p>
            </p:txBody>
          </p:sp>
          <p:sp>
            <p:nvSpPr>
              <p:cNvPr id="47" name="弧形 46">
                <a:extLst>
                  <a:ext uri="{FF2B5EF4-FFF2-40B4-BE49-F238E27FC236}">
                    <a16:creationId xmlns:a16="http://schemas.microsoft.com/office/drawing/2014/main" id="{EA7B0AD1-79D4-8A29-539E-5F881FFE4112}"/>
                  </a:ext>
                </a:extLst>
              </p:cNvPr>
              <p:cNvSpPr/>
              <p:nvPr/>
            </p:nvSpPr>
            <p:spPr>
              <a:xfrm rot="7564987">
                <a:off x="1133018" y="2416927"/>
                <a:ext cx="1613396" cy="1613394"/>
              </a:xfrm>
              <a:prstGeom prst="arc">
                <a:avLst/>
              </a:prstGeom>
              <a:noFill/>
              <a:ln w="12700">
                <a:gradFill flip="none" rotWithShape="1">
                  <a:gsLst>
                    <a:gs pos="0">
                      <a:schemeClr val="accent1"/>
                    </a:gs>
                    <a:gs pos="100000">
                      <a:schemeClr val="accent1">
                        <a:alpha val="0"/>
                      </a:schemeClr>
                    </a:gs>
                  </a:gsLst>
                  <a:lin ang="16200000" scaled="1"/>
                  <a:tileRect/>
                </a:gra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20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endParaRPr>
              </a:p>
            </p:txBody>
          </p:sp>
        </p:grpSp>
      </p:grpSp>
      <p:sp>
        <p:nvSpPr>
          <p:cNvPr id="48" name="椭圆 47">
            <a:extLst>
              <a:ext uri="{FF2B5EF4-FFF2-40B4-BE49-F238E27FC236}">
                <a16:creationId xmlns:a16="http://schemas.microsoft.com/office/drawing/2014/main" id="{EFCA98B6-48D0-7E14-5FF6-6BB60B77E209}"/>
              </a:ext>
            </a:extLst>
          </p:cNvPr>
          <p:cNvSpPr/>
          <p:nvPr/>
        </p:nvSpPr>
        <p:spPr>
          <a:xfrm>
            <a:off x="1392988" y="2685027"/>
            <a:ext cx="1093456" cy="1093460"/>
          </a:xfrm>
          <a:prstGeom prst="ellipse">
            <a:avLst/>
          </a:prstGeom>
          <a:solidFill>
            <a:schemeClr val="bg1"/>
          </a:solidFill>
          <a:ln>
            <a:noFill/>
          </a:ln>
          <a:effectLst>
            <a:outerShdw blurRad="279400" dist="342900" dir="5400000" sx="88000" sy="88000" algn="t" rotWithShape="0">
              <a:schemeClr val="accent1">
                <a:alpha val="42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3200" dirty="0">
                <a:solidFill>
                  <a:schemeClr val="accent1"/>
                </a:solidFill>
                <a:latin typeface="微软雅黑" panose="020B0503020204020204" pitchFamily="34" charset="-122"/>
                <a:ea typeface="微软雅黑" panose="020B0503020204020204" pitchFamily="34" charset="-122"/>
              </a:rPr>
              <a:t>01</a:t>
            </a:r>
            <a:endParaRPr lang="zh-CN" altLang="en-US" sz="3200" dirty="0">
              <a:solidFill>
                <a:schemeClr val="accent1"/>
              </a:solidFill>
              <a:latin typeface="微软雅黑" panose="020B0503020204020204" pitchFamily="34" charset="-122"/>
              <a:ea typeface="微软雅黑" panose="020B0503020204020204" pitchFamily="34" charset="-122"/>
            </a:endParaRPr>
          </a:p>
        </p:txBody>
      </p:sp>
      <p:sp>
        <p:nvSpPr>
          <p:cNvPr id="50" name="文本框 49">
            <a:extLst>
              <a:ext uri="{FF2B5EF4-FFF2-40B4-BE49-F238E27FC236}">
                <a16:creationId xmlns:a16="http://schemas.microsoft.com/office/drawing/2014/main" id="{3E946F1F-018F-3A26-9790-00222C50F028}"/>
              </a:ext>
            </a:extLst>
          </p:cNvPr>
          <p:cNvSpPr txBox="1"/>
          <p:nvPr/>
        </p:nvSpPr>
        <p:spPr>
          <a:xfrm>
            <a:off x="725514" y="5471251"/>
            <a:ext cx="2254110" cy="276999"/>
          </a:xfrm>
          <a:prstGeom prst="rect">
            <a:avLst/>
          </a:prstGeom>
          <a:noFill/>
        </p:spPr>
        <p:txBody>
          <a:bodyPr wrap="square" rtlCol="0">
            <a:spAutoFit/>
          </a:bodyPr>
          <a:lstStyle/>
          <a:p>
            <a:pPr algn="ctr"/>
            <a:r>
              <a:rPr lang="zh-CN" altLang="en-US" sz="1200" dirty="0">
                <a:solidFill>
                  <a:schemeClr val="tx1">
                    <a:alpha val="44000"/>
                  </a:schemeClr>
                </a:solidFill>
                <a:latin typeface="微软雅黑" panose="020B0503020204020204" pitchFamily="34" charset="-122"/>
                <a:ea typeface="微软雅黑" panose="020B0503020204020204" pitchFamily="34" charset="-122"/>
              </a:rPr>
              <a:t>短视频的爆发与创作的焦虑</a:t>
            </a:r>
          </a:p>
        </p:txBody>
      </p:sp>
      <p:sp>
        <p:nvSpPr>
          <p:cNvPr id="51" name="文本框 50">
            <a:extLst>
              <a:ext uri="{FF2B5EF4-FFF2-40B4-BE49-F238E27FC236}">
                <a16:creationId xmlns:a16="http://schemas.microsoft.com/office/drawing/2014/main" id="{7D8D0507-E228-9AC3-426A-0673EF6069DE}"/>
              </a:ext>
            </a:extLst>
          </p:cNvPr>
          <p:cNvSpPr txBox="1"/>
          <p:nvPr/>
        </p:nvSpPr>
        <p:spPr>
          <a:xfrm>
            <a:off x="6322599" y="5471249"/>
            <a:ext cx="2254110" cy="276999"/>
          </a:xfrm>
          <a:prstGeom prst="rect">
            <a:avLst/>
          </a:prstGeom>
          <a:noFill/>
        </p:spPr>
        <p:txBody>
          <a:bodyPr wrap="square" rtlCol="0">
            <a:spAutoFit/>
          </a:bodyPr>
          <a:lstStyle/>
          <a:p>
            <a:pPr algn="ctr"/>
            <a:r>
              <a:rPr lang="zh-CN" altLang="en-US" sz="1200" dirty="0">
                <a:solidFill>
                  <a:schemeClr val="tx1">
                    <a:lumMod val="75000"/>
                    <a:lumOff val="25000"/>
                    <a:alpha val="44000"/>
                  </a:schemeClr>
                </a:solidFill>
                <a:latin typeface="微软雅黑" panose="020B0503020204020204" pitchFamily="34" charset="-122"/>
                <a:ea typeface="微软雅黑" panose="020B0503020204020204" pitchFamily="34" charset="-122"/>
              </a:rPr>
              <a:t>市场上的优胜点</a:t>
            </a:r>
          </a:p>
        </p:txBody>
      </p:sp>
      <p:sp>
        <p:nvSpPr>
          <p:cNvPr id="2" name="文本框 1">
            <a:extLst>
              <a:ext uri="{FF2B5EF4-FFF2-40B4-BE49-F238E27FC236}">
                <a16:creationId xmlns:a16="http://schemas.microsoft.com/office/drawing/2014/main" id="{64380F58-1A17-C20F-7559-1C76C4FAEA6D}"/>
              </a:ext>
            </a:extLst>
          </p:cNvPr>
          <p:cNvSpPr txBox="1"/>
          <p:nvPr/>
        </p:nvSpPr>
        <p:spPr>
          <a:xfrm>
            <a:off x="3942364" y="5471250"/>
            <a:ext cx="2023404" cy="276999"/>
          </a:xfrm>
          <a:prstGeom prst="rect">
            <a:avLst/>
          </a:prstGeom>
          <a:noFill/>
        </p:spPr>
        <p:txBody>
          <a:bodyPr wrap="square" rtlCol="0">
            <a:spAutoFit/>
          </a:bodyPr>
          <a:lstStyle/>
          <a:p>
            <a:r>
              <a:rPr lang="en-US" altLang="zh-CN" sz="1200" dirty="0">
                <a:solidFill>
                  <a:srgbClr val="8F8F8F"/>
                </a:solidFill>
                <a:latin typeface="微软雅黑" panose="020B0503020204020204" pitchFamily="34" charset="-122"/>
                <a:ea typeface="微软雅黑" panose="020B0503020204020204" pitchFamily="34" charset="-122"/>
              </a:rPr>
              <a:t>AI</a:t>
            </a:r>
            <a:r>
              <a:rPr lang="zh-CN" altLang="en-US" sz="1200" dirty="0">
                <a:solidFill>
                  <a:srgbClr val="8F8F8F"/>
                </a:solidFill>
                <a:latin typeface="微软雅黑" panose="020B0503020204020204" pitchFamily="34" charset="-122"/>
                <a:ea typeface="微软雅黑" panose="020B0503020204020204" pitchFamily="34" charset="-122"/>
              </a:rPr>
              <a:t>灵感助手辅助创作</a:t>
            </a:r>
          </a:p>
        </p:txBody>
      </p:sp>
    </p:spTree>
    <p:extLst>
      <p:ext uri="{BB962C8B-B14F-4D97-AF65-F5344CB8AC3E}">
        <p14:creationId xmlns:p14="http://schemas.microsoft.com/office/powerpoint/2010/main" val="1711337416"/>
      </p:ext>
    </p:extLst>
  </p:cSld>
  <p:clrMapOvr>
    <a:masterClrMapping/>
  </p:clrMapOvr>
  <p:transition spd="med">
    <p:pull/>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组合 6">
            <a:extLst>
              <a:ext uri="{FF2B5EF4-FFF2-40B4-BE49-F238E27FC236}">
                <a16:creationId xmlns:a16="http://schemas.microsoft.com/office/drawing/2014/main" id="{F6CB1355-2346-971B-2D9D-9F2A27248077}"/>
              </a:ext>
            </a:extLst>
          </p:cNvPr>
          <p:cNvGrpSpPr/>
          <p:nvPr/>
        </p:nvGrpSpPr>
        <p:grpSpPr>
          <a:xfrm>
            <a:off x="846086" y="1279090"/>
            <a:ext cx="8732886" cy="3794188"/>
            <a:chOff x="4337595" y="290322"/>
            <a:chExt cx="8732886" cy="3794188"/>
          </a:xfrm>
        </p:grpSpPr>
        <p:sp>
          <p:nvSpPr>
            <p:cNvPr id="9" name="文本框 8">
              <a:extLst>
                <a:ext uri="{FF2B5EF4-FFF2-40B4-BE49-F238E27FC236}">
                  <a16:creationId xmlns:a16="http://schemas.microsoft.com/office/drawing/2014/main" id="{98904DDF-4D7F-56C7-52EA-2100AAC39604}"/>
                </a:ext>
              </a:extLst>
            </p:cNvPr>
            <p:cNvSpPr txBox="1"/>
            <p:nvPr/>
          </p:nvSpPr>
          <p:spPr>
            <a:xfrm>
              <a:off x="4337595" y="290322"/>
              <a:ext cx="8442960" cy="3770263"/>
            </a:xfrm>
            <a:prstGeom prst="rect">
              <a:avLst/>
            </a:prstGeom>
            <a:noFill/>
            <a:scene3d>
              <a:camera prst="orthographicFront">
                <a:rot lat="450000" lon="18143998" rev="0"/>
              </a:camera>
              <a:lightRig rig="brightRoom" dir="t"/>
            </a:scene3d>
            <a:sp3d prstMaterial="matte"/>
          </p:spPr>
          <p:txBody>
            <a:bodyPr wrap="square" rtlCol="0">
              <a:spAutoFit/>
              <a:sp3d extrusionH="342900" prstMaterial="translucentPowder"/>
            </a:bodyPr>
            <a:lstStyle/>
            <a:p>
              <a:r>
                <a:rPr lang="en-US" altLang="zh-CN" sz="23900" b="1" dirty="0">
                  <a:gradFill>
                    <a:gsLst>
                      <a:gs pos="100000">
                        <a:schemeClr val="accent1">
                          <a:lumMod val="20000"/>
                          <a:lumOff val="80000"/>
                        </a:schemeClr>
                      </a:gs>
                      <a:gs pos="4000">
                        <a:schemeClr val="accent2"/>
                      </a:gs>
                    </a:gsLst>
                    <a:path path="circle">
                      <a:fillToRect r="100000" b="100000"/>
                    </a:path>
                  </a:gradFill>
                  <a:effectLst>
                    <a:reflection blurRad="38100" stA="55000" endA="300" endPos="15000" dir="5400000" sy="-100000" algn="bl" rotWithShape="0"/>
                  </a:effectLst>
                  <a:latin typeface="微软雅黑" panose="020B0503020204020204" pitchFamily="34" charset="-122"/>
                  <a:ea typeface="微软雅黑" panose="020B0503020204020204" pitchFamily="34" charset="-122"/>
                </a:rPr>
                <a:t>01</a:t>
              </a:r>
              <a:endParaRPr lang="zh-CN" altLang="en-US" sz="23900" b="1" dirty="0">
                <a:gradFill>
                  <a:gsLst>
                    <a:gs pos="100000">
                      <a:schemeClr val="accent1">
                        <a:lumMod val="20000"/>
                        <a:lumOff val="80000"/>
                      </a:schemeClr>
                    </a:gs>
                    <a:gs pos="4000">
                      <a:schemeClr val="accent2"/>
                    </a:gs>
                  </a:gsLst>
                  <a:path path="circle">
                    <a:fillToRect r="100000" b="100000"/>
                  </a:path>
                </a:gradFill>
                <a:effectLst>
                  <a:reflection blurRad="38100" stA="55000" endA="300" endPos="15000" dir="5400000" sy="-100000" algn="bl" rotWithShape="0"/>
                </a:effectLst>
                <a:latin typeface="微软雅黑" panose="020B0503020204020204" pitchFamily="34" charset="-122"/>
                <a:ea typeface="微软雅黑" panose="020B0503020204020204" pitchFamily="34" charset="-122"/>
              </a:endParaRPr>
            </a:p>
          </p:txBody>
        </p:sp>
        <p:sp>
          <p:nvSpPr>
            <p:cNvPr id="11" name="文本框 10">
              <a:extLst>
                <a:ext uri="{FF2B5EF4-FFF2-40B4-BE49-F238E27FC236}">
                  <a16:creationId xmlns:a16="http://schemas.microsoft.com/office/drawing/2014/main" id="{5C50A14A-83F0-58E5-896C-23C998F3ECEC}"/>
                </a:ext>
              </a:extLst>
            </p:cNvPr>
            <p:cNvSpPr txBox="1"/>
            <p:nvPr/>
          </p:nvSpPr>
          <p:spPr>
            <a:xfrm>
              <a:off x="4627521" y="314247"/>
              <a:ext cx="8442960" cy="3770263"/>
            </a:xfrm>
            <a:prstGeom prst="rect">
              <a:avLst/>
            </a:prstGeom>
            <a:noFill/>
            <a:effectLst/>
            <a:scene3d>
              <a:camera prst="orthographicFront">
                <a:rot lat="450000" lon="18143998" rev="0"/>
              </a:camera>
              <a:lightRig rig="contrasting" dir="t"/>
            </a:scene3d>
            <a:sp3d prstMaterial="matte"/>
          </p:spPr>
          <p:txBody>
            <a:bodyPr wrap="square" rtlCol="0">
              <a:spAutoFit/>
              <a:sp3d prstMaterial="translucentPowder"/>
            </a:bodyPr>
            <a:lstStyle/>
            <a:p>
              <a:r>
                <a:rPr lang="en-US" altLang="zh-CN" sz="23900" b="1" dirty="0">
                  <a:gradFill>
                    <a:gsLst>
                      <a:gs pos="100000">
                        <a:schemeClr val="accent1"/>
                      </a:gs>
                      <a:gs pos="4000">
                        <a:schemeClr val="accent2">
                          <a:lumMod val="60000"/>
                          <a:lumOff val="40000"/>
                        </a:schemeClr>
                      </a:gs>
                    </a:gsLst>
                    <a:path path="circle">
                      <a:fillToRect r="100000" b="100000"/>
                    </a:path>
                  </a:gradFill>
                  <a:effectLst>
                    <a:reflection blurRad="38100" stA="55000" endA="300" endPos="15000" dir="5400000" sy="-100000" algn="bl" rotWithShape="0"/>
                  </a:effectLst>
                  <a:latin typeface="微软雅黑" panose="020B0503020204020204" pitchFamily="34" charset="-122"/>
                  <a:ea typeface="微软雅黑" panose="020B0503020204020204" pitchFamily="34" charset="-122"/>
                </a:rPr>
                <a:t>01</a:t>
              </a:r>
              <a:endParaRPr lang="zh-CN" altLang="en-US" sz="23900" b="1" dirty="0">
                <a:gradFill>
                  <a:gsLst>
                    <a:gs pos="100000">
                      <a:schemeClr val="accent1"/>
                    </a:gs>
                    <a:gs pos="4000">
                      <a:schemeClr val="accent2">
                        <a:lumMod val="60000"/>
                        <a:lumOff val="40000"/>
                      </a:schemeClr>
                    </a:gs>
                  </a:gsLst>
                  <a:path path="circle">
                    <a:fillToRect r="100000" b="100000"/>
                  </a:path>
                </a:gradFill>
                <a:effectLst>
                  <a:reflection blurRad="38100" stA="55000" endA="300" endPos="15000" dir="5400000" sy="-100000" algn="bl" rotWithShape="0"/>
                </a:effectLst>
                <a:latin typeface="微软雅黑" panose="020B0503020204020204" pitchFamily="34" charset="-122"/>
                <a:ea typeface="微软雅黑" panose="020B0503020204020204" pitchFamily="34" charset="-122"/>
              </a:endParaRPr>
            </a:p>
          </p:txBody>
        </p:sp>
      </p:grpSp>
      <p:sp>
        <p:nvSpPr>
          <p:cNvPr id="13" name="文本框 12">
            <a:extLst>
              <a:ext uri="{FF2B5EF4-FFF2-40B4-BE49-F238E27FC236}">
                <a16:creationId xmlns:a16="http://schemas.microsoft.com/office/drawing/2014/main" id="{B7CC6414-7754-2C7B-9DB4-1D95BFCEC4C7}"/>
              </a:ext>
            </a:extLst>
          </p:cNvPr>
          <p:cNvSpPr txBox="1"/>
          <p:nvPr/>
        </p:nvSpPr>
        <p:spPr>
          <a:xfrm>
            <a:off x="6506776" y="2520701"/>
            <a:ext cx="3971599" cy="307777"/>
          </a:xfrm>
          <a:prstGeom prst="rect">
            <a:avLst/>
          </a:prstGeom>
          <a:noFill/>
        </p:spPr>
        <p:txBody>
          <a:bodyPr wrap="square" rtlCol="0">
            <a:spAutoFit/>
          </a:bodyPr>
          <a:lstStyle/>
          <a:p>
            <a:pPr algn="dist"/>
            <a:r>
              <a:rPr lang="en-US" altLang="zh-CN" sz="1400" dirty="0">
                <a:solidFill>
                  <a:schemeClr val="accent2"/>
                </a:solidFill>
                <a:latin typeface="微软雅黑" panose="020B0503020204020204" pitchFamily="34" charset="-122"/>
                <a:ea typeface="微软雅黑" panose="020B0503020204020204" pitchFamily="34" charset="-122"/>
              </a:rPr>
              <a:t>PLAN IMPLEMENTATION</a:t>
            </a:r>
            <a:endParaRPr lang="zh-CN" altLang="en-US" sz="1400" dirty="0">
              <a:solidFill>
                <a:schemeClr val="accent2"/>
              </a:solidFill>
              <a:latin typeface="微软雅黑" panose="020B0503020204020204" pitchFamily="34" charset="-122"/>
              <a:ea typeface="微软雅黑" panose="020B0503020204020204" pitchFamily="34" charset="-122"/>
            </a:endParaRPr>
          </a:p>
        </p:txBody>
      </p:sp>
      <p:sp>
        <p:nvSpPr>
          <p:cNvPr id="14" name="任意多边形: 形状 13">
            <a:extLst>
              <a:ext uri="{FF2B5EF4-FFF2-40B4-BE49-F238E27FC236}">
                <a16:creationId xmlns:a16="http://schemas.microsoft.com/office/drawing/2014/main" id="{3A2A7F85-2FF9-A975-6A83-DAFD3827A896}"/>
              </a:ext>
            </a:extLst>
          </p:cNvPr>
          <p:cNvSpPr/>
          <p:nvPr/>
        </p:nvSpPr>
        <p:spPr>
          <a:xfrm>
            <a:off x="6506775" y="4064000"/>
            <a:ext cx="4016675" cy="409575"/>
          </a:xfrm>
          <a:custGeom>
            <a:avLst/>
            <a:gdLst>
              <a:gd name="connsiteX0" fmla="*/ 0 w 4114800"/>
              <a:gd name="connsiteY0" fmla="*/ 0 h 409575"/>
              <a:gd name="connsiteX1" fmla="*/ 1181100 w 4114800"/>
              <a:gd name="connsiteY1" fmla="*/ 0 h 409575"/>
              <a:gd name="connsiteX2" fmla="*/ 1181100 w 4114800"/>
              <a:gd name="connsiteY2" fmla="*/ 409575 h 409575"/>
              <a:gd name="connsiteX3" fmla="*/ 1581150 w 4114800"/>
              <a:gd name="connsiteY3" fmla="*/ 9525 h 409575"/>
              <a:gd name="connsiteX4" fmla="*/ 4114800 w 4114800"/>
              <a:gd name="connsiteY4" fmla="*/ 9525 h 409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114800" h="409575">
                <a:moveTo>
                  <a:pt x="0" y="0"/>
                </a:moveTo>
                <a:lnTo>
                  <a:pt x="1181100" y="0"/>
                </a:lnTo>
                <a:lnTo>
                  <a:pt x="1181100" y="409575"/>
                </a:lnTo>
                <a:lnTo>
                  <a:pt x="1581150" y="9525"/>
                </a:lnTo>
                <a:lnTo>
                  <a:pt x="4114800" y="9525"/>
                </a:lnTo>
              </a:path>
            </a:pathLst>
          </a:cu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solidFill>
                <a:schemeClr val="accent1"/>
              </a:solidFill>
              <a:latin typeface="微软雅黑" panose="020B0503020204020204" pitchFamily="34" charset="-122"/>
              <a:ea typeface="微软雅黑" panose="020B0503020204020204" pitchFamily="34" charset="-122"/>
            </a:endParaRPr>
          </a:p>
        </p:txBody>
      </p:sp>
      <p:sp>
        <p:nvSpPr>
          <p:cNvPr id="2" name="文本框 1">
            <a:extLst>
              <a:ext uri="{FF2B5EF4-FFF2-40B4-BE49-F238E27FC236}">
                <a16:creationId xmlns:a16="http://schemas.microsoft.com/office/drawing/2014/main" id="{759F21CD-6DAC-D837-8575-59F0FB6B6A89}"/>
              </a:ext>
            </a:extLst>
          </p:cNvPr>
          <p:cNvSpPr txBox="1"/>
          <p:nvPr/>
        </p:nvSpPr>
        <p:spPr>
          <a:xfrm>
            <a:off x="6096000" y="3013501"/>
            <a:ext cx="5109091" cy="830997"/>
          </a:xfrm>
          <a:prstGeom prst="rect">
            <a:avLst/>
          </a:prstGeom>
          <a:noFill/>
        </p:spPr>
        <p:txBody>
          <a:bodyPr wrap="none" rtlCol="0">
            <a:spAutoFit/>
          </a:bodyPr>
          <a:lstStyle/>
          <a:p>
            <a:r>
              <a:rPr lang="zh-CN" altLang="en-US" sz="4800" b="1" dirty="0">
                <a:solidFill>
                  <a:schemeClr val="accent1"/>
                </a:solidFill>
                <a:latin typeface="微软雅黑" panose="020B0503020204020204" pitchFamily="34" charset="-122"/>
                <a:ea typeface="微软雅黑" panose="020B0503020204020204" pitchFamily="34" charset="-122"/>
              </a:rPr>
              <a:t>繁荣背后的真痛点</a:t>
            </a:r>
          </a:p>
        </p:txBody>
      </p:sp>
    </p:spTree>
    <p:extLst>
      <p:ext uri="{BB962C8B-B14F-4D97-AF65-F5344CB8AC3E}">
        <p14:creationId xmlns:p14="http://schemas.microsoft.com/office/powerpoint/2010/main" val="727863650"/>
      </p:ext>
    </p:extLst>
  </p:cSld>
  <p:clrMapOvr>
    <a:masterClrMapping/>
  </p:clrMapOvr>
  <p:transition spd="med">
    <p:pull/>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7">
            <a:extLst>
              <a:ext uri="{FF2B5EF4-FFF2-40B4-BE49-F238E27FC236}">
                <a16:creationId xmlns:a16="http://schemas.microsoft.com/office/drawing/2014/main" id="{43D44045-33A4-B7B1-A267-95EC49772777}"/>
              </a:ext>
            </a:extLst>
          </p:cNvPr>
          <p:cNvSpPr txBox="1"/>
          <p:nvPr/>
        </p:nvSpPr>
        <p:spPr>
          <a:xfrm>
            <a:off x="660399" y="417642"/>
            <a:ext cx="6990443" cy="584775"/>
          </a:xfrm>
          <a:prstGeom prst="rect">
            <a:avLst/>
          </a:prstGeom>
          <a:noFill/>
        </p:spPr>
        <p:txBody>
          <a:bodyPr wrap="square" rtlCol="0">
            <a:spAutoFit/>
          </a:bodyPr>
          <a:lstStyle/>
          <a:p>
            <a:r>
              <a:rPr lang="zh-CN" altLang="en-US" sz="3200" b="1" dirty="0">
                <a:solidFill>
                  <a:schemeClr val="accent1"/>
                </a:solidFill>
                <a:latin typeface="微软雅黑" panose="020B0503020204020204" pitchFamily="34" charset="-122"/>
                <a:ea typeface="微软雅黑" panose="020B0503020204020204" pitchFamily="34" charset="-122"/>
              </a:rPr>
              <a:t>短视频创作正日渐鼎盛</a:t>
            </a:r>
          </a:p>
        </p:txBody>
      </p:sp>
      <p:grpSp>
        <p:nvGrpSpPr>
          <p:cNvPr id="2" name="组合 1">
            <a:extLst>
              <a:ext uri="{FF2B5EF4-FFF2-40B4-BE49-F238E27FC236}">
                <a16:creationId xmlns:a16="http://schemas.microsoft.com/office/drawing/2014/main" id="{E89217DD-3191-0E3E-253C-9192186B61C6}"/>
              </a:ext>
            </a:extLst>
          </p:cNvPr>
          <p:cNvGrpSpPr/>
          <p:nvPr/>
        </p:nvGrpSpPr>
        <p:grpSpPr>
          <a:xfrm>
            <a:off x="660401" y="1630603"/>
            <a:ext cx="3463317" cy="1169006"/>
            <a:chOff x="2398425" y="2012411"/>
            <a:chExt cx="3463317" cy="1169006"/>
          </a:xfrm>
        </p:grpSpPr>
        <p:sp>
          <p:nvSpPr>
            <p:cNvPr id="3" name="文本框 2">
              <a:extLst>
                <a:ext uri="{FF2B5EF4-FFF2-40B4-BE49-F238E27FC236}">
                  <a16:creationId xmlns:a16="http://schemas.microsoft.com/office/drawing/2014/main" id="{B5B3428B-1D93-8589-7C44-6779109DBF93}"/>
                </a:ext>
              </a:extLst>
            </p:cNvPr>
            <p:cNvSpPr txBox="1"/>
            <p:nvPr/>
          </p:nvSpPr>
          <p:spPr>
            <a:xfrm>
              <a:off x="2398425" y="2012411"/>
              <a:ext cx="3463317" cy="369332"/>
            </a:xfrm>
            <a:prstGeom prst="rect">
              <a:avLst/>
            </a:prstGeom>
            <a:noFill/>
          </p:spPr>
          <p:txBody>
            <a:bodyPr wrap="square" rtlCol="0">
              <a:spAutoFit/>
            </a:bodyPr>
            <a:lstStyle>
              <a:defPPr>
                <a:defRPr lang="zh-CN"/>
              </a:defPPr>
              <a:lvl1pPr algn="dist">
                <a:defRPr>
                  <a:gradFill>
                    <a:gsLst>
                      <a:gs pos="94000">
                        <a:schemeClr val="accent3"/>
                      </a:gs>
                      <a:gs pos="35000">
                        <a:srgbClr val="F9EFE5"/>
                      </a:gs>
                      <a:gs pos="0">
                        <a:schemeClr val="accent4"/>
                      </a:gs>
                    </a:gsLst>
                    <a:path path="circle">
                      <a:fillToRect l="50000" t="50000" r="50000" b="50000"/>
                    </a:path>
                  </a:gradFill>
                  <a:latin typeface="+mj-ea"/>
                  <a:ea typeface="+mj-ea"/>
                </a:defRPr>
              </a:lvl1pPr>
            </a:lstStyle>
            <a:p>
              <a:pPr algn="l"/>
              <a:r>
                <a:rPr lang="zh-CN" altLang="en-US" b="1" dirty="0">
                  <a:solidFill>
                    <a:schemeClr val="accent1"/>
                  </a:solidFill>
                  <a:latin typeface="微软雅黑" panose="020B0503020204020204" pitchFamily="34" charset="-122"/>
                  <a:ea typeface="微软雅黑" panose="020B0503020204020204" pitchFamily="34" charset="-122"/>
                  <a:sym typeface="微软雅黑" panose="020B0503020204020204" pitchFamily="34" charset="-122"/>
                </a:rPr>
                <a:t>创作者基数壮大</a:t>
              </a:r>
            </a:p>
          </p:txBody>
        </p:sp>
        <p:sp>
          <p:nvSpPr>
            <p:cNvPr id="4" name="文本框 3">
              <a:extLst>
                <a:ext uri="{FF2B5EF4-FFF2-40B4-BE49-F238E27FC236}">
                  <a16:creationId xmlns:a16="http://schemas.microsoft.com/office/drawing/2014/main" id="{293D111A-C3F1-531D-9EEE-A7D678B7CA02}"/>
                </a:ext>
              </a:extLst>
            </p:cNvPr>
            <p:cNvSpPr txBox="1"/>
            <p:nvPr/>
          </p:nvSpPr>
          <p:spPr>
            <a:xfrm>
              <a:off x="2411124" y="2350420"/>
              <a:ext cx="3229429" cy="830997"/>
            </a:xfrm>
            <a:prstGeom prst="rect">
              <a:avLst/>
            </a:prstGeom>
            <a:noFill/>
          </p:spPr>
          <p:txBody>
            <a:bodyPr wrap="square" rtlCol="0">
              <a:spAutoFit/>
            </a:bodyPr>
            <a:lstStyle>
              <a:defPPr>
                <a:defRPr lang="zh-CN"/>
              </a:defPPr>
              <a:lvl1pPr algn="dist">
                <a:defRPr>
                  <a:gradFill>
                    <a:gsLst>
                      <a:gs pos="94000">
                        <a:schemeClr val="accent3"/>
                      </a:gs>
                      <a:gs pos="35000">
                        <a:srgbClr val="F9EFE5"/>
                      </a:gs>
                      <a:gs pos="0">
                        <a:schemeClr val="accent4"/>
                      </a:gs>
                    </a:gsLst>
                    <a:path path="circle">
                      <a:fillToRect l="50000" t="50000" r="50000" b="50000"/>
                    </a:path>
                  </a:gradFill>
                  <a:latin typeface="+mj-ea"/>
                  <a:ea typeface="+mj-ea"/>
                </a:defRPr>
              </a:lvl1pPr>
            </a:lstStyle>
            <a:p>
              <a:pPr algn="l"/>
              <a:r>
                <a:rPr lang="zh-CN" altLang="en-US" sz="1200" dirty="0">
                  <a:solidFill>
                    <a:schemeClr val="tx1"/>
                  </a:solidFill>
                  <a:latin typeface="微软雅黑" panose="020B0503020204020204" pitchFamily="34" charset="-122"/>
                  <a:ea typeface="微软雅黑" panose="020B0503020204020204" pitchFamily="34" charset="-122"/>
                </a:rPr>
                <a:t>我国短视频创作者账号数量已达</a:t>
              </a:r>
              <a:r>
                <a:rPr lang="en-US" altLang="zh-CN" sz="1200" dirty="0">
                  <a:solidFill>
                    <a:schemeClr val="tx1"/>
                  </a:solidFill>
                  <a:latin typeface="微软雅黑" panose="020B0503020204020204" pitchFamily="34" charset="-122"/>
                  <a:ea typeface="微软雅黑" panose="020B0503020204020204" pitchFamily="34" charset="-122"/>
                </a:rPr>
                <a:t>16.2</a:t>
              </a:r>
              <a:r>
                <a:rPr lang="zh-CN" altLang="en-US" sz="1200" dirty="0">
                  <a:solidFill>
                    <a:schemeClr val="tx1"/>
                  </a:solidFill>
                  <a:latin typeface="微软雅黑" panose="020B0503020204020204" pitchFamily="34" charset="-122"/>
                  <a:ea typeface="微软雅黑" panose="020B0503020204020204" pitchFamily="34" charset="-122"/>
                </a:rPr>
                <a:t>亿，日均内容产出突破</a:t>
              </a:r>
              <a:r>
                <a:rPr lang="en-US" altLang="zh-CN" sz="1200" dirty="0">
                  <a:solidFill>
                    <a:schemeClr val="tx1"/>
                  </a:solidFill>
                  <a:latin typeface="微软雅黑" panose="020B0503020204020204" pitchFamily="34" charset="-122"/>
                  <a:ea typeface="微软雅黑" panose="020B0503020204020204" pitchFamily="34" charset="-122"/>
                </a:rPr>
                <a:t>1.3</a:t>
              </a:r>
              <a:r>
                <a:rPr lang="zh-CN" altLang="en-US" sz="1200" dirty="0">
                  <a:solidFill>
                    <a:schemeClr val="tx1"/>
                  </a:solidFill>
                  <a:latin typeface="微软雅黑" panose="020B0503020204020204" pitchFamily="34" charset="-122"/>
                  <a:ea typeface="微软雅黑" panose="020B0503020204020204" pitchFamily="34" charset="-122"/>
                </a:rPr>
                <a:t>亿条；短视频用户规模达</a:t>
              </a:r>
              <a:r>
                <a:rPr lang="en-US" altLang="zh-CN" sz="1200" dirty="0">
                  <a:solidFill>
                    <a:schemeClr val="tx1"/>
                  </a:solidFill>
                  <a:latin typeface="微软雅黑" panose="020B0503020204020204" pitchFamily="34" charset="-122"/>
                  <a:ea typeface="微软雅黑" panose="020B0503020204020204" pitchFamily="34" charset="-122"/>
                </a:rPr>
                <a:t>10.4</a:t>
              </a:r>
              <a:r>
                <a:rPr lang="zh-CN" altLang="en-US" sz="1200" dirty="0">
                  <a:solidFill>
                    <a:schemeClr val="tx1"/>
                  </a:solidFill>
                  <a:latin typeface="微软雅黑" panose="020B0503020204020204" pitchFamily="34" charset="-122"/>
                  <a:ea typeface="微软雅黑" panose="020B0503020204020204" pitchFamily="34" charset="-122"/>
                </a:rPr>
                <a:t>亿人，人均单日使用时长达</a:t>
              </a:r>
              <a:r>
                <a:rPr lang="en-US" altLang="zh-CN" sz="1200" dirty="0">
                  <a:solidFill>
                    <a:schemeClr val="tx1"/>
                  </a:solidFill>
                  <a:latin typeface="微软雅黑" panose="020B0503020204020204" pitchFamily="34" charset="-122"/>
                  <a:ea typeface="微软雅黑" panose="020B0503020204020204" pitchFamily="34" charset="-122"/>
                </a:rPr>
                <a:t>156</a:t>
              </a:r>
              <a:r>
                <a:rPr lang="zh-CN" altLang="en-US" sz="1200" dirty="0">
                  <a:solidFill>
                    <a:schemeClr val="tx1"/>
                  </a:solidFill>
                  <a:latin typeface="微软雅黑" panose="020B0503020204020204" pitchFamily="34" charset="-122"/>
                  <a:ea typeface="微软雅黑" panose="020B0503020204020204" pitchFamily="34" charset="-122"/>
                </a:rPr>
                <a:t>分钟，遥遥领先于其他应用。</a:t>
              </a:r>
              <a:endParaRPr lang="zh-CN" altLang="en-US" sz="1200" dirty="0">
                <a:solidFill>
                  <a:schemeClr val="tx1"/>
                </a:solidFill>
                <a:latin typeface="微软雅黑" panose="020B0503020204020204" pitchFamily="34" charset="-122"/>
                <a:ea typeface="微软雅黑" panose="020B0503020204020204" pitchFamily="34" charset="-122"/>
                <a:sym typeface="微软雅黑" panose="020B0503020204020204" pitchFamily="34" charset="-122"/>
              </a:endParaRPr>
            </a:p>
          </p:txBody>
        </p:sp>
      </p:grpSp>
      <p:grpSp>
        <p:nvGrpSpPr>
          <p:cNvPr id="17" name="组合 16">
            <a:extLst>
              <a:ext uri="{FF2B5EF4-FFF2-40B4-BE49-F238E27FC236}">
                <a16:creationId xmlns:a16="http://schemas.microsoft.com/office/drawing/2014/main" id="{335801C0-5EAF-3D86-A6B4-9C4655DEEA40}"/>
              </a:ext>
            </a:extLst>
          </p:cNvPr>
          <p:cNvGrpSpPr/>
          <p:nvPr/>
        </p:nvGrpSpPr>
        <p:grpSpPr>
          <a:xfrm>
            <a:off x="4528457" y="1506226"/>
            <a:ext cx="6990443" cy="3848841"/>
            <a:chOff x="4528457" y="1925326"/>
            <a:chExt cx="6990443" cy="3848841"/>
          </a:xfrm>
        </p:grpSpPr>
        <p:sp>
          <p:nvSpPr>
            <p:cNvPr id="18" name="矩形 17">
              <a:extLst>
                <a:ext uri="{FF2B5EF4-FFF2-40B4-BE49-F238E27FC236}">
                  <a16:creationId xmlns:a16="http://schemas.microsoft.com/office/drawing/2014/main" id="{1781F516-DE23-8A12-FC3F-021993D74047}"/>
                </a:ext>
              </a:extLst>
            </p:cNvPr>
            <p:cNvSpPr/>
            <p:nvPr/>
          </p:nvSpPr>
          <p:spPr>
            <a:xfrm>
              <a:off x="4528457" y="1925326"/>
              <a:ext cx="6990443" cy="3848841"/>
            </a:xfrm>
            <a:prstGeom prst="rect">
              <a:avLst/>
            </a:prstGeom>
            <a:solidFill>
              <a:schemeClr val="accent1">
                <a:lumMod val="20000"/>
                <a:lumOff val="80000"/>
                <a:alpha val="31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文本框 18">
              <a:extLst>
                <a:ext uri="{FF2B5EF4-FFF2-40B4-BE49-F238E27FC236}">
                  <a16:creationId xmlns:a16="http://schemas.microsoft.com/office/drawing/2014/main" id="{DBB74FB9-AE8D-A595-54A8-8AC4B846CCA6}"/>
                </a:ext>
              </a:extLst>
            </p:cNvPr>
            <p:cNvSpPr txBox="1"/>
            <p:nvPr/>
          </p:nvSpPr>
          <p:spPr>
            <a:xfrm>
              <a:off x="4762346" y="2244645"/>
              <a:ext cx="800219" cy="461665"/>
            </a:xfrm>
            <a:prstGeom prst="rect">
              <a:avLst/>
            </a:prstGeom>
            <a:noFill/>
          </p:spPr>
          <p:txBody>
            <a:bodyPr wrap="none" rtlCol="0">
              <a:spAutoFit/>
            </a:bodyPr>
            <a:lstStyle/>
            <a:p>
              <a:r>
                <a:rPr lang="zh-CN" altLang="en-US" sz="2400" dirty="0">
                  <a:solidFill>
                    <a:schemeClr val="accent1"/>
                  </a:solidFill>
                  <a:latin typeface="微软雅黑" panose="020B0503020204020204" pitchFamily="34" charset="-122"/>
                  <a:ea typeface="微软雅黑" panose="020B0503020204020204" pitchFamily="34" charset="-122"/>
                </a:rPr>
                <a:t>图片</a:t>
              </a:r>
            </a:p>
          </p:txBody>
        </p:sp>
      </p:grpSp>
      <p:grpSp>
        <p:nvGrpSpPr>
          <p:cNvPr id="20" name="组合 19">
            <a:extLst>
              <a:ext uri="{FF2B5EF4-FFF2-40B4-BE49-F238E27FC236}">
                <a16:creationId xmlns:a16="http://schemas.microsoft.com/office/drawing/2014/main" id="{01587413-2EE6-0D4F-0952-509DD263CC64}"/>
              </a:ext>
            </a:extLst>
          </p:cNvPr>
          <p:cNvGrpSpPr/>
          <p:nvPr/>
        </p:nvGrpSpPr>
        <p:grpSpPr>
          <a:xfrm>
            <a:off x="660400" y="3015598"/>
            <a:ext cx="3590324" cy="1754327"/>
            <a:chOff x="2398424" y="2012411"/>
            <a:chExt cx="3590324" cy="1754327"/>
          </a:xfrm>
        </p:grpSpPr>
        <p:sp>
          <p:nvSpPr>
            <p:cNvPr id="21" name="文本框 20">
              <a:extLst>
                <a:ext uri="{FF2B5EF4-FFF2-40B4-BE49-F238E27FC236}">
                  <a16:creationId xmlns:a16="http://schemas.microsoft.com/office/drawing/2014/main" id="{0191A543-8D73-2919-5859-8C6EB7326FF7}"/>
                </a:ext>
              </a:extLst>
            </p:cNvPr>
            <p:cNvSpPr txBox="1"/>
            <p:nvPr/>
          </p:nvSpPr>
          <p:spPr>
            <a:xfrm>
              <a:off x="2398425" y="2012411"/>
              <a:ext cx="3463317" cy="369332"/>
            </a:xfrm>
            <a:prstGeom prst="rect">
              <a:avLst/>
            </a:prstGeom>
            <a:noFill/>
          </p:spPr>
          <p:txBody>
            <a:bodyPr wrap="square" rtlCol="0">
              <a:spAutoFit/>
            </a:bodyPr>
            <a:lstStyle>
              <a:defPPr>
                <a:defRPr lang="zh-CN"/>
              </a:defPPr>
              <a:lvl1pPr algn="dist">
                <a:defRPr>
                  <a:gradFill>
                    <a:gsLst>
                      <a:gs pos="94000">
                        <a:schemeClr val="accent3"/>
                      </a:gs>
                      <a:gs pos="35000">
                        <a:srgbClr val="F9EFE5"/>
                      </a:gs>
                      <a:gs pos="0">
                        <a:schemeClr val="accent4"/>
                      </a:gs>
                    </a:gsLst>
                    <a:path path="circle">
                      <a:fillToRect l="50000" t="50000" r="50000" b="50000"/>
                    </a:path>
                  </a:gradFill>
                  <a:latin typeface="+mj-ea"/>
                  <a:ea typeface="+mj-ea"/>
                </a:defRPr>
              </a:lvl1pPr>
            </a:lstStyle>
            <a:p>
              <a:pPr algn="l"/>
              <a:r>
                <a:rPr lang="zh-CN" altLang="en-US" b="1" dirty="0">
                  <a:solidFill>
                    <a:schemeClr val="accent1"/>
                  </a:solidFill>
                  <a:latin typeface="微软雅黑" panose="020B0503020204020204" pitchFamily="34" charset="-122"/>
                  <a:ea typeface="微软雅黑" panose="020B0503020204020204" pitchFamily="34" charset="-122"/>
                  <a:sym typeface="微软雅黑" panose="020B0503020204020204" pitchFamily="34" charset="-122"/>
                </a:rPr>
                <a:t>视频内容多元化</a:t>
              </a:r>
            </a:p>
          </p:txBody>
        </p:sp>
        <p:sp>
          <p:nvSpPr>
            <p:cNvPr id="22" name="文本框 21">
              <a:extLst>
                <a:ext uri="{FF2B5EF4-FFF2-40B4-BE49-F238E27FC236}">
                  <a16:creationId xmlns:a16="http://schemas.microsoft.com/office/drawing/2014/main" id="{8E1F53BB-3691-0D33-6982-9393F485A2E1}"/>
                </a:ext>
              </a:extLst>
            </p:cNvPr>
            <p:cNvSpPr txBox="1"/>
            <p:nvPr/>
          </p:nvSpPr>
          <p:spPr>
            <a:xfrm>
              <a:off x="2398424" y="2381743"/>
              <a:ext cx="3590324" cy="1384995"/>
            </a:xfrm>
            <a:prstGeom prst="rect">
              <a:avLst/>
            </a:prstGeom>
            <a:noFill/>
          </p:spPr>
          <p:txBody>
            <a:bodyPr wrap="square" rtlCol="0">
              <a:spAutoFit/>
            </a:bodyPr>
            <a:lstStyle>
              <a:defPPr>
                <a:defRPr lang="zh-CN"/>
              </a:defPPr>
              <a:lvl1pPr algn="dist">
                <a:defRPr>
                  <a:gradFill>
                    <a:gsLst>
                      <a:gs pos="94000">
                        <a:schemeClr val="accent3"/>
                      </a:gs>
                      <a:gs pos="35000">
                        <a:srgbClr val="F9EFE5"/>
                      </a:gs>
                      <a:gs pos="0">
                        <a:schemeClr val="accent4"/>
                      </a:gs>
                    </a:gsLst>
                    <a:path path="circle">
                      <a:fillToRect l="50000" t="50000" r="50000" b="50000"/>
                    </a:path>
                  </a:gradFill>
                  <a:latin typeface="+mj-ea"/>
                  <a:ea typeface="+mj-ea"/>
                </a:defRPr>
              </a:lvl1pPr>
            </a:lstStyle>
            <a:p>
              <a:pPr algn="l"/>
              <a:r>
                <a:rPr lang="zh-CN" altLang="en-US" sz="1200" dirty="0">
                  <a:solidFill>
                    <a:schemeClr val="tx1"/>
                  </a:solidFill>
                  <a:latin typeface="微软雅黑" panose="020B0503020204020204" pitchFamily="34" charset="-122"/>
                  <a:ea typeface="微软雅黑" panose="020B0503020204020204" pitchFamily="34" charset="-122"/>
                </a:rPr>
                <a:t>多元化的节目类型和高品质的节目内容一直都是视频平台的核心竞争力。近年来，各平台持续加强优质内容创作，不断提高节目品质，打造了一批有思想、有内涵、正能量、高质量的节目，带动用户黏性提升。上半年，</a:t>
              </a:r>
              <a:r>
                <a:rPr lang="en-US" altLang="zh-CN" sz="1200" dirty="0">
                  <a:solidFill>
                    <a:schemeClr val="tx1"/>
                  </a:solidFill>
                  <a:latin typeface="微软雅黑" panose="020B0503020204020204" pitchFamily="34" charset="-122"/>
                  <a:ea typeface="微软雅黑" panose="020B0503020204020204" pitchFamily="34" charset="-122"/>
                </a:rPr>
                <a:t>《</a:t>
              </a:r>
              <a:r>
                <a:rPr lang="zh-CN" altLang="en-US" sz="1200" dirty="0">
                  <a:solidFill>
                    <a:schemeClr val="tx1"/>
                  </a:solidFill>
                  <a:latin typeface="微软雅黑" panose="020B0503020204020204" pitchFamily="34" charset="-122"/>
                  <a:ea typeface="微软雅黑" panose="020B0503020204020204" pitchFamily="34" charset="-122"/>
                </a:rPr>
                <a:t>青春正好</a:t>
              </a:r>
              <a:r>
                <a:rPr lang="en-US" altLang="zh-CN" sz="1200" dirty="0">
                  <a:solidFill>
                    <a:schemeClr val="tx1"/>
                  </a:solidFill>
                  <a:latin typeface="微软雅黑" panose="020B0503020204020204" pitchFamily="34" charset="-122"/>
                  <a:ea typeface="微软雅黑" panose="020B0503020204020204" pitchFamily="34" charset="-122"/>
                </a:rPr>
                <a:t>》《</a:t>
              </a:r>
              <a:r>
                <a:rPr lang="zh-CN" altLang="en-US" sz="1200" dirty="0">
                  <a:solidFill>
                    <a:schemeClr val="tx1"/>
                  </a:solidFill>
                  <a:latin typeface="微软雅黑" panose="020B0503020204020204" pitchFamily="34" charset="-122"/>
                  <a:ea typeface="微软雅黑" panose="020B0503020204020204" pitchFamily="34" charset="-122"/>
                </a:rPr>
                <a:t>种地吧</a:t>
              </a:r>
              <a:r>
                <a:rPr lang="en-US" altLang="zh-CN" sz="1200" dirty="0">
                  <a:solidFill>
                    <a:schemeClr val="tx1"/>
                  </a:solidFill>
                  <a:latin typeface="微软雅黑" panose="020B0503020204020204" pitchFamily="34" charset="-122"/>
                  <a:ea typeface="微软雅黑" panose="020B0503020204020204" pitchFamily="34" charset="-122"/>
                </a:rPr>
                <a:t>》《</a:t>
              </a:r>
              <a:r>
                <a:rPr lang="zh-CN" altLang="en-US" sz="1200" dirty="0">
                  <a:solidFill>
                    <a:schemeClr val="tx1"/>
                  </a:solidFill>
                  <a:latin typeface="微软雅黑" panose="020B0503020204020204" pitchFamily="34" charset="-122"/>
                  <a:ea typeface="微软雅黑" panose="020B0503020204020204" pitchFamily="34" charset="-122"/>
                </a:rPr>
                <a:t>抬头见喜</a:t>
              </a:r>
              <a:r>
                <a:rPr lang="en-US" altLang="zh-CN" sz="1200" dirty="0">
                  <a:solidFill>
                    <a:schemeClr val="tx1"/>
                  </a:solidFill>
                  <a:latin typeface="微软雅黑" panose="020B0503020204020204" pitchFamily="34" charset="-122"/>
                  <a:ea typeface="微软雅黑" panose="020B0503020204020204" pitchFamily="34" charset="-122"/>
                </a:rPr>
                <a:t>》</a:t>
              </a:r>
              <a:r>
                <a:rPr lang="zh-CN" altLang="en-US" sz="1200" dirty="0">
                  <a:solidFill>
                    <a:schemeClr val="tx1"/>
                  </a:solidFill>
                  <a:latin typeface="微软雅黑" panose="020B0503020204020204" pitchFamily="34" charset="-122"/>
                  <a:ea typeface="微软雅黑" panose="020B0503020204020204" pitchFamily="34" charset="-122"/>
                </a:rPr>
                <a:t>等网络视频节目获得良好市场反响，充分发挥了优秀作品的示范引领作用。</a:t>
              </a:r>
              <a:endParaRPr lang="zh-CN" altLang="en-US" sz="1200" dirty="0">
                <a:solidFill>
                  <a:schemeClr val="tx1"/>
                </a:solidFill>
                <a:latin typeface="微软雅黑" panose="020B0503020204020204" pitchFamily="34" charset="-122"/>
                <a:ea typeface="微软雅黑" panose="020B0503020204020204" pitchFamily="34" charset="-122"/>
                <a:sym typeface="微软雅黑" panose="020B0503020204020204" pitchFamily="34" charset="-122"/>
              </a:endParaRPr>
            </a:p>
          </p:txBody>
        </p:sp>
      </p:grpSp>
      <p:grpSp>
        <p:nvGrpSpPr>
          <p:cNvPr id="23" name="组合 22">
            <a:extLst>
              <a:ext uri="{FF2B5EF4-FFF2-40B4-BE49-F238E27FC236}">
                <a16:creationId xmlns:a16="http://schemas.microsoft.com/office/drawing/2014/main" id="{C2C91032-C271-D059-3DBB-7E5CD1A73468}"/>
              </a:ext>
            </a:extLst>
          </p:cNvPr>
          <p:cNvGrpSpPr/>
          <p:nvPr/>
        </p:nvGrpSpPr>
        <p:grpSpPr>
          <a:xfrm>
            <a:off x="673100" y="4936446"/>
            <a:ext cx="3463318" cy="1384995"/>
            <a:chOff x="2398424" y="2012411"/>
            <a:chExt cx="3463318" cy="1384995"/>
          </a:xfrm>
        </p:grpSpPr>
        <p:sp>
          <p:nvSpPr>
            <p:cNvPr id="24" name="文本框 23">
              <a:extLst>
                <a:ext uri="{FF2B5EF4-FFF2-40B4-BE49-F238E27FC236}">
                  <a16:creationId xmlns:a16="http://schemas.microsoft.com/office/drawing/2014/main" id="{25E04427-B9EB-04AD-448D-57F93C7E1372}"/>
                </a:ext>
              </a:extLst>
            </p:cNvPr>
            <p:cNvSpPr txBox="1"/>
            <p:nvPr/>
          </p:nvSpPr>
          <p:spPr>
            <a:xfrm>
              <a:off x="2398425" y="2012411"/>
              <a:ext cx="3463317" cy="369332"/>
            </a:xfrm>
            <a:prstGeom prst="rect">
              <a:avLst/>
            </a:prstGeom>
            <a:noFill/>
          </p:spPr>
          <p:txBody>
            <a:bodyPr wrap="square" rtlCol="0">
              <a:spAutoFit/>
            </a:bodyPr>
            <a:lstStyle>
              <a:defPPr>
                <a:defRPr lang="zh-CN"/>
              </a:defPPr>
              <a:lvl1pPr algn="dist">
                <a:defRPr>
                  <a:gradFill>
                    <a:gsLst>
                      <a:gs pos="94000">
                        <a:schemeClr val="accent3"/>
                      </a:gs>
                      <a:gs pos="35000">
                        <a:srgbClr val="F9EFE5"/>
                      </a:gs>
                      <a:gs pos="0">
                        <a:schemeClr val="accent4"/>
                      </a:gs>
                    </a:gsLst>
                    <a:path path="circle">
                      <a:fillToRect l="50000" t="50000" r="50000" b="50000"/>
                    </a:path>
                  </a:gradFill>
                  <a:latin typeface="+mj-ea"/>
                  <a:ea typeface="+mj-ea"/>
                </a:defRPr>
              </a:lvl1pPr>
            </a:lstStyle>
            <a:p>
              <a:pPr algn="l"/>
              <a:r>
                <a:rPr lang="zh-CN" altLang="en-US" b="1" dirty="0">
                  <a:solidFill>
                    <a:schemeClr val="accent1"/>
                  </a:solidFill>
                  <a:latin typeface="微软雅黑" panose="020B0503020204020204" pitchFamily="34" charset="-122"/>
                  <a:ea typeface="微软雅黑" panose="020B0503020204020204" pitchFamily="34" charset="-122"/>
                  <a:sym typeface="微软雅黑" panose="020B0503020204020204" pitchFamily="34" charset="-122"/>
                </a:rPr>
                <a:t>科技融入影视业</a:t>
              </a:r>
            </a:p>
          </p:txBody>
        </p:sp>
        <p:sp>
          <p:nvSpPr>
            <p:cNvPr id="25" name="文本框 24">
              <a:extLst>
                <a:ext uri="{FF2B5EF4-FFF2-40B4-BE49-F238E27FC236}">
                  <a16:creationId xmlns:a16="http://schemas.microsoft.com/office/drawing/2014/main" id="{6B78B160-F3E2-C32B-8C72-BA35CF655B79}"/>
                </a:ext>
              </a:extLst>
            </p:cNvPr>
            <p:cNvSpPr txBox="1"/>
            <p:nvPr/>
          </p:nvSpPr>
          <p:spPr>
            <a:xfrm>
              <a:off x="2398424" y="2381743"/>
              <a:ext cx="3229429" cy="1015663"/>
            </a:xfrm>
            <a:prstGeom prst="rect">
              <a:avLst/>
            </a:prstGeom>
            <a:noFill/>
          </p:spPr>
          <p:txBody>
            <a:bodyPr wrap="square" rtlCol="0">
              <a:spAutoFit/>
            </a:bodyPr>
            <a:lstStyle>
              <a:defPPr>
                <a:defRPr lang="zh-CN"/>
              </a:defPPr>
              <a:lvl1pPr algn="dist">
                <a:defRPr>
                  <a:gradFill>
                    <a:gsLst>
                      <a:gs pos="94000">
                        <a:schemeClr val="accent3"/>
                      </a:gs>
                      <a:gs pos="35000">
                        <a:srgbClr val="F9EFE5"/>
                      </a:gs>
                      <a:gs pos="0">
                        <a:schemeClr val="accent4"/>
                      </a:gs>
                    </a:gsLst>
                    <a:path path="circle">
                      <a:fillToRect l="50000" t="50000" r="50000" b="50000"/>
                    </a:path>
                  </a:gradFill>
                  <a:latin typeface="+mj-ea"/>
                  <a:ea typeface="+mj-ea"/>
                </a:defRPr>
              </a:lvl1pPr>
            </a:lstStyle>
            <a:p>
              <a:pPr algn="l"/>
              <a:r>
                <a:rPr lang="zh-CN" altLang="en-US" sz="1200" dirty="0">
                  <a:solidFill>
                    <a:schemeClr val="tx1"/>
                  </a:solidFill>
                  <a:latin typeface="微软雅黑" panose="020B0503020204020204" pitchFamily="34" charset="-122"/>
                  <a:ea typeface="微软雅黑" panose="020B0503020204020204" pitchFamily="34" charset="-122"/>
                </a:rPr>
                <a:t>基于人工智能、大数据和云计算等技术，各平台不断深化科技创新，搭建起影视工业化系统，推动影视行业实现了从决策、管理到制作、分发的全流程升级。大模型赋能短视频创作行业。                                             </a:t>
              </a:r>
              <a:endParaRPr lang="zh-CN" altLang="en-US" sz="1200" dirty="0">
                <a:solidFill>
                  <a:schemeClr val="tx1"/>
                </a:solidFill>
                <a:latin typeface="微软雅黑" panose="020B0503020204020204" pitchFamily="34" charset="-122"/>
                <a:ea typeface="微软雅黑" panose="020B0503020204020204" pitchFamily="34" charset="-122"/>
                <a:sym typeface="微软雅黑" panose="020B0503020204020204" pitchFamily="34" charset="-122"/>
              </a:endParaRPr>
            </a:p>
          </p:txBody>
        </p:sp>
      </p:grpSp>
      <p:sp>
        <p:nvSpPr>
          <p:cNvPr id="5" name="文本框 4">
            <a:extLst>
              <a:ext uri="{FF2B5EF4-FFF2-40B4-BE49-F238E27FC236}">
                <a16:creationId xmlns:a16="http://schemas.microsoft.com/office/drawing/2014/main" id="{347FC00D-2766-B406-9134-90B5F25EC565}"/>
              </a:ext>
            </a:extLst>
          </p:cNvPr>
          <p:cNvSpPr txBox="1"/>
          <p:nvPr/>
        </p:nvSpPr>
        <p:spPr>
          <a:xfrm>
            <a:off x="3789406" y="5983253"/>
            <a:ext cx="4209535" cy="369332"/>
          </a:xfrm>
          <a:prstGeom prst="rect">
            <a:avLst/>
          </a:prstGeom>
          <a:noFill/>
        </p:spPr>
        <p:txBody>
          <a:bodyPr wrap="square" rtlCol="0">
            <a:spAutoFit/>
          </a:bodyPr>
          <a:lstStyle/>
          <a:p>
            <a:r>
              <a:rPr lang="en-US" altLang="zh-CN" dirty="0"/>
              <a:t>--</a:t>
            </a:r>
            <a:r>
              <a:rPr lang="zh-CN" altLang="en-US" sz="1400" dirty="0"/>
              <a:t>数据来自</a:t>
            </a:r>
            <a:r>
              <a:rPr lang="en-US" altLang="zh-CN" sz="1400" dirty="0"/>
              <a:t>《</a:t>
            </a:r>
            <a:r>
              <a:rPr lang="zh-CN" altLang="en-US" sz="1400" dirty="0"/>
              <a:t>中国互联网络信息中心</a:t>
            </a:r>
            <a:r>
              <a:rPr lang="en-US" altLang="zh-CN" sz="1400" dirty="0"/>
              <a:t>》</a:t>
            </a:r>
            <a:r>
              <a:rPr lang="zh-CN" altLang="en-US" sz="1400" dirty="0"/>
              <a:t>以及互联网</a:t>
            </a:r>
          </a:p>
        </p:txBody>
      </p:sp>
      <p:pic>
        <p:nvPicPr>
          <p:cNvPr id="7" name="图片 6">
            <a:extLst>
              <a:ext uri="{FF2B5EF4-FFF2-40B4-BE49-F238E27FC236}">
                <a16:creationId xmlns:a16="http://schemas.microsoft.com/office/drawing/2014/main" id="{8C4E71DC-A859-537B-34B3-929AA83ADBA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414150" y="1502933"/>
            <a:ext cx="7184725" cy="3934040"/>
          </a:xfrm>
          <a:prstGeom prst="rect">
            <a:avLst/>
          </a:prstGeom>
        </p:spPr>
      </p:pic>
    </p:spTree>
    <p:extLst>
      <p:ext uri="{BB962C8B-B14F-4D97-AF65-F5344CB8AC3E}">
        <p14:creationId xmlns:p14="http://schemas.microsoft.com/office/powerpoint/2010/main" val="1327697512"/>
      </p:ext>
    </p:extLst>
  </p:cSld>
  <p:clrMapOvr>
    <a:masterClrMapping/>
  </p:clrMapOvr>
  <p:transition spd="med">
    <p:pull/>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B70D3C-9B0B-05CB-976F-998C03A956EF}"/>
            </a:ext>
          </a:extLst>
        </p:cNvPr>
        <p:cNvGrpSpPr/>
        <p:nvPr/>
      </p:nvGrpSpPr>
      <p:grpSpPr>
        <a:xfrm>
          <a:off x="0" y="0"/>
          <a:ext cx="0" cy="0"/>
          <a:chOff x="0" y="0"/>
          <a:chExt cx="0" cy="0"/>
        </a:xfrm>
      </p:grpSpPr>
      <p:pic>
        <p:nvPicPr>
          <p:cNvPr id="6" name="图片 5">
            <a:extLst>
              <a:ext uri="{FF2B5EF4-FFF2-40B4-BE49-F238E27FC236}">
                <a16:creationId xmlns:a16="http://schemas.microsoft.com/office/drawing/2014/main" id="{E740B5C1-F7D1-CF4B-3478-959A0C293311}"/>
              </a:ext>
            </a:extLst>
          </p:cNvPr>
          <p:cNvPicPr>
            <a:picLocks noChangeAspect="1"/>
          </p:cNvPicPr>
          <p:nvPr/>
        </p:nvPicPr>
        <p:blipFill>
          <a:blip r:embed="rId2">
            <a:alphaModFix/>
            <a:extLst>
              <a:ext uri="{BEBA8EAE-BF5A-486C-A8C5-ECC9F3942E4B}">
                <a14:imgProps xmlns:a14="http://schemas.microsoft.com/office/drawing/2010/main">
                  <a14:imgLayer r:embed="rId3">
                    <a14:imgEffect>
                      <a14:saturation sat="106000"/>
                    </a14:imgEffect>
                  </a14:imgLayer>
                </a14:imgProps>
              </a:ext>
              <a:ext uri="{28A0092B-C50C-407E-A947-70E740481C1C}">
                <a14:useLocalDpi xmlns:a14="http://schemas.microsoft.com/office/drawing/2010/main" val="0"/>
              </a:ext>
            </a:extLst>
          </a:blip>
          <a:stretch>
            <a:fillRect/>
          </a:stretch>
        </p:blipFill>
        <p:spPr>
          <a:xfrm>
            <a:off x="7521145" y="230450"/>
            <a:ext cx="4448432" cy="2847970"/>
          </a:xfrm>
          <a:prstGeom prst="rect">
            <a:avLst/>
          </a:prstGeom>
          <a:ln>
            <a:noFill/>
          </a:ln>
          <a:effectLst>
            <a:outerShdw blurRad="292100" dist="139700" dir="2700000" algn="tl" rotWithShape="0">
              <a:srgbClr val="333333">
                <a:alpha val="65000"/>
              </a:srgbClr>
            </a:outerShdw>
          </a:effectLst>
        </p:spPr>
      </p:pic>
      <p:sp>
        <p:nvSpPr>
          <p:cNvPr id="2" name="文本框 1">
            <a:extLst>
              <a:ext uri="{FF2B5EF4-FFF2-40B4-BE49-F238E27FC236}">
                <a16:creationId xmlns:a16="http://schemas.microsoft.com/office/drawing/2014/main" id="{587DE7DC-1D91-287C-15B0-637CD1ACAFAF}"/>
              </a:ext>
            </a:extLst>
          </p:cNvPr>
          <p:cNvSpPr txBox="1"/>
          <p:nvPr/>
        </p:nvSpPr>
        <p:spPr>
          <a:xfrm>
            <a:off x="1359243" y="1285103"/>
            <a:ext cx="184731" cy="369332"/>
          </a:xfrm>
          <a:prstGeom prst="rect">
            <a:avLst/>
          </a:prstGeom>
          <a:noFill/>
        </p:spPr>
        <p:txBody>
          <a:bodyPr wrap="none" rtlCol="0">
            <a:spAutoFit/>
          </a:bodyPr>
          <a:lstStyle/>
          <a:p>
            <a:endParaRPr lang="zh-CN" altLang="en-US" dirty="0"/>
          </a:p>
        </p:txBody>
      </p:sp>
      <p:sp>
        <p:nvSpPr>
          <p:cNvPr id="3" name="文本框 2">
            <a:extLst>
              <a:ext uri="{FF2B5EF4-FFF2-40B4-BE49-F238E27FC236}">
                <a16:creationId xmlns:a16="http://schemas.microsoft.com/office/drawing/2014/main" id="{3A907A79-E96C-8D87-99D5-BA3DDA5FD27C}"/>
              </a:ext>
            </a:extLst>
          </p:cNvPr>
          <p:cNvSpPr txBox="1"/>
          <p:nvPr/>
        </p:nvSpPr>
        <p:spPr>
          <a:xfrm>
            <a:off x="823782" y="429565"/>
            <a:ext cx="4448431" cy="584775"/>
          </a:xfrm>
          <a:prstGeom prst="rect">
            <a:avLst/>
          </a:prstGeom>
          <a:noFill/>
        </p:spPr>
        <p:txBody>
          <a:bodyPr wrap="square" rtlCol="0">
            <a:spAutoFit/>
          </a:bodyPr>
          <a:lstStyle/>
          <a:p>
            <a:r>
              <a:rPr lang="zh-CN" altLang="en-US" sz="3200" b="1" dirty="0">
                <a:solidFill>
                  <a:schemeClr val="accent1"/>
                </a:solidFill>
                <a:latin typeface="微软雅黑" panose="020B0503020204020204" pitchFamily="34" charset="-122"/>
                <a:ea typeface="微软雅黑" panose="020B0503020204020204" pitchFamily="34" charset="-122"/>
              </a:rPr>
              <a:t>短视频盛世下的冷思考</a:t>
            </a:r>
          </a:p>
        </p:txBody>
      </p:sp>
      <p:sp>
        <p:nvSpPr>
          <p:cNvPr id="4" name="文本框 3">
            <a:extLst>
              <a:ext uri="{FF2B5EF4-FFF2-40B4-BE49-F238E27FC236}">
                <a16:creationId xmlns:a16="http://schemas.microsoft.com/office/drawing/2014/main" id="{034B26CD-87BB-6B0E-77C9-27890FCF3C95}"/>
              </a:ext>
            </a:extLst>
          </p:cNvPr>
          <p:cNvSpPr txBox="1"/>
          <p:nvPr/>
        </p:nvSpPr>
        <p:spPr>
          <a:xfrm>
            <a:off x="963826" y="1285103"/>
            <a:ext cx="6557319" cy="4339650"/>
          </a:xfrm>
          <a:prstGeom prst="rect">
            <a:avLst/>
          </a:prstGeom>
          <a:noFill/>
        </p:spPr>
        <p:txBody>
          <a:bodyPr wrap="square" rtlCol="0">
            <a:spAutoFit/>
          </a:bodyPr>
          <a:lstStyle/>
          <a:p>
            <a:r>
              <a:rPr lang="zh-CN" altLang="en-US" sz="2400" b="1" dirty="0">
                <a:solidFill>
                  <a:schemeClr val="accent1">
                    <a:lumMod val="75000"/>
                  </a:schemeClr>
                </a:solidFill>
                <a:latin typeface="微软雅黑" panose="020B0503020204020204" pitchFamily="34" charset="-122"/>
                <a:ea typeface="微软雅黑" panose="020B0503020204020204" pitchFamily="34" charset="-122"/>
              </a:rPr>
              <a:t>用户增长与工具爆发</a:t>
            </a:r>
            <a:endParaRPr lang="zh-CN" altLang="en-US" sz="2400" dirty="0">
              <a:solidFill>
                <a:schemeClr val="accent1">
                  <a:lumMod val="75000"/>
                </a:schemeClr>
              </a:solidFill>
              <a:latin typeface="微软雅黑" panose="020B0503020204020204" pitchFamily="34" charset="-122"/>
              <a:ea typeface="微软雅黑" panose="020B0503020204020204" pitchFamily="34" charset="-122"/>
            </a:endParaRPr>
          </a:p>
          <a:p>
            <a:r>
              <a:rPr lang="zh-CN" altLang="en-US" b="1" dirty="0">
                <a:latin typeface="微软雅黑" panose="020B0503020204020204" pitchFamily="34" charset="-122"/>
                <a:ea typeface="微软雅黑" panose="020B0503020204020204" pitchFamily="34" charset="-122"/>
              </a:rPr>
              <a:t>国内短视频用户突破十亿大关，</a:t>
            </a:r>
            <a:r>
              <a:rPr lang="en-US" altLang="zh-CN" b="1" dirty="0">
                <a:latin typeface="微软雅黑" panose="020B0503020204020204" pitchFamily="34" charset="-122"/>
                <a:ea typeface="微软雅黑" panose="020B0503020204020204" pitchFamily="34" charset="-122"/>
              </a:rPr>
              <a:t>AI</a:t>
            </a:r>
            <a:r>
              <a:rPr lang="zh-CN" altLang="en-US" b="1" dirty="0">
                <a:latin typeface="微软雅黑" panose="020B0503020204020204" pitchFamily="34" charset="-122"/>
                <a:ea typeface="微软雅黑" panose="020B0503020204020204" pitchFamily="34" charset="-122"/>
              </a:rPr>
              <a:t>一键成片工具如雨后春笋般涌现，看似降低了创作门槛，实则掩盖了创作者的深层焦虑。</a:t>
            </a:r>
            <a:endParaRPr lang="en-US" altLang="zh-CN" b="1" dirty="0">
              <a:latin typeface="微软雅黑" panose="020B0503020204020204" pitchFamily="34" charset="-122"/>
              <a:ea typeface="微软雅黑" panose="020B0503020204020204" pitchFamily="34" charset="-122"/>
            </a:endParaRPr>
          </a:p>
          <a:p>
            <a:endParaRPr lang="en-US" altLang="zh-CN" b="1" dirty="0">
              <a:latin typeface="微软雅黑" panose="020B0503020204020204" pitchFamily="34" charset="-122"/>
              <a:ea typeface="微软雅黑" panose="020B0503020204020204" pitchFamily="34" charset="-122"/>
            </a:endParaRPr>
          </a:p>
          <a:p>
            <a:r>
              <a:rPr lang="zh-CN" altLang="en-US" sz="2400" b="1" dirty="0">
                <a:solidFill>
                  <a:schemeClr val="accent1"/>
                </a:solidFill>
                <a:latin typeface="微软雅黑" panose="020B0503020204020204" pitchFamily="34" charset="-122"/>
                <a:ea typeface="微软雅黑" panose="020B0503020204020204" pitchFamily="34" charset="-122"/>
              </a:rPr>
              <a:t>创作者的焦虑</a:t>
            </a:r>
            <a:endParaRPr lang="en-US" altLang="zh-CN" sz="2400" b="1" dirty="0">
              <a:solidFill>
                <a:schemeClr val="accent1"/>
              </a:solidFill>
              <a:latin typeface="微软雅黑" panose="020B0503020204020204" pitchFamily="34" charset="-122"/>
              <a:ea typeface="微软雅黑" panose="020B0503020204020204" pitchFamily="34" charset="-122"/>
            </a:endParaRPr>
          </a:p>
          <a:p>
            <a:r>
              <a:rPr lang="zh-CN" altLang="en-US" b="1" dirty="0">
                <a:latin typeface="微软雅黑" panose="020B0503020204020204" pitchFamily="34" charset="-122"/>
                <a:ea typeface="微软雅黑" panose="020B0503020204020204" pitchFamily="34" charset="-122"/>
              </a:rPr>
              <a:t>七成以上创作者每月至少经历两次‘灵感枯竭’，高互动视频平均生命周期从十四天缩短至三天，平台数据证明，工具解决了‘怎么拍’，却无人回应‘拍什么’。</a:t>
            </a:r>
            <a:endParaRPr lang="zh-CN" altLang="en-US" sz="2400" b="1" dirty="0">
              <a:latin typeface="微软雅黑" panose="020B0503020204020204" pitchFamily="34" charset="-122"/>
              <a:ea typeface="微软雅黑" panose="020B0503020204020204" pitchFamily="34" charset="-122"/>
            </a:endParaRPr>
          </a:p>
          <a:p>
            <a:endParaRPr lang="zh-CN" altLang="en-US" sz="2400" b="1" dirty="0">
              <a:solidFill>
                <a:schemeClr val="accent1"/>
              </a:solidFill>
              <a:latin typeface="微软雅黑" panose="020B0503020204020204" pitchFamily="34" charset="-122"/>
              <a:ea typeface="微软雅黑" panose="020B0503020204020204" pitchFamily="34" charset="-122"/>
            </a:endParaRPr>
          </a:p>
          <a:p>
            <a:r>
              <a:rPr lang="zh-CN" altLang="en-US" sz="2400" b="1" dirty="0">
                <a:solidFill>
                  <a:schemeClr val="accent1"/>
                </a:solidFill>
                <a:latin typeface="微软雅黑" panose="020B0503020204020204" pitchFamily="34" charset="-122"/>
                <a:ea typeface="微软雅黑" panose="020B0503020204020204" pitchFamily="34" charset="-122"/>
              </a:rPr>
              <a:t>市场切入原点</a:t>
            </a:r>
            <a:endParaRPr lang="zh-CN" altLang="en-US" sz="2400" dirty="0">
              <a:solidFill>
                <a:schemeClr val="accent1"/>
              </a:solidFill>
              <a:latin typeface="微软雅黑" panose="020B0503020204020204" pitchFamily="34" charset="-122"/>
              <a:ea typeface="微软雅黑" panose="020B0503020204020204" pitchFamily="34" charset="-122"/>
            </a:endParaRPr>
          </a:p>
          <a:p>
            <a:r>
              <a:rPr lang="zh-CN" altLang="en-US" b="1" dirty="0">
                <a:latin typeface="微软雅黑" panose="020B0503020204020204" pitchFamily="34" charset="-122"/>
                <a:ea typeface="微软雅黑" panose="020B0503020204020204" pitchFamily="34" charset="-122"/>
              </a:rPr>
              <a:t>繁荣数据与创意饥渴的反差，正是我们切入市场的原点，我们看到了创作者在创意前端的困境，这是一个亟待解决的问题。</a:t>
            </a:r>
          </a:p>
          <a:p>
            <a:endParaRPr lang="zh-CN" altLang="en-US" b="1" dirty="0">
              <a:latin typeface="微软雅黑" panose="020B0503020204020204" pitchFamily="34" charset="-122"/>
              <a:ea typeface="微软雅黑" panose="020B0503020204020204" pitchFamily="34" charset="-122"/>
            </a:endParaRPr>
          </a:p>
          <a:p>
            <a:r>
              <a:rPr lang="en-US" altLang="zh-CN" sz="1200" dirty="0">
                <a:solidFill>
                  <a:schemeClr val="tx1">
                    <a:lumMod val="75000"/>
                    <a:lumOff val="25000"/>
                  </a:schemeClr>
                </a:solidFill>
              </a:rPr>
              <a:t>--</a:t>
            </a:r>
            <a:r>
              <a:rPr lang="zh-CN" altLang="en-US" sz="1200" dirty="0">
                <a:solidFill>
                  <a:schemeClr val="tx1">
                    <a:lumMod val="75000"/>
                    <a:lumOff val="25000"/>
                  </a:schemeClr>
                </a:solidFill>
              </a:rPr>
              <a:t>数据来自于</a:t>
            </a:r>
            <a:r>
              <a:rPr lang="en-US" altLang="zh-CN" sz="1200" dirty="0">
                <a:solidFill>
                  <a:schemeClr val="tx1">
                    <a:lumMod val="75000"/>
                    <a:lumOff val="25000"/>
                  </a:schemeClr>
                </a:solidFill>
              </a:rPr>
              <a:t>《</a:t>
            </a:r>
            <a:r>
              <a:rPr lang="zh-CN" altLang="en-US" sz="1200" dirty="0">
                <a:solidFill>
                  <a:schemeClr val="tx1">
                    <a:lumMod val="75000"/>
                    <a:lumOff val="25000"/>
                  </a:schemeClr>
                </a:solidFill>
              </a:rPr>
              <a:t>网易新闻</a:t>
            </a:r>
            <a:r>
              <a:rPr lang="en-US" altLang="zh-CN" sz="1200" dirty="0">
                <a:solidFill>
                  <a:schemeClr val="tx1">
                    <a:lumMod val="75000"/>
                    <a:lumOff val="25000"/>
                  </a:schemeClr>
                </a:solidFill>
              </a:rPr>
              <a:t>》《</a:t>
            </a:r>
            <a:r>
              <a:rPr lang="zh-CN" altLang="en-US" sz="1200" dirty="0">
                <a:solidFill>
                  <a:schemeClr val="tx1">
                    <a:lumMod val="75000"/>
                    <a:lumOff val="25000"/>
                  </a:schemeClr>
                </a:solidFill>
              </a:rPr>
              <a:t>抖音</a:t>
            </a:r>
            <a:r>
              <a:rPr lang="en-US" altLang="zh-CN" sz="1200" dirty="0">
                <a:solidFill>
                  <a:schemeClr val="tx1">
                    <a:lumMod val="75000"/>
                    <a:lumOff val="25000"/>
                  </a:schemeClr>
                </a:solidFill>
              </a:rPr>
              <a:t>》《</a:t>
            </a:r>
            <a:r>
              <a:rPr lang="zh-CN" altLang="en-US" sz="1200" dirty="0">
                <a:solidFill>
                  <a:schemeClr val="tx1">
                    <a:lumMod val="75000"/>
                    <a:lumOff val="25000"/>
                  </a:schemeClr>
                </a:solidFill>
              </a:rPr>
              <a:t>微博</a:t>
            </a:r>
            <a:r>
              <a:rPr lang="en-US" altLang="zh-CN" sz="1200" dirty="0">
                <a:solidFill>
                  <a:schemeClr val="tx1">
                    <a:lumMod val="75000"/>
                    <a:lumOff val="25000"/>
                  </a:schemeClr>
                </a:solidFill>
              </a:rPr>
              <a:t>》</a:t>
            </a:r>
            <a:r>
              <a:rPr lang="zh-CN" altLang="en-US" sz="1200" dirty="0">
                <a:solidFill>
                  <a:schemeClr val="tx1">
                    <a:lumMod val="75000"/>
                    <a:lumOff val="25000"/>
                  </a:schemeClr>
                </a:solidFill>
              </a:rPr>
              <a:t>等多个平台</a:t>
            </a:r>
          </a:p>
        </p:txBody>
      </p:sp>
    </p:spTree>
    <p:extLst>
      <p:ext uri="{BB962C8B-B14F-4D97-AF65-F5344CB8AC3E}">
        <p14:creationId xmlns:p14="http://schemas.microsoft.com/office/powerpoint/2010/main" val="769224614"/>
      </p:ext>
    </p:extLst>
  </p:cSld>
  <p:clrMapOvr>
    <a:masterClrMapping/>
  </p:clrMapOvr>
  <p:transition spd="med">
    <p:pull/>
  </p:transition>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alpha val="0"/>
          </a:schemeClr>
        </a:solidFill>
        <a:effectLst/>
      </p:bgPr>
    </p:bg>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72D1A4BD-1CFE-F76A-441E-6A179FA7CA3F}"/>
              </a:ext>
            </a:extLst>
          </p:cNvPr>
          <p:cNvSpPr txBox="1"/>
          <p:nvPr/>
        </p:nvSpPr>
        <p:spPr>
          <a:xfrm>
            <a:off x="733168" y="495837"/>
            <a:ext cx="3947676" cy="861774"/>
          </a:xfrm>
          <a:prstGeom prst="rect">
            <a:avLst/>
          </a:prstGeom>
          <a:noFill/>
        </p:spPr>
        <p:txBody>
          <a:bodyPr wrap="square" rtlCol="0">
            <a:spAutoFit/>
          </a:bodyPr>
          <a:lstStyle/>
          <a:p>
            <a:r>
              <a:rPr lang="zh-CN" altLang="en-US" sz="3200" b="1" dirty="0">
                <a:solidFill>
                  <a:schemeClr val="accent1"/>
                </a:solidFill>
                <a:latin typeface="微软雅黑" panose="020B0503020204020204" pitchFamily="34" charset="-122"/>
                <a:ea typeface="微软雅黑" panose="020B0503020204020204" pitchFamily="34" charset="-122"/>
              </a:rPr>
              <a:t>创意缺口被工具遮蔽</a:t>
            </a:r>
            <a:endParaRPr lang="zh-CN" altLang="en-US" sz="3200" dirty="0">
              <a:solidFill>
                <a:schemeClr val="accent1"/>
              </a:solidFill>
              <a:latin typeface="微软雅黑" panose="020B0503020204020204" pitchFamily="34" charset="-122"/>
              <a:ea typeface="微软雅黑" panose="020B0503020204020204" pitchFamily="34" charset="-122"/>
            </a:endParaRPr>
          </a:p>
          <a:p>
            <a:endParaRPr lang="zh-CN" altLang="en-US" dirty="0"/>
          </a:p>
        </p:txBody>
      </p:sp>
      <p:sp>
        <p:nvSpPr>
          <p:cNvPr id="3" name="矩形: 圆角 2">
            <a:extLst>
              <a:ext uri="{FF2B5EF4-FFF2-40B4-BE49-F238E27FC236}">
                <a16:creationId xmlns:a16="http://schemas.microsoft.com/office/drawing/2014/main" id="{915A221C-3759-5C6C-CEE5-32C717005BBF}"/>
              </a:ext>
            </a:extLst>
          </p:cNvPr>
          <p:cNvSpPr/>
          <p:nvPr/>
        </p:nvSpPr>
        <p:spPr>
          <a:xfrm>
            <a:off x="950861" y="1537734"/>
            <a:ext cx="3181023" cy="602793"/>
          </a:xfrm>
          <a:prstGeom prst="roundRect">
            <a:avLst>
              <a:gd name="adj" fmla="val 0"/>
            </a:avLst>
          </a:prstGeom>
          <a:solidFill>
            <a:schemeClr val="accent2">
              <a:lumMod val="75000"/>
              <a:alpha val="73000"/>
            </a:schemeClr>
          </a:solidFill>
          <a:ln w="6055" cap="flat">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prstDash val="solid"/>
            <a:miter/>
          </a:ln>
          <a:effectLst>
            <a:outerShdw blurRad="50800" dist="50800" dir="5400000" algn="ctr" rotWithShape="0">
              <a:srgbClr val="000000">
                <a:alpha val="0"/>
              </a:srgbClr>
            </a:outerShdw>
            <a:softEdge rad="12700"/>
          </a:effectLst>
          <a:scene3d>
            <a:camera prst="orthographicFront"/>
            <a:lightRig rig="chilly" dir="t"/>
          </a:scene3d>
        </p:spPr>
        <p:txBody>
          <a:bodyPr rtlCol="0" anchor="ctr"/>
          <a:lstStyle/>
          <a:p>
            <a:endParaRPr lang="zh-CN" altLang="en-US">
              <a:latin typeface="Arial" panose="020B0604020202020204" pitchFamily="34" charset="0"/>
              <a:ea typeface="微软雅黑" panose="020B0503020204020204" pitchFamily="34" charset="-122"/>
              <a:sym typeface="Arial" panose="020B0604020202020204" pitchFamily="34" charset="0"/>
            </a:endParaRPr>
          </a:p>
        </p:txBody>
      </p:sp>
      <p:sp>
        <p:nvSpPr>
          <p:cNvPr id="4" name="文本框 3">
            <a:extLst>
              <a:ext uri="{FF2B5EF4-FFF2-40B4-BE49-F238E27FC236}">
                <a16:creationId xmlns:a16="http://schemas.microsoft.com/office/drawing/2014/main" id="{2FDD720E-FBA1-AFF4-DD86-8988D7066187}"/>
              </a:ext>
            </a:extLst>
          </p:cNvPr>
          <p:cNvSpPr txBox="1"/>
          <p:nvPr/>
        </p:nvSpPr>
        <p:spPr>
          <a:xfrm>
            <a:off x="1070919" y="1603833"/>
            <a:ext cx="3023286" cy="738664"/>
          </a:xfrm>
          <a:prstGeom prst="rect">
            <a:avLst/>
          </a:prstGeom>
          <a:noFill/>
        </p:spPr>
        <p:txBody>
          <a:bodyPr wrap="square" rtlCol="0">
            <a:spAutoFit/>
          </a:bodyPr>
          <a:lstStyle/>
          <a:p>
            <a:r>
              <a:rPr lang="zh-CN" altLang="en-US" sz="2400" b="1" dirty="0">
                <a:solidFill>
                  <a:schemeClr val="bg1"/>
                </a:solidFill>
                <a:latin typeface="微软雅黑" panose="020B0503020204020204" pitchFamily="34" charset="-122"/>
                <a:ea typeface="微软雅黑" panose="020B0503020204020204" pitchFamily="34" charset="-122"/>
              </a:rPr>
              <a:t>现有产品聚焦生产端</a:t>
            </a:r>
            <a:endParaRPr lang="zh-CN" altLang="en-US" sz="2400" dirty="0">
              <a:solidFill>
                <a:schemeClr val="bg1"/>
              </a:solidFill>
              <a:latin typeface="微软雅黑" panose="020B0503020204020204" pitchFamily="34" charset="-122"/>
              <a:ea typeface="微软雅黑" panose="020B0503020204020204" pitchFamily="34" charset="-122"/>
            </a:endParaRPr>
          </a:p>
          <a:p>
            <a:endParaRPr lang="zh-CN" altLang="en-US" dirty="0"/>
          </a:p>
        </p:txBody>
      </p:sp>
      <p:sp>
        <p:nvSpPr>
          <p:cNvPr id="5" name="矩形: 圆角 4">
            <a:extLst>
              <a:ext uri="{FF2B5EF4-FFF2-40B4-BE49-F238E27FC236}">
                <a16:creationId xmlns:a16="http://schemas.microsoft.com/office/drawing/2014/main" id="{95A539F6-3672-57E1-F545-CF2BA7658932}"/>
              </a:ext>
            </a:extLst>
          </p:cNvPr>
          <p:cNvSpPr/>
          <p:nvPr/>
        </p:nvSpPr>
        <p:spPr>
          <a:xfrm>
            <a:off x="988540" y="2342498"/>
            <a:ext cx="3105664" cy="2097698"/>
          </a:xfrm>
          <a:prstGeom prst="roundRect">
            <a:avLst>
              <a:gd name="adj" fmla="val 0"/>
            </a:avLst>
          </a:prstGeom>
          <a:solidFill>
            <a:schemeClr val="bg2">
              <a:alpha val="30000"/>
            </a:schemeClr>
          </a:solidFill>
          <a:ln w="6055" cap="flat">
            <a:noFill/>
            <a:prstDash val="solid"/>
            <a:miter/>
          </a:ln>
          <a:effectLst>
            <a:outerShdw blurRad="50800" dist="190500" dir="2700000" algn="tl" rotWithShape="0">
              <a:prstClr val="black">
                <a:alpha val="40000"/>
              </a:prstClr>
            </a:outerShdw>
          </a:effectLst>
        </p:spPr>
        <p:txBody>
          <a:bodyPr rtlCol="0" anchor="ctr"/>
          <a:lstStyle/>
          <a:p>
            <a:endParaRPr lang="zh-CN" altLang="en-US">
              <a:latin typeface="Arial" panose="020B0604020202020204" pitchFamily="34" charset="0"/>
              <a:ea typeface="微软雅黑" panose="020B0503020204020204" pitchFamily="34" charset="-122"/>
              <a:sym typeface="Arial" panose="020B0604020202020204" pitchFamily="34" charset="0"/>
            </a:endParaRPr>
          </a:p>
        </p:txBody>
      </p:sp>
      <p:sp>
        <p:nvSpPr>
          <p:cNvPr id="6" name="文本框 5">
            <a:extLst>
              <a:ext uri="{FF2B5EF4-FFF2-40B4-BE49-F238E27FC236}">
                <a16:creationId xmlns:a16="http://schemas.microsoft.com/office/drawing/2014/main" id="{9E8EBBEF-0A12-4D5F-A543-CFCA8F0EF763}"/>
              </a:ext>
            </a:extLst>
          </p:cNvPr>
          <p:cNvSpPr txBox="1"/>
          <p:nvPr/>
        </p:nvSpPr>
        <p:spPr>
          <a:xfrm>
            <a:off x="1161534" y="2545492"/>
            <a:ext cx="2970349" cy="2031325"/>
          </a:xfrm>
          <a:prstGeom prst="rect">
            <a:avLst/>
          </a:prstGeom>
          <a:noFill/>
        </p:spPr>
        <p:txBody>
          <a:bodyPr wrap="square" rtlCol="0">
            <a:spAutoFit/>
          </a:bodyPr>
          <a:lstStyle/>
          <a:p>
            <a:r>
              <a:rPr lang="zh-CN" altLang="en-US" dirty="0">
                <a:latin typeface="微软雅黑" panose="020B0503020204020204" pitchFamily="34" charset="-122"/>
                <a:ea typeface="微软雅黑" panose="020B0503020204020204" pitchFamily="34" charset="-122"/>
              </a:rPr>
              <a:t>现有头部产品普遍聚焦‘生产端’，输入一句提示词即可生成完整视频，形成‘一句话进，一条片出’的闭环，但创作者真正的困惑始于前端。</a:t>
            </a:r>
          </a:p>
          <a:p>
            <a:endParaRPr lang="zh-CN" altLang="en-US" dirty="0"/>
          </a:p>
        </p:txBody>
      </p:sp>
      <p:sp>
        <p:nvSpPr>
          <p:cNvPr id="7" name="矩形: 圆角 6">
            <a:extLst>
              <a:ext uri="{FF2B5EF4-FFF2-40B4-BE49-F238E27FC236}">
                <a16:creationId xmlns:a16="http://schemas.microsoft.com/office/drawing/2014/main" id="{65907802-77FF-5AD1-6548-4033E834010A}"/>
              </a:ext>
            </a:extLst>
          </p:cNvPr>
          <p:cNvSpPr/>
          <p:nvPr/>
        </p:nvSpPr>
        <p:spPr>
          <a:xfrm>
            <a:off x="4718523" y="1537734"/>
            <a:ext cx="3181023" cy="602793"/>
          </a:xfrm>
          <a:prstGeom prst="roundRect">
            <a:avLst>
              <a:gd name="adj" fmla="val 0"/>
            </a:avLst>
          </a:prstGeom>
          <a:solidFill>
            <a:schemeClr val="accent2">
              <a:lumMod val="75000"/>
              <a:alpha val="73000"/>
            </a:schemeClr>
          </a:solidFill>
          <a:ln w="6055" cap="flat">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prstDash val="solid"/>
            <a:miter/>
          </a:ln>
          <a:effectLst>
            <a:outerShdw blurRad="50800" dist="50800" dir="5400000" algn="ctr" rotWithShape="0">
              <a:srgbClr val="000000">
                <a:alpha val="0"/>
              </a:srgbClr>
            </a:outerShdw>
            <a:softEdge rad="12700"/>
          </a:effectLst>
          <a:scene3d>
            <a:camera prst="orthographicFront"/>
            <a:lightRig rig="chilly" dir="t"/>
          </a:scene3d>
        </p:spPr>
        <p:txBody>
          <a:bodyPr rtlCol="0" anchor="ctr"/>
          <a:lstStyle/>
          <a:p>
            <a:endParaRPr lang="zh-CN" altLang="en-US">
              <a:latin typeface="Arial" panose="020B0604020202020204" pitchFamily="34" charset="0"/>
              <a:ea typeface="微软雅黑" panose="020B0503020204020204" pitchFamily="34" charset="-122"/>
              <a:sym typeface="Arial" panose="020B0604020202020204" pitchFamily="34" charset="0"/>
            </a:endParaRPr>
          </a:p>
        </p:txBody>
      </p:sp>
      <p:sp>
        <p:nvSpPr>
          <p:cNvPr id="8" name="矩形: 圆角 7">
            <a:extLst>
              <a:ext uri="{FF2B5EF4-FFF2-40B4-BE49-F238E27FC236}">
                <a16:creationId xmlns:a16="http://schemas.microsoft.com/office/drawing/2014/main" id="{DC2D66CC-3FEC-FD04-EC55-B6D875D8B3DE}"/>
              </a:ext>
            </a:extLst>
          </p:cNvPr>
          <p:cNvSpPr/>
          <p:nvPr/>
        </p:nvSpPr>
        <p:spPr>
          <a:xfrm>
            <a:off x="8410828" y="1539824"/>
            <a:ext cx="3181023" cy="602793"/>
          </a:xfrm>
          <a:prstGeom prst="roundRect">
            <a:avLst>
              <a:gd name="adj" fmla="val 0"/>
            </a:avLst>
          </a:prstGeom>
          <a:solidFill>
            <a:schemeClr val="accent2">
              <a:lumMod val="75000"/>
              <a:alpha val="73000"/>
            </a:schemeClr>
          </a:solidFill>
          <a:ln w="6055" cap="flat">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prstDash val="solid"/>
            <a:miter/>
          </a:ln>
          <a:effectLst>
            <a:outerShdw blurRad="50800" dist="50800" dir="5400000" algn="ctr" rotWithShape="0">
              <a:srgbClr val="000000">
                <a:alpha val="0"/>
              </a:srgbClr>
            </a:outerShdw>
            <a:softEdge rad="12700"/>
          </a:effectLst>
          <a:scene3d>
            <a:camera prst="orthographicFront"/>
            <a:lightRig rig="chilly" dir="t"/>
          </a:scene3d>
        </p:spPr>
        <p:txBody>
          <a:bodyPr rtlCol="0" anchor="ctr"/>
          <a:lstStyle/>
          <a:p>
            <a:endParaRPr lang="zh-CN" altLang="en-US">
              <a:latin typeface="Arial" panose="020B0604020202020204" pitchFamily="34" charset="0"/>
              <a:ea typeface="微软雅黑" panose="020B0503020204020204" pitchFamily="34" charset="-122"/>
              <a:sym typeface="Arial" panose="020B0604020202020204" pitchFamily="34" charset="0"/>
            </a:endParaRPr>
          </a:p>
        </p:txBody>
      </p:sp>
      <p:sp>
        <p:nvSpPr>
          <p:cNvPr id="9" name="矩形: 圆角 8">
            <a:extLst>
              <a:ext uri="{FF2B5EF4-FFF2-40B4-BE49-F238E27FC236}">
                <a16:creationId xmlns:a16="http://schemas.microsoft.com/office/drawing/2014/main" id="{2E243BD4-8721-9B96-3B49-408A28C36DA6}"/>
              </a:ext>
            </a:extLst>
          </p:cNvPr>
          <p:cNvSpPr/>
          <p:nvPr/>
        </p:nvSpPr>
        <p:spPr>
          <a:xfrm>
            <a:off x="4662005" y="2342498"/>
            <a:ext cx="3105664" cy="2097698"/>
          </a:xfrm>
          <a:prstGeom prst="roundRect">
            <a:avLst>
              <a:gd name="adj" fmla="val 0"/>
            </a:avLst>
          </a:prstGeom>
          <a:solidFill>
            <a:schemeClr val="bg2">
              <a:alpha val="30000"/>
            </a:schemeClr>
          </a:solidFill>
          <a:ln w="6055" cap="flat">
            <a:noFill/>
            <a:prstDash val="solid"/>
            <a:miter/>
          </a:ln>
          <a:effectLst>
            <a:outerShdw blurRad="50800" dist="190500" dir="2700000" algn="tl" rotWithShape="0">
              <a:prstClr val="black">
                <a:alpha val="40000"/>
              </a:prstClr>
            </a:outerShdw>
          </a:effectLst>
        </p:spPr>
        <p:txBody>
          <a:bodyPr rtlCol="0" anchor="ctr"/>
          <a:lstStyle/>
          <a:p>
            <a:endParaRPr lang="zh-CN" altLang="en-US">
              <a:latin typeface="Arial" panose="020B0604020202020204" pitchFamily="34" charset="0"/>
              <a:ea typeface="微软雅黑" panose="020B0503020204020204" pitchFamily="34" charset="-122"/>
              <a:sym typeface="Arial" panose="020B0604020202020204" pitchFamily="34" charset="0"/>
            </a:endParaRPr>
          </a:p>
        </p:txBody>
      </p:sp>
      <p:sp>
        <p:nvSpPr>
          <p:cNvPr id="10" name="矩形: 圆角 9">
            <a:extLst>
              <a:ext uri="{FF2B5EF4-FFF2-40B4-BE49-F238E27FC236}">
                <a16:creationId xmlns:a16="http://schemas.microsoft.com/office/drawing/2014/main" id="{A9E0C13F-A135-4D5A-3D70-48D95C930532}"/>
              </a:ext>
            </a:extLst>
          </p:cNvPr>
          <p:cNvSpPr/>
          <p:nvPr/>
        </p:nvSpPr>
        <p:spPr>
          <a:xfrm>
            <a:off x="8410828" y="2340406"/>
            <a:ext cx="3105664" cy="2097699"/>
          </a:xfrm>
          <a:prstGeom prst="roundRect">
            <a:avLst>
              <a:gd name="adj" fmla="val 0"/>
            </a:avLst>
          </a:prstGeom>
          <a:solidFill>
            <a:schemeClr val="bg2">
              <a:alpha val="30000"/>
            </a:schemeClr>
          </a:solidFill>
          <a:ln w="6055" cap="flat">
            <a:noFill/>
            <a:prstDash val="solid"/>
            <a:miter/>
          </a:ln>
          <a:effectLst>
            <a:outerShdw blurRad="50800" dist="190500" dir="2700000" algn="tl" rotWithShape="0">
              <a:prstClr val="black">
                <a:alpha val="40000"/>
              </a:prstClr>
            </a:outerShdw>
          </a:effectLst>
        </p:spPr>
        <p:txBody>
          <a:bodyPr rtlCol="0" anchor="ctr"/>
          <a:lstStyle/>
          <a:p>
            <a:endParaRPr lang="zh-CN" altLang="en-US">
              <a:latin typeface="Arial" panose="020B0604020202020204" pitchFamily="34" charset="0"/>
              <a:ea typeface="微软雅黑" panose="020B0503020204020204" pitchFamily="34" charset="-122"/>
              <a:sym typeface="Arial" panose="020B0604020202020204" pitchFamily="34" charset="0"/>
            </a:endParaRPr>
          </a:p>
        </p:txBody>
      </p:sp>
      <p:sp>
        <p:nvSpPr>
          <p:cNvPr id="11" name="文本框 10">
            <a:extLst>
              <a:ext uri="{FF2B5EF4-FFF2-40B4-BE49-F238E27FC236}">
                <a16:creationId xmlns:a16="http://schemas.microsoft.com/office/drawing/2014/main" id="{2006A61E-5FCE-FBDC-F9D5-5431A0B44145}"/>
              </a:ext>
            </a:extLst>
          </p:cNvPr>
          <p:cNvSpPr txBox="1"/>
          <p:nvPr/>
        </p:nvSpPr>
        <p:spPr>
          <a:xfrm>
            <a:off x="4811809" y="1603833"/>
            <a:ext cx="2956772" cy="738664"/>
          </a:xfrm>
          <a:prstGeom prst="rect">
            <a:avLst/>
          </a:prstGeom>
          <a:noFill/>
        </p:spPr>
        <p:txBody>
          <a:bodyPr wrap="square" rtlCol="0">
            <a:spAutoFit/>
          </a:bodyPr>
          <a:lstStyle/>
          <a:p>
            <a:r>
              <a:rPr lang="zh-CN" altLang="en-US" sz="2400" b="1" dirty="0">
                <a:solidFill>
                  <a:schemeClr val="bg1"/>
                </a:solidFill>
                <a:latin typeface="微软雅黑" panose="020B0503020204020204" pitchFamily="34" charset="-122"/>
                <a:ea typeface="微软雅黑" panose="020B0503020204020204" pitchFamily="34" charset="-122"/>
              </a:rPr>
              <a:t>市场缺少创意顾问</a:t>
            </a:r>
            <a:endParaRPr lang="zh-CN" altLang="en-US" sz="2400" dirty="0">
              <a:solidFill>
                <a:schemeClr val="bg1"/>
              </a:solidFill>
              <a:latin typeface="微软雅黑" panose="020B0503020204020204" pitchFamily="34" charset="-122"/>
              <a:ea typeface="微软雅黑" panose="020B0503020204020204" pitchFamily="34" charset="-122"/>
            </a:endParaRPr>
          </a:p>
          <a:p>
            <a:endParaRPr lang="zh-CN" altLang="en-US" dirty="0"/>
          </a:p>
        </p:txBody>
      </p:sp>
      <p:sp>
        <p:nvSpPr>
          <p:cNvPr id="12" name="文本框 11">
            <a:extLst>
              <a:ext uri="{FF2B5EF4-FFF2-40B4-BE49-F238E27FC236}">
                <a16:creationId xmlns:a16="http://schemas.microsoft.com/office/drawing/2014/main" id="{76BF82DF-ADA2-0BA6-F326-07CFA086B2AF}"/>
              </a:ext>
            </a:extLst>
          </p:cNvPr>
          <p:cNvSpPr txBox="1"/>
          <p:nvPr/>
        </p:nvSpPr>
        <p:spPr>
          <a:xfrm>
            <a:off x="8617150" y="1608297"/>
            <a:ext cx="2825578" cy="461665"/>
          </a:xfrm>
          <a:prstGeom prst="rect">
            <a:avLst/>
          </a:prstGeom>
          <a:noFill/>
        </p:spPr>
        <p:txBody>
          <a:bodyPr wrap="square" rtlCol="0">
            <a:spAutoFit/>
          </a:bodyPr>
          <a:lstStyle/>
          <a:p>
            <a:r>
              <a:rPr lang="zh-CN" altLang="en-US" sz="2400" b="1" dirty="0">
                <a:solidFill>
                  <a:schemeClr val="bg1"/>
                </a:solidFill>
                <a:latin typeface="微软雅黑" panose="020B0503020204020204" pitchFamily="34" charset="-122"/>
                <a:ea typeface="微软雅黑" panose="020B0503020204020204" pitchFamily="34" charset="-122"/>
              </a:rPr>
              <a:t>短视频内容重复</a:t>
            </a:r>
          </a:p>
        </p:txBody>
      </p:sp>
      <p:sp>
        <p:nvSpPr>
          <p:cNvPr id="13" name="文本框 12">
            <a:extLst>
              <a:ext uri="{FF2B5EF4-FFF2-40B4-BE49-F238E27FC236}">
                <a16:creationId xmlns:a16="http://schemas.microsoft.com/office/drawing/2014/main" id="{FBB9AC7F-30C0-5F17-70C7-F8AC10D6C3E5}"/>
              </a:ext>
            </a:extLst>
          </p:cNvPr>
          <p:cNvSpPr txBox="1"/>
          <p:nvPr/>
        </p:nvSpPr>
        <p:spPr>
          <a:xfrm>
            <a:off x="4811809" y="2551837"/>
            <a:ext cx="2955860" cy="1754326"/>
          </a:xfrm>
          <a:prstGeom prst="rect">
            <a:avLst/>
          </a:prstGeom>
          <a:noFill/>
        </p:spPr>
        <p:txBody>
          <a:bodyPr wrap="square" rtlCol="0">
            <a:spAutoFit/>
          </a:bodyPr>
          <a:lstStyle/>
          <a:p>
            <a:r>
              <a:rPr lang="zh-CN" altLang="en-US" dirty="0">
                <a:latin typeface="微软雅黑" panose="020B0503020204020204" pitchFamily="34" charset="-122"/>
                <a:ea typeface="微软雅黑" panose="020B0503020204020204" pitchFamily="34" charset="-122"/>
              </a:rPr>
              <a:t>市场缺少的不是‘生成器’，而是能在创作前夜提供决策依据的‘创意顾问’，这一空白区间尚无占位者，我们看到了这个机会。</a:t>
            </a:r>
          </a:p>
          <a:p>
            <a:endParaRPr lang="zh-CN" altLang="en-US" dirty="0"/>
          </a:p>
        </p:txBody>
      </p:sp>
      <p:sp>
        <p:nvSpPr>
          <p:cNvPr id="14" name="文本框 13">
            <a:extLst>
              <a:ext uri="{FF2B5EF4-FFF2-40B4-BE49-F238E27FC236}">
                <a16:creationId xmlns:a16="http://schemas.microsoft.com/office/drawing/2014/main" id="{641EB8D5-2B7E-7101-C3AA-9EE4A549E160}"/>
              </a:ext>
            </a:extLst>
          </p:cNvPr>
          <p:cNvSpPr txBox="1"/>
          <p:nvPr/>
        </p:nvSpPr>
        <p:spPr>
          <a:xfrm>
            <a:off x="8518531" y="2487746"/>
            <a:ext cx="2965616" cy="1754326"/>
          </a:xfrm>
          <a:prstGeom prst="rect">
            <a:avLst/>
          </a:prstGeom>
          <a:noFill/>
        </p:spPr>
        <p:txBody>
          <a:bodyPr wrap="square" rtlCol="0">
            <a:spAutoFit/>
          </a:bodyPr>
          <a:lstStyle/>
          <a:p>
            <a:r>
              <a:rPr lang="zh-CN" altLang="en-US" dirty="0">
                <a:latin typeface="微软雅黑" panose="020B0503020204020204" pitchFamily="34" charset="-122"/>
                <a:ea typeface="微软雅黑" panose="020B0503020204020204" pitchFamily="34" charset="-122"/>
              </a:rPr>
              <a:t>多元化的短视频是许多短视频用户都希望看到的，但现实是平台上内容重复，质量低下的视频正在日渐增加，有创意且高质量的视频成为了奢侈。</a:t>
            </a:r>
          </a:p>
        </p:txBody>
      </p:sp>
      <p:pic>
        <p:nvPicPr>
          <p:cNvPr id="16" name="图片 15">
            <a:extLst>
              <a:ext uri="{FF2B5EF4-FFF2-40B4-BE49-F238E27FC236}">
                <a16:creationId xmlns:a16="http://schemas.microsoft.com/office/drawing/2014/main" id="{94791E08-B732-467B-0DFB-949E271E227D}"/>
              </a:ext>
            </a:extLst>
          </p:cNvPr>
          <p:cNvPicPr>
            <a:picLocks noChangeAspect="1"/>
          </p:cNvPicPr>
          <p:nvPr/>
        </p:nvPicPr>
        <p:blipFill>
          <a:blip r:embed="rId2" cstate="print">
            <a:alphaModFix/>
            <a:extLst>
              <a:ext uri="{BEBA8EAE-BF5A-486C-A8C5-ECC9F3942E4B}">
                <a14:imgProps xmlns:a14="http://schemas.microsoft.com/office/drawing/2010/main">
                  <a14:imgLayer r:embed="rId3">
                    <a14:imgEffect>
                      <a14:sharpenSoften amount="100000"/>
                    </a14:imgEffect>
                    <a14:imgEffect>
                      <a14:saturation sat="0"/>
                    </a14:imgEffect>
                    <a14:imgEffect>
                      <a14:brightnessContrast bright="31000" contrast="100000"/>
                    </a14:imgEffect>
                  </a14:imgLayer>
                </a14:imgProps>
              </a:ext>
              <a:ext uri="{28A0092B-C50C-407E-A947-70E740481C1C}">
                <a14:useLocalDpi xmlns:a14="http://schemas.microsoft.com/office/drawing/2010/main" val="0"/>
              </a:ext>
            </a:extLst>
          </a:blip>
          <a:stretch>
            <a:fillRect/>
          </a:stretch>
        </p:blipFill>
        <p:spPr>
          <a:xfrm>
            <a:off x="1627022" y="4666880"/>
            <a:ext cx="1602211" cy="1754327"/>
          </a:xfrm>
          <a:prstGeom prst="rect">
            <a:avLst/>
          </a:prstGeom>
        </p:spPr>
      </p:pic>
      <p:pic>
        <p:nvPicPr>
          <p:cNvPr id="18" name="图片 17">
            <a:extLst>
              <a:ext uri="{FF2B5EF4-FFF2-40B4-BE49-F238E27FC236}">
                <a16:creationId xmlns:a16="http://schemas.microsoft.com/office/drawing/2014/main" id="{D2642AA5-2F37-EE12-3968-3E6AEA5A4FF4}"/>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flipH="1">
            <a:off x="9300519" y="4744995"/>
            <a:ext cx="1279176" cy="1566581"/>
          </a:xfrm>
          <a:prstGeom prst="rect">
            <a:avLst/>
          </a:prstGeom>
        </p:spPr>
      </p:pic>
    </p:spTree>
    <p:extLst>
      <p:ext uri="{BB962C8B-B14F-4D97-AF65-F5344CB8AC3E}">
        <p14:creationId xmlns:p14="http://schemas.microsoft.com/office/powerpoint/2010/main" val="3585864617"/>
      </p:ext>
    </p:extLst>
  </p:cSld>
  <p:clrMapOvr>
    <a:masterClrMapping/>
  </p:clrMapOvr>
  <p:transition spd="med">
    <p:pul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
                                            <p:txEl>
                                              <p:pRg st="0" end="0"/>
                                            </p:txEl>
                                          </p:spTgt>
                                        </p:tgtEl>
                                        <p:attrNameLst>
                                          <p:attrName>style.visibility</p:attrName>
                                        </p:attrNameLst>
                                      </p:cBhvr>
                                      <p:to>
                                        <p:strVal val="visible"/>
                                      </p:to>
                                    </p:set>
                                    <p:animEffect transition="in" filter="fade">
                                      <p:cBhvr>
                                        <p:cTn id="12" dur="1000"/>
                                        <p:tgtEl>
                                          <p:spTgt spid="4">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fade">
                                      <p:cBhvr>
                                        <p:cTn id="17" dur="1000"/>
                                        <p:tgtEl>
                                          <p:spTgt spid="7"/>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8"/>
                                        </p:tgtEl>
                                        <p:attrNameLst>
                                          <p:attrName>style.visibility</p:attrName>
                                        </p:attrNameLst>
                                      </p:cBhvr>
                                      <p:to>
                                        <p:strVal val="visible"/>
                                      </p:to>
                                    </p:set>
                                    <p:animEffect transition="in" filter="fade">
                                      <p:cBhvr>
                                        <p:cTn id="22" dur="1000"/>
                                        <p:tgtEl>
                                          <p:spTgt spid="8"/>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5"/>
                                        </p:tgtEl>
                                        <p:attrNameLst>
                                          <p:attrName>style.visibility</p:attrName>
                                        </p:attrNameLst>
                                      </p:cBhvr>
                                      <p:to>
                                        <p:strVal val="visible"/>
                                      </p:to>
                                    </p:set>
                                    <p:animEffect transition="in" filter="fade">
                                      <p:cBhvr>
                                        <p:cTn id="27" dur="500"/>
                                        <p:tgtEl>
                                          <p:spTgt spid="5"/>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9"/>
                                        </p:tgtEl>
                                        <p:attrNameLst>
                                          <p:attrName>style.visibility</p:attrName>
                                        </p:attrNameLst>
                                      </p:cBhvr>
                                      <p:to>
                                        <p:strVal val="visible"/>
                                      </p:to>
                                    </p:set>
                                    <p:animEffect transition="in" filter="fade">
                                      <p:cBhvr>
                                        <p:cTn id="32" dur="500"/>
                                        <p:tgtEl>
                                          <p:spTgt spid="9"/>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10"/>
                                        </p:tgtEl>
                                        <p:attrNameLst>
                                          <p:attrName>style.visibility</p:attrName>
                                        </p:attrNameLst>
                                      </p:cBhvr>
                                      <p:to>
                                        <p:strVal val="visible"/>
                                      </p:to>
                                    </p:set>
                                    <p:animEffect transition="in" filter="fade">
                                      <p:cBhvr>
                                        <p:cTn id="37" dur="500"/>
                                        <p:tgtEl>
                                          <p:spTgt spid="10"/>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6"/>
                                        </p:tgtEl>
                                        <p:attrNameLst>
                                          <p:attrName>style.visibility</p:attrName>
                                        </p:attrNameLst>
                                      </p:cBhvr>
                                      <p:to>
                                        <p:strVal val="visible"/>
                                      </p:to>
                                    </p:set>
                                    <p:animEffect transition="in" filter="fade">
                                      <p:cBhvr>
                                        <p:cTn id="42" dur="500"/>
                                        <p:tgtEl>
                                          <p:spTgt spid="6"/>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13"/>
                                        </p:tgtEl>
                                        <p:attrNameLst>
                                          <p:attrName>style.visibility</p:attrName>
                                        </p:attrNameLst>
                                      </p:cBhvr>
                                      <p:to>
                                        <p:strVal val="visible"/>
                                      </p:to>
                                    </p:set>
                                    <p:animEffect transition="in" filter="fade">
                                      <p:cBhvr>
                                        <p:cTn id="47" dur="500"/>
                                        <p:tgtEl>
                                          <p:spTgt spid="13"/>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grpId="0" nodeType="clickEffect">
                                  <p:stCondLst>
                                    <p:cond delay="0"/>
                                  </p:stCondLst>
                                  <p:childTnLst>
                                    <p:set>
                                      <p:cBhvr>
                                        <p:cTn id="51" dur="1" fill="hold">
                                          <p:stCondLst>
                                            <p:cond delay="0"/>
                                          </p:stCondLst>
                                        </p:cTn>
                                        <p:tgtEl>
                                          <p:spTgt spid="14"/>
                                        </p:tgtEl>
                                        <p:attrNameLst>
                                          <p:attrName>style.visibility</p:attrName>
                                        </p:attrNameLst>
                                      </p:cBhvr>
                                      <p:to>
                                        <p:strVal val="visible"/>
                                      </p:to>
                                    </p:set>
                                    <p:animEffect transition="in" filter="fade">
                                      <p:cBhvr>
                                        <p:cTn id="52"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5" grpId="0" animBg="1"/>
      <p:bldP spid="6" grpId="0"/>
      <p:bldP spid="7" grpId="0" animBg="1"/>
      <p:bldP spid="8" grpId="0" animBg="1"/>
      <p:bldP spid="9" grpId="0" animBg="1"/>
      <p:bldP spid="10" grpId="0" animBg="1"/>
      <p:bldP spid="13" grpId="0"/>
      <p:bldP spid="14"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091E97-7E44-D107-AF5B-D2A14CC539C8}"/>
            </a:ext>
          </a:extLst>
        </p:cNvPr>
        <p:cNvGrpSpPr/>
        <p:nvPr/>
      </p:nvGrpSpPr>
      <p:grpSpPr>
        <a:xfrm>
          <a:off x="0" y="0"/>
          <a:ext cx="0" cy="0"/>
          <a:chOff x="0" y="0"/>
          <a:chExt cx="0" cy="0"/>
        </a:xfrm>
      </p:grpSpPr>
      <p:grpSp>
        <p:nvGrpSpPr>
          <p:cNvPr id="7" name="组合 6">
            <a:extLst>
              <a:ext uri="{FF2B5EF4-FFF2-40B4-BE49-F238E27FC236}">
                <a16:creationId xmlns:a16="http://schemas.microsoft.com/office/drawing/2014/main" id="{0A3FC154-C41E-FBA5-EBD5-92E9AB6D8C31}"/>
              </a:ext>
            </a:extLst>
          </p:cNvPr>
          <p:cNvGrpSpPr/>
          <p:nvPr/>
        </p:nvGrpSpPr>
        <p:grpSpPr>
          <a:xfrm>
            <a:off x="846086" y="1279090"/>
            <a:ext cx="8716410" cy="3770263"/>
            <a:chOff x="4337595" y="290322"/>
            <a:chExt cx="8716410" cy="3770263"/>
          </a:xfrm>
        </p:grpSpPr>
        <p:sp>
          <p:nvSpPr>
            <p:cNvPr id="9" name="文本框 8">
              <a:extLst>
                <a:ext uri="{FF2B5EF4-FFF2-40B4-BE49-F238E27FC236}">
                  <a16:creationId xmlns:a16="http://schemas.microsoft.com/office/drawing/2014/main" id="{2C968949-FAC4-5FAD-E00D-FBAE14F6534A}"/>
                </a:ext>
              </a:extLst>
            </p:cNvPr>
            <p:cNvSpPr txBox="1"/>
            <p:nvPr/>
          </p:nvSpPr>
          <p:spPr>
            <a:xfrm>
              <a:off x="4337595" y="290322"/>
              <a:ext cx="8442960" cy="3770263"/>
            </a:xfrm>
            <a:prstGeom prst="rect">
              <a:avLst/>
            </a:prstGeom>
            <a:noFill/>
            <a:scene3d>
              <a:camera prst="orthographicFront">
                <a:rot lat="450000" lon="18143998" rev="0"/>
              </a:camera>
              <a:lightRig rig="brightRoom" dir="t"/>
            </a:scene3d>
            <a:sp3d prstMaterial="matte"/>
          </p:spPr>
          <p:txBody>
            <a:bodyPr wrap="square" rtlCol="0">
              <a:spAutoFit/>
              <a:sp3d extrusionH="342900" prstMaterial="translucentPowder"/>
            </a:bodyPr>
            <a:lstStyle/>
            <a:p>
              <a:r>
                <a:rPr lang="en-US" altLang="zh-CN" sz="23900" b="1" dirty="0">
                  <a:gradFill>
                    <a:gsLst>
                      <a:gs pos="100000">
                        <a:schemeClr val="accent1">
                          <a:lumMod val="20000"/>
                          <a:lumOff val="80000"/>
                        </a:schemeClr>
                      </a:gs>
                      <a:gs pos="4000">
                        <a:schemeClr val="accent2"/>
                      </a:gs>
                    </a:gsLst>
                    <a:path path="circle">
                      <a:fillToRect r="100000" b="100000"/>
                    </a:path>
                  </a:gradFill>
                  <a:effectLst>
                    <a:reflection blurRad="38100" stA="55000" endA="300" endPos="15000" dir="5400000" sy="-100000" algn="bl" rotWithShape="0"/>
                  </a:effectLst>
                  <a:latin typeface="微软雅黑" panose="020B0503020204020204" pitchFamily="34" charset="-122"/>
                  <a:ea typeface="微软雅黑" panose="020B0503020204020204" pitchFamily="34" charset="-122"/>
                </a:rPr>
                <a:t>02</a:t>
              </a:r>
              <a:endParaRPr lang="zh-CN" altLang="en-US" sz="23900" b="1" dirty="0">
                <a:gradFill>
                  <a:gsLst>
                    <a:gs pos="100000">
                      <a:schemeClr val="accent1">
                        <a:lumMod val="20000"/>
                        <a:lumOff val="80000"/>
                      </a:schemeClr>
                    </a:gs>
                    <a:gs pos="4000">
                      <a:schemeClr val="accent2"/>
                    </a:gs>
                  </a:gsLst>
                  <a:path path="circle">
                    <a:fillToRect r="100000" b="100000"/>
                  </a:path>
                </a:gradFill>
                <a:effectLst>
                  <a:reflection blurRad="38100" stA="55000" endA="300" endPos="15000" dir="5400000" sy="-100000" algn="bl" rotWithShape="0"/>
                </a:effectLst>
                <a:latin typeface="微软雅黑" panose="020B0503020204020204" pitchFamily="34" charset="-122"/>
                <a:ea typeface="微软雅黑" panose="020B0503020204020204" pitchFamily="34" charset="-122"/>
              </a:endParaRPr>
            </a:p>
          </p:txBody>
        </p:sp>
        <p:sp>
          <p:nvSpPr>
            <p:cNvPr id="11" name="文本框 10">
              <a:extLst>
                <a:ext uri="{FF2B5EF4-FFF2-40B4-BE49-F238E27FC236}">
                  <a16:creationId xmlns:a16="http://schemas.microsoft.com/office/drawing/2014/main" id="{10E99EAE-597E-F1F7-E745-76E1D0A6B38D}"/>
                </a:ext>
              </a:extLst>
            </p:cNvPr>
            <p:cNvSpPr txBox="1"/>
            <p:nvPr/>
          </p:nvSpPr>
          <p:spPr>
            <a:xfrm>
              <a:off x="4611045" y="290322"/>
              <a:ext cx="8442960" cy="3770263"/>
            </a:xfrm>
            <a:prstGeom prst="rect">
              <a:avLst/>
            </a:prstGeom>
            <a:noFill/>
            <a:effectLst/>
            <a:scene3d>
              <a:camera prst="orthographicFront">
                <a:rot lat="450000" lon="18143998" rev="0"/>
              </a:camera>
              <a:lightRig rig="contrasting" dir="t"/>
            </a:scene3d>
            <a:sp3d prstMaterial="matte"/>
          </p:spPr>
          <p:txBody>
            <a:bodyPr wrap="square" rtlCol="0">
              <a:spAutoFit/>
              <a:sp3d prstMaterial="translucentPowder"/>
            </a:bodyPr>
            <a:lstStyle/>
            <a:p>
              <a:r>
                <a:rPr lang="en-US" altLang="zh-CN" sz="23900" b="1" dirty="0">
                  <a:gradFill>
                    <a:gsLst>
                      <a:gs pos="100000">
                        <a:schemeClr val="accent1"/>
                      </a:gs>
                      <a:gs pos="4000">
                        <a:schemeClr val="accent2">
                          <a:lumMod val="60000"/>
                          <a:lumOff val="40000"/>
                        </a:schemeClr>
                      </a:gs>
                    </a:gsLst>
                    <a:path path="circle">
                      <a:fillToRect r="100000" b="100000"/>
                    </a:path>
                  </a:gradFill>
                  <a:effectLst>
                    <a:reflection blurRad="38100" stA="55000" endA="300" endPos="15000" dir="5400000" sy="-100000" algn="bl" rotWithShape="0"/>
                  </a:effectLst>
                  <a:latin typeface="微软雅黑" panose="020B0503020204020204" pitchFamily="34" charset="-122"/>
                  <a:ea typeface="微软雅黑" panose="020B0503020204020204" pitchFamily="34" charset="-122"/>
                </a:rPr>
                <a:t>02</a:t>
              </a:r>
              <a:endParaRPr lang="zh-CN" altLang="en-US" sz="23900" b="1" dirty="0">
                <a:gradFill>
                  <a:gsLst>
                    <a:gs pos="100000">
                      <a:schemeClr val="accent1"/>
                    </a:gs>
                    <a:gs pos="4000">
                      <a:schemeClr val="accent2">
                        <a:lumMod val="60000"/>
                        <a:lumOff val="40000"/>
                      </a:schemeClr>
                    </a:gs>
                  </a:gsLst>
                  <a:path path="circle">
                    <a:fillToRect r="100000" b="100000"/>
                  </a:path>
                </a:gradFill>
                <a:effectLst>
                  <a:reflection blurRad="38100" stA="55000" endA="300" endPos="15000" dir="5400000" sy="-100000" algn="bl" rotWithShape="0"/>
                </a:effectLst>
                <a:latin typeface="微软雅黑" panose="020B0503020204020204" pitchFamily="34" charset="-122"/>
                <a:ea typeface="微软雅黑" panose="020B0503020204020204" pitchFamily="34" charset="-122"/>
              </a:endParaRPr>
            </a:p>
          </p:txBody>
        </p:sp>
      </p:grpSp>
      <p:sp>
        <p:nvSpPr>
          <p:cNvPr id="13" name="文本框 12">
            <a:extLst>
              <a:ext uri="{FF2B5EF4-FFF2-40B4-BE49-F238E27FC236}">
                <a16:creationId xmlns:a16="http://schemas.microsoft.com/office/drawing/2014/main" id="{36D38E1F-EBF3-4D91-7F44-D235C6B10304}"/>
              </a:ext>
            </a:extLst>
          </p:cNvPr>
          <p:cNvSpPr txBox="1"/>
          <p:nvPr/>
        </p:nvSpPr>
        <p:spPr>
          <a:xfrm>
            <a:off x="6506776" y="2520701"/>
            <a:ext cx="3971599" cy="307777"/>
          </a:xfrm>
          <a:prstGeom prst="rect">
            <a:avLst/>
          </a:prstGeom>
          <a:noFill/>
        </p:spPr>
        <p:txBody>
          <a:bodyPr wrap="square" rtlCol="0">
            <a:spAutoFit/>
          </a:bodyPr>
          <a:lstStyle/>
          <a:p>
            <a:pPr algn="dist"/>
            <a:r>
              <a:rPr lang="en-US" altLang="zh-CN" sz="1400" dirty="0">
                <a:solidFill>
                  <a:schemeClr val="accent2"/>
                </a:solidFill>
                <a:latin typeface="微软雅黑" panose="020B0503020204020204" pitchFamily="34" charset="-122"/>
                <a:ea typeface="微软雅黑" panose="020B0503020204020204" pitchFamily="34" charset="-122"/>
              </a:rPr>
              <a:t>PLAN IMPLEMENTATION</a:t>
            </a:r>
            <a:endParaRPr lang="zh-CN" altLang="en-US" sz="1400" dirty="0">
              <a:solidFill>
                <a:schemeClr val="accent2"/>
              </a:solidFill>
              <a:latin typeface="微软雅黑" panose="020B0503020204020204" pitchFamily="34" charset="-122"/>
              <a:ea typeface="微软雅黑" panose="020B0503020204020204" pitchFamily="34" charset="-122"/>
            </a:endParaRPr>
          </a:p>
        </p:txBody>
      </p:sp>
      <p:sp>
        <p:nvSpPr>
          <p:cNvPr id="14" name="任意多边形: 形状 13">
            <a:extLst>
              <a:ext uri="{FF2B5EF4-FFF2-40B4-BE49-F238E27FC236}">
                <a16:creationId xmlns:a16="http://schemas.microsoft.com/office/drawing/2014/main" id="{025D78BD-5015-A264-F859-63EF0328C5EB}"/>
              </a:ext>
            </a:extLst>
          </p:cNvPr>
          <p:cNvSpPr/>
          <p:nvPr/>
        </p:nvSpPr>
        <p:spPr>
          <a:xfrm>
            <a:off x="6506775" y="4064000"/>
            <a:ext cx="4016675" cy="409575"/>
          </a:xfrm>
          <a:custGeom>
            <a:avLst/>
            <a:gdLst>
              <a:gd name="connsiteX0" fmla="*/ 0 w 4114800"/>
              <a:gd name="connsiteY0" fmla="*/ 0 h 409575"/>
              <a:gd name="connsiteX1" fmla="*/ 1181100 w 4114800"/>
              <a:gd name="connsiteY1" fmla="*/ 0 h 409575"/>
              <a:gd name="connsiteX2" fmla="*/ 1181100 w 4114800"/>
              <a:gd name="connsiteY2" fmla="*/ 409575 h 409575"/>
              <a:gd name="connsiteX3" fmla="*/ 1581150 w 4114800"/>
              <a:gd name="connsiteY3" fmla="*/ 9525 h 409575"/>
              <a:gd name="connsiteX4" fmla="*/ 4114800 w 4114800"/>
              <a:gd name="connsiteY4" fmla="*/ 9525 h 409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114800" h="409575">
                <a:moveTo>
                  <a:pt x="0" y="0"/>
                </a:moveTo>
                <a:lnTo>
                  <a:pt x="1181100" y="0"/>
                </a:lnTo>
                <a:lnTo>
                  <a:pt x="1181100" y="409575"/>
                </a:lnTo>
                <a:lnTo>
                  <a:pt x="1581150" y="9525"/>
                </a:lnTo>
                <a:lnTo>
                  <a:pt x="4114800" y="9525"/>
                </a:lnTo>
              </a:path>
            </a:pathLst>
          </a:cu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solidFill>
                <a:schemeClr val="accent1"/>
              </a:solidFill>
              <a:latin typeface="微软雅黑" panose="020B0503020204020204" pitchFamily="34" charset="-122"/>
              <a:ea typeface="微软雅黑" panose="020B0503020204020204" pitchFamily="34" charset="-122"/>
            </a:endParaRPr>
          </a:p>
        </p:txBody>
      </p:sp>
      <p:sp>
        <p:nvSpPr>
          <p:cNvPr id="3" name="文本框 2">
            <a:extLst>
              <a:ext uri="{FF2B5EF4-FFF2-40B4-BE49-F238E27FC236}">
                <a16:creationId xmlns:a16="http://schemas.microsoft.com/office/drawing/2014/main" id="{972EDB3B-C069-E65D-FF41-BE368002921D}"/>
              </a:ext>
            </a:extLst>
          </p:cNvPr>
          <p:cNvSpPr txBox="1"/>
          <p:nvPr/>
        </p:nvSpPr>
        <p:spPr>
          <a:xfrm>
            <a:off x="6292591" y="3013501"/>
            <a:ext cx="4565689" cy="830997"/>
          </a:xfrm>
          <a:prstGeom prst="rect">
            <a:avLst/>
          </a:prstGeom>
          <a:noFill/>
        </p:spPr>
        <p:txBody>
          <a:bodyPr wrap="square" rtlCol="0">
            <a:spAutoFit/>
          </a:bodyPr>
          <a:lstStyle/>
          <a:p>
            <a:r>
              <a:rPr lang="en-US" altLang="zh-CN" sz="4800" b="1" dirty="0">
                <a:solidFill>
                  <a:schemeClr val="accent1"/>
                </a:solidFill>
                <a:latin typeface="微软雅黑" panose="020B0503020204020204" pitchFamily="34" charset="-122"/>
                <a:ea typeface="微软雅黑" panose="020B0503020204020204" pitchFamily="34" charset="-122"/>
              </a:rPr>
              <a:t>AI</a:t>
            </a:r>
            <a:r>
              <a:rPr lang="zh-CN" altLang="en-US" sz="4800" b="1" dirty="0">
                <a:solidFill>
                  <a:schemeClr val="accent1"/>
                </a:solidFill>
                <a:latin typeface="微软雅黑" panose="020B0503020204020204" pitchFamily="34" charset="-122"/>
                <a:ea typeface="微软雅黑" panose="020B0503020204020204" pitchFamily="34" charset="-122"/>
              </a:rPr>
              <a:t>创意助手登场</a:t>
            </a:r>
          </a:p>
        </p:txBody>
      </p:sp>
    </p:spTree>
    <p:extLst>
      <p:ext uri="{BB962C8B-B14F-4D97-AF65-F5344CB8AC3E}">
        <p14:creationId xmlns:p14="http://schemas.microsoft.com/office/powerpoint/2010/main" val="583804532"/>
      </p:ext>
    </p:extLst>
  </p:cSld>
  <p:clrMapOvr>
    <a:masterClrMapping/>
  </p:clrMapOvr>
  <p:transition spd="med">
    <p:pull/>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65A8E4EF-8621-E5E6-B7FF-F4A35D77CA1D}"/>
              </a:ext>
            </a:extLst>
          </p:cNvPr>
          <p:cNvSpPr txBox="1"/>
          <p:nvPr/>
        </p:nvSpPr>
        <p:spPr>
          <a:xfrm>
            <a:off x="807308" y="411892"/>
            <a:ext cx="4053016" cy="584775"/>
          </a:xfrm>
          <a:prstGeom prst="rect">
            <a:avLst/>
          </a:prstGeom>
          <a:noFill/>
        </p:spPr>
        <p:txBody>
          <a:bodyPr wrap="square" rtlCol="0">
            <a:spAutoFit/>
          </a:bodyPr>
          <a:lstStyle/>
          <a:p>
            <a:r>
              <a:rPr lang="zh-CN" altLang="en-US" sz="3200" b="1" dirty="0">
                <a:solidFill>
                  <a:schemeClr val="accent1"/>
                </a:solidFill>
                <a:latin typeface="微软雅黑" panose="020B0503020204020204" pitchFamily="34" charset="-122"/>
                <a:ea typeface="微软雅黑" panose="020B0503020204020204" pitchFamily="34" charset="-122"/>
              </a:rPr>
              <a:t>项目介绍</a:t>
            </a:r>
          </a:p>
        </p:txBody>
      </p:sp>
      <p:pic>
        <p:nvPicPr>
          <p:cNvPr id="4" name="图片 3">
            <a:extLst>
              <a:ext uri="{FF2B5EF4-FFF2-40B4-BE49-F238E27FC236}">
                <a16:creationId xmlns:a16="http://schemas.microsoft.com/office/drawing/2014/main" id="{70BAE37D-F742-A421-5EC5-86DE1E4D279C}"/>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678441" y="411892"/>
            <a:ext cx="5192284" cy="3175686"/>
          </a:xfrm>
          <a:prstGeom prst="rect">
            <a:avLst/>
          </a:prstGeom>
          <a:effectLst>
            <a:outerShdw blurRad="292100" dist="50800" dir="1800000" algn="ctr" rotWithShape="0">
              <a:srgbClr val="000000">
                <a:alpha val="83000"/>
              </a:srgbClr>
            </a:outerShdw>
          </a:effectLst>
        </p:spPr>
      </p:pic>
      <p:sp>
        <p:nvSpPr>
          <p:cNvPr id="5" name="文本框 4">
            <a:extLst>
              <a:ext uri="{FF2B5EF4-FFF2-40B4-BE49-F238E27FC236}">
                <a16:creationId xmlns:a16="http://schemas.microsoft.com/office/drawing/2014/main" id="{2A876A68-BBED-315D-FEFF-1CDDC70F8FA1}"/>
              </a:ext>
            </a:extLst>
          </p:cNvPr>
          <p:cNvSpPr txBox="1"/>
          <p:nvPr/>
        </p:nvSpPr>
        <p:spPr>
          <a:xfrm>
            <a:off x="930876" y="1202724"/>
            <a:ext cx="5478162" cy="369332"/>
          </a:xfrm>
          <a:prstGeom prst="rect">
            <a:avLst/>
          </a:prstGeom>
          <a:noFill/>
        </p:spPr>
        <p:txBody>
          <a:bodyPr wrap="square" rtlCol="0">
            <a:spAutoFit/>
          </a:bodyPr>
          <a:lstStyle/>
          <a:p>
            <a:r>
              <a:rPr lang="zh-CN" altLang="en-US" b="1" dirty="0">
                <a:solidFill>
                  <a:schemeClr val="accent1"/>
                </a:solidFill>
                <a:latin typeface="微软雅黑" panose="020B0503020204020204" pitchFamily="34" charset="-122"/>
                <a:ea typeface="微软雅黑" panose="020B0503020204020204" pitchFamily="34" charset="-122"/>
              </a:rPr>
              <a:t>项目名称</a:t>
            </a:r>
            <a:r>
              <a:rPr lang="zh-CN" altLang="en-US" dirty="0"/>
              <a:t>：</a:t>
            </a:r>
            <a:r>
              <a:rPr lang="en-US" altLang="zh-CN" dirty="0">
                <a:latin typeface="微软雅黑" panose="020B0503020204020204" pitchFamily="34" charset="-122"/>
                <a:ea typeface="微软雅黑" panose="020B0503020204020204" pitchFamily="34" charset="-122"/>
              </a:rPr>
              <a:t>AI</a:t>
            </a:r>
            <a:r>
              <a:rPr lang="zh-CN" altLang="en-US" dirty="0">
                <a:latin typeface="微软雅黑" panose="020B0503020204020204" pitchFamily="34" charset="-122"/>
                <a:ea typeface="微软雅黑" panose="020B0503020204020204" pitchFamily="34" charset="-122"/>
              </a:rPr>
              <a:t>短视频创意灵感创作助手</a:t>
            </a:r>
          </a:p>
        </p:txBody>
      </p:sp>
      <p:sp>
        <p:nvSpPr>
          <p:cNvPr id="6" name="文本框 5">
            <a:extLst>
              <a:ext uri="{FF2B5EF4-FFF2-40B4-BE49-F238E27FC236}">
                <a16:creationId xmlns:a16="http://schemas.microsoft.com/office/drawing/2014/main" id="{82BCC1A3-C01C-78B1-9D5B-570CD576417F}"/>
              </a:ext>
            </a:extLst>
          </p:cNvPr>
          <p:cNvSpPr txBox="1"/>
          <p:nvPr/>
        </p:nvSpPr>
        <p:spPr>
          <a:xfrm>
            <a:off x="930876" y="1771696"/>
            <a:ext cx="4843849" cy="3631763"/>
          </a:xfrm>
          <a:prstGeom prst="rect">
            <a:avLst/>
          </a:prstGeom>
          <a:noFill/>
        </p:spPr>
        <p:txBody>
          <a:bodyPr wrap="square" rtlCol="0">
            <a:spAutoFit/>
          </a:bodyPr>
          <a:lstStyle/>
          <a:p>
            <a:r>
              <a:rPr lang="zh-CN" altLang="en-US" b="1" dirty="0">
                <a:solidFill>
                  <a:schemeClr val="accent1"/>
                </a:solidFill>
                <a:latin typeface="微软雅黑" panose="020B0503020204020204" pitchFamily="34" charset="-122"/>
                <a:ea typeface="微软雅黑" panose="020B0503020204020204" pitchFamily="34" charset="-122"/>
              </a:rPr>
              <a:t>项目简介</a:t>
            </a:r>
            <a:r>
              <a:rPr lang="zh-CN" altLang="en-US" dirty="0"/>
              <a:t>：</a:t>
            </a:r>
            <a:r>
              <a:rPr lang="zh-CN" altLang="en-US" sz="1600" dirty="0">
                <a:latin typeface="微软雅黑" panose="020B0503020204020204" pitchFamily="34" charset="-122"/>
                <a:ea typeface="微软雅黑" panose="020B0503020204020204" pitchFamily="34" charset="-122"/>
              </a:rPr>
              <a:t>该项目是一个接入了阿里云千问大模型的</a:t>
            </a:r>
            <a:r>
              <a:rPr lang="en-US" altLang="zh-CN" sz="1600" dirty="0">
                <a:latin typeface="微软雅黑" panose="020B0503020204020204" pitchFamily="34" charset="-122"/>
                <a:ea typeface="微软雅黑" panose="020B0503020204020204" pitchFamily="34" charset="-122"/>
              </a:rPr>
              <a:t>AI</a:t>
            </a:r>
            <a:r>
              <a:rPr lang="zh-CN" altLang="en-US" sz="1600" dirty="0">
                <a:latin typeface="微软雅黑" panose="020B0503020204020204" pitchFamily="34" charset="-122"/>
                <a:ea typeface="微软雅黑" panose="020B0503020204020204" pitchFamily="34" charset="-122"/>
              </a:rPr>
              <a:t>短视频灵感创作网站，旨在辅助和协助短视频创作者进行视频创作前的脚本策划，创意抉择，和流量数据分析。</a:t>
            </a:r>
            <a:endParaRPr lang="en-US" altLang="zh-CN" sz="1600" dirty="0">
              <a:latin typeface="微软雅黑" panose="020B0503020204020204" pitchFamily="34" charset="-122"/>
              <a:ea typeface="微软雅黑" panose="020B0503020204020204" pitchFamily="34" charset="-122"/>
            </a:endParaRPr>
          </a:p>
          <a:p>
            <a:r>
              <a:rPr lang="zh-CN" altLang="en-US" sz="1600" dirty="0">
                <a:latin typeface="微软雅黑" panose="020B0503020204020204" pitchFamily="34" charset="-122"/>
                <a:ea typeface="微软雅黑" panose="020B0503020204020204" pitchFamily="34" charset="-122"/>
              </a:rPr>
              <a:t>该网站通过用户输入</a:t>
            </a:r>
            <a:r>
              <a:rPr lang="en-US" altLang="zh-CN" sz="1600" dirty="0">
                <a:latin typeface="微软雅黑" panose="020B0503020204020204" pitchFamily="34" charset="-122"/>
                <a:ea typeface="微软雅黑" panose="020B0503020204020204" pitchFamily="34" charset="-122"/>
              </a:rPr>
              <a:t>’</a:t>
            </a:r>
            <a:r>
              <a:rPr lang="zh-CN" altLang="en-US" sz="1600" dirty="0">
                <a:latin typeface="微软雅黑" panose="020B0503020204020204" pitchFamily="34" charset="-122"/>
                <a:ea typeface="微软雅黑" panose="020B0503020204020204" pitchFamily="34" charset="-122"/>
              </a:rPr>
              <a:t>性别</a:t>
            </a:r>
            <a:r>
              <a:rPr lang="en-US" altLang="zh-CN" sz="1600" dirty="0">
                <a:latin typeface="微软雅黑" panose="020B0503020204020204" pitchFamily="34" charset="-122"/>
                <a:ea typeface="微软雅黑" panose="020B0503020204020204" pitchFamily="34" charset="-122"/>
              </a:rPr>
              <a:t>’</a:t>
            </a:r>
            <a:r>
              <a:rPr lang="zh-CN" altLang="en-US" sz="1600" dirty="0">
                <a:latin typeface="微软雅黑" panose="020B0503020204020204" pitchFamily="34" charset="-122"/>
                <a:ea typeface="微软雅黑" panose="020B0503020204020204" pitchFamily="34" charset="-122"/>
              </a:rPr>
              <a:t>，</a:t>
            </a:r>
            <a:r>
              <a:rPr lang="en-US" altLang="zh-CN" sz="1600" dirty="0">
                <a:latin typeface="微软雅黑" panose="020B0503020204020204" pitchFamily="34" charset="-122"/>
                <a:ea typeface="微软雅黑" panose="020B0503020204020204" pitchFamily="34" charset="-122"/>
              </a:rPr>
              <a:t>’</a:t>
            </a:r>
            <a:r>
              <a:rPr lang="zh-CN" altLang="en-US" sz="1600" dirty="0">
                <a:latin typeface="微软雅黑" panose="020B0503020204020204" pitchFamily="34" charset="-122"/>
                <a:ea typeface="微软雅黑" panose="020B0503020204020204" pitchFamily="34" charset="-122"/>
              </a:rPr>
              <a:t>年龄</a:t>
            </a:r>
            <a:r>
              <a:rPr lang="en-US" altLang="zh-CN" sz="1600" dirty="0">
                <a:latin typeface="微软雅黑" panose="020B0503020204020204" pitchFamily="34" charset="-122"/>
                <a:ea typeface="微软雅黑" panose="020B0503020204020204" pitchFamily="34" charset="-122"/>
              </a:rPr>
              <a:t>’</a:t>
            </a:r>
            <a:r>
              <a:rPr lang="zh-CN" altLang="en-US" sz="1600" dirty="0">
                <a:latin typeface="微软雅黑" panose="020B0503020204020204" pitchFamily="34" charset="-122"/>
                <a:ea typeface="微软雅黑" panose="020B0503020204020204" pitchFamily="34" charset="-122"/>
              </a:rPr>
              <a:t>，</a:t>
            </a:r>
            <a:r>
              <a:rPr lang="en-US" altLang="zh-CN" sz="1600" dirty="0">
                <a:latin typeface="微软雅黑" panose="020B0503020204020204" pitchFamily="34" charset="-122"/>
                <a:ea typeface="微软雅黑" panose="020B0503020204020204" pitchFamily="34" charset="-122"/>
              </a:rPr>
              <a:t>’</a:t>
            </a:r>
            <a:r>
              <a:rPr lang="zh-CN" altLang="en-US" sz="1600" dirty="0">
                <a:latin typeface="微软雅黑" panose="020B0503020204020204" pitchFamily="34" charset="-122"/>
                <a:ea typeface="微软雅黑" panose="020B0503020204020204" pitchFamily="34" charset="-122"/>
              </a:rPr>
              <a:t>创作者类型</a:t>
            </a:r>
            <a:r>
              <a:rPr lang="en-US" altLang="zh-CN" sz="1600" dirty="0">
                <a:latin typeface="微软雅黑" panose="020B0503020204020204" pitchFamily="34" charset="-122"/>
                <a:ea typeface="微软雅黑" panose="020B0503020204020204" pitchFamily="34" charset="-122"/>
              </a:rPr>
              <a:t>’</a:t>
            </a:r>
            <a:r>
              <a:rPr lang="zh-CN" altLang="en-US" sz="1600" dirty="0">
                <a:latin typeface="微软雅黑" panose="020B0503020204020204" pitchFamily="34" charset="-122"/>
                <a:ea typeface="微软雅黑" panose="020B0503020204020204" pitchFamily="34" charset="-122"/>
              </a:rPr>
              <a:t>等个人信息生成相应的用户画像，再根据用户的灵感和需求等结合当前热门趋势，利用</a:t>
            </a:r>
            <a:r>
              <a:rPr lang="en-US" altLang="zh-CN" sz="1600" dirty="0">
                <a:latin typeface="微软雅黑" panose="020B0503020204020204" pitchFamily="34" charset="-122"/>
                <a:ea typeface="微软雅黑" panose="020B0503020204020204" pitchFamily="34" charset="-122"/>
              </a:rPr>
              <a:t>AI</a:t>
            </a:r>
            <a:r>
              <a:rPr lang="zh-CN" altLang="en-US" sz="1600" dirty="0">
                <a:latin typeface="微软雅黑" panose="020B0503020204020204" pitchFamily="34" charset="-122"/>
                <a:ea typeface="微软雅黑" panose="020B0503020204020204" pitchFamily="34" charset="-122"/>
              </a:rPr>
              <a:t>大模型的语言和数据分析等能力，生成用户定制的短视频灵感脚本和意见，从而协助用户头脑风暴，人脑与</a:t>
            </a:r>
            <a:r>
              <a:rPr lang="en-US" altLang="zh-CN" sz="1600" dirty="0">
                <a:latin typeface="微软雅黑" panose="020B0503020204020204" pitchFamily="34" charset="-122"/>
                <a:ea typeface="微软雅黑" panose="020B0503020204020204" pitchFamily="34" charset="-122"/>
              </a:rPr>
              <a:t>AI</a:t>
            </a:r>
            <a:r>
              <a:rPr lang="zh-CN" altLang="en-US" sz="1600" dirty="0">
                <a:latin typeface="微软雅黑" panose="020B0503020204020204" pitchFamily="34" charset="-122"/>
                <a:ea typeface="微软雅黑" panose="020B0503020204020204" pitchFamily="34" charset="-122"/>
              </a:rPr>
              <a:t>结合，且直观的数据分析可以使得创作事半功倍。</a:t>
            </a:r>
            <a:endParaRPr lang="en-US" altLang="zh-CN" sz="1600" dirty="0">
              <a:latin typeface="微软雅黑" panose="020B0503020204020204" pitchFamily="34" charset="-122"/>
              <a:ea typeface="微软雅黑" panose="020B0503020204020204" pitchFamily="34" charset="-122"/>
            </a:endParaRPr>
          </a:p>
          <a:p>
            <a:endParaRPr lang="en-US" altLang="zh-CN" dirty="0"/>
          </a:p>
          <a:p>
            <a:r>
              <a:rPr lang="zh-CN" altLang="en-US" b="1" dirty="0">
                <a:solidFill>
                  <a:schemeClr val="accent1"/>
                </a:solidFill>
                <a:latin typeface="微软雅黑" panose="020B0503020204020204" pitchFamily="34" charset="-122"/>
                <a:ea typeface="微软雅黑" panose="020B0503020204020204" pitchFamily="34" charset="-122"/>
              </a:rPr>
              <a:t>技术方面</a:t>
            </a:r>
            <a:r>
              <a:rPr lang="zh-CN" altLang="en-US" dirty="0"/>
              <a:t>：</a:t>
            </a:r>
            <a:r>
              <a:rPr lang="zh-CN" altLang="en-US" sz="1600" dirty="0">
                <a:latin typeface="微软雅黑" panose="020B0503020204020204" pitchFamily="34" charset="-122"/>
                <a:ea typeface="微软雅黑" panose="020B0503020204020204" pitchFamily="34" charset="-122"/>
              </a:rPr>
              <a:t>该网站接入</a:t>
            </a:r>
            <a:r>
              <a:rPr lang="en-US" altLang="zh-CN" sz="1600" dirty="0">
                <a:latin typeface="微软雅黑" panose="020B0503020204020204" pitchFamily="34" charset="-122"/>
                <a:ea typeface="微软雅黑" panose="020B0503020204020204" pitchFamily="34" charset="-122"/>
              </a:rPr>
              <a:t>AI</a:t>
            </a:r>
            <a:r>
              <a:rPr lang="zh-CN" altLang="en-US" sz="1600" dirty="0">
                <a:latin typeface="微软雅黑" panose="020B0503020204020204" pitchFamily="34" charset="-122"/>
                <a:ea typeface="微软雅黑" panose="020B0503020204020204" pitchFamily="34" charset="-122"/>
              </a:rPr>
              <a:t>大模型和热门短视频网站，</a:t>
            </a:r>
            <a:r>
              <a:rPr lang="en-US" altLang="zh-CN" sz="1600" dirty="0">
                <a:latin typeface="微软雅黑" panose="020B0503020204020204" pitchFamily="34" charset="-122"/>
                <a:ea typeface="微软雅黑" panose="020B0503020204020204" pitchFamily="34" charset="-122"/>
              </a:rPr>
              <a:t>API</a:t>
            </a:r>
            <a:r>
              <a:rPr lang="zh-CN" altLang="en-US" sz="1600" dirty="0">
                <a:latin typeface="微软雅黑" panose="020B0503020204020204" pitchFamily="34" charset="-122"/>
                <a:ea typeface="微软雅黑" panose="020B0503020204020204" pitchFamily="34" charset="-122"/>
              </a:rPr>
              <a:t>访问获取实时数据生成报告。</a:t>
            </a:r>
          </a:p>
        </p:txBody>
      </p:sp>
    </p:spTree>
    <p:extLst>
      <p:ext uri="{BB962C8B-B14F-4D97-AF65-F5344CB8AC3E}">
        <p14:creationId xmlns:p14="http://schemas.microsoft.com/office/powerpoint/2010/main" val="4293353273"/>
      </p:ext>
    </p:extLst>
  </p:cSld>
  <p:clrMapOvr>
    <a:masterClrMapping/>
  </p:clrMapOvr>
  <p:transition spd="med">
    <p:pull/>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161E6952-BE84-128A-7E4D-0E86A6AEFE4A}"/>
              </a:ext>
            </a:extLst>
          </p:cNvPr>
          <p:cNvSpPr txBox="1"/>
          <p:nvPr/>
        </p:nvSpPr>
        <p:spPr>
          <a:xfrm>
            <a:off x="889687" y="502508"/>
            <a:ext cx="5428736" cy="861774"/>
          </a:xfrm>
          <a:prstGeom prst="rect">
            <a:avLst/>
          </a:prstGeom>
          <a:noFill/>
        </p:spPr>
        <p:txBody>
          <a:bodyPr wrap="square" rtlCol="0">
            <a:spAutoFit/>
          </a:bodyPr>
          <a:lstStyle/>
          <a:p>
            <a:r>
              <a:rPr lang="zh-CN" altLang="en-US" sz="3200" b="1" dirty="0">
                <a:solidFill>
                  <a:schemeClr val="accent1"/>
                </a:solidFill>
                <a:latin typeface="微软雅黑" panose="020B0503020204020204" pitchFamily="34" charset="-122"/>
                <a:ea typeface="微软雅黑" panose="020B0503020204020204" pitchFamily="34" charset="-122"/>
              </a:rPr>
              <a:t>项目定位：只做灵感策源地</a:t>
            </a:r>
            <a:endParaRPr lang="zh-CN" altLang="en-US" sz="3200" dirty="0">
              <a:solidFill>
                <a:schemeClr val="accent1"/>
              </a:solidFill>
              <a:latin typeface="微软雅黑" panose="020B0503020204020204" pitchFamily="34" charset="-122"/>
              <a:ea typeface="微软雅黑" panose="020B0503020204020204" pitchFamily="34" charset="-122"/>
            </a:endParaRPr>
          </a:p>
          <a:p>
            <a:endParaRPr lang="zh-CN" altLang="en-US" dirty="0"/>
          </a:p>
        </p:txBody>
      </p:sp>
      <p:sp>
        <p:nvSpPr>
          <p:cNvPr id="3" name="文本框 2">
            <a:extLst>
              <a:ext uri="{FF2B5EF4-FFF2-40B4-BE49-F238E27FC236}">
                <a16:creationId xmlns:a16="http://schemas.microsoft.com/office/drawing/2014/main" id="{F4A0BE6E-5C1B-7BB7-81E3-DC3AE1905609}"/>
              </a:ext>
            </a:extLst>
          </p:cNvPr>
          <p:cNvSpPr txBox="1"/>
          <p:nvPr/>
        </p:nvSpPr>
        <p:spPr>
          <a:xfrm>
            <a:off x="889687" y="1241172"/>
            <a:ext cx="2718486" cy="400110"/>
          </a:xfrm>
          <a:prstGeom prst="rect">
            <a:avLst/>
          </a:prstGeom>
          <a:noFill/>
        </p:spPr>
        <p:txBody>
          <a:bodyPr wrap="square" rtlCol="0">
            <a:spAutoFit/>
          </a:bodyPr>
          <a:lstStyle/>
          <a:p>
            <a:r>
              <a:rPr lang="zh-CN" altLang="en-US" sz="2000" b="1" dirty="0">
                <a:solidFill>
                  <a:schemeClr val="accent1"/>
                </a:solidFill>
                <a:latin typeface="微软雅黑" panose="020B0503020204020204" pitchFamily="34" charset="-122"/>
                <a:ea typeface="微软雅黑" panose="020B0503020204020204" pitchFamily="34" charset="-122"/>
              </a:rPr>
              <a:t>专注灵感与策划环节</a:t>
            </a:r>
          </a:p>
        </p:txBody>
      </p:sp>
      <p:sp>
        <p:nvSpPr>
          <p:cNvPr id="4" name="文本框 3">
            <a:extLst>
              <a:ext uri="{FF2B5EF4-FFF2-40B4-BE49-F238E27FC236}">
                <a16:creationId xmlns:a16="http://schemas.microsoft.com/office/drawing/2014/main" id="{FFFD916B-38F1-C3CE-DCC7-20F21AE81C32}"/>
              </a:ext>
            </a:extLst>
          </p:cNvPr>
          <p:cNvSpPr txBox="1"/>
          <p:nvPr/>
        </p:nvSpPr>
        <p:spPr>
          <a:xfrm>
            <a:off x="889687" y="1754659"/>
            <a:ext cx="4983892" cy="1107996"/>
          </a:xfrm>
          <a:prstGeom prst="rect">
            <a:avLst/>
          </a:prstGeom>
          <a:noFill/>
        </p:spPr>
        <p:txBody>
          <a:bodyPr wrap="square" rtlCol="0">
            <a:spAutoFit/>
          </a:bodyPr>
          <a:lstStyle/>
          <a:p>
            <a:r>
              <a:rPr lang="zh-CN" altLang="en-US" sz="1600" dirty="0">
                <a:latin typeface="微软雅黑" panose="020B0503020204020204" pitchFamily="34" charset="-122"/>
                <a:ea typeface="微软雅黑" panose="020B0503020204020204" pitchFamily="34" charset="-122"/>
              </a:rPr>
              <a:t>我们把自己明确定义为‘</a:t>
            </a:r>
            <a:r>
              <a:rPr lang="en-US" altLang="zh-CN" sz="1600" dirty="0">
                <a:latin typeface="微软雅黑" panose="020B0503020204020204" pitchFamily="34" charset="-122"/>
                <a:ea typeface="微软雅黑" panose="020B0503020204020204" pitchFamily="34" charset="-122"/>
              </a:rPr>
              <a:t>AI</a:t>
            </a:r>
            <a:r>
              <a:rPr lang="zh-CN" altLang="en-US" sz="1600" dirty="0">
                <a:latin typeface="微软雅黑" panose="020B0503020204020204" pitchFamily="34" charset="-122"/>
                <a:ea typeface="微软雅黑" panose="020B0503020204020204" pitchFamily="34" charset="-122"/>
              </a:rPr>
              <a:t>创意助手’，专注短视频从</a:t>
            </a:r>
            <a:r>
              <a:rPr lang="en-US" altLang="zh-CN" sz="1600" dirty="0">
                <a:latin typeface="微软雅黑" panose="020B0503020204020204" pitchFamily="34" charset="-122"/>
                <a:ea typeface="微软雅黑" panose="020B0503020204020204" pitchFamily="34" charset="-122"/>
              </a:rPr>
              <a:t>0</a:t>
            </a:r>
            <a:r>
              <a:rPr lang="zh-CN" altLang="en-US" sz="1600" dirty="0">
                <a:latin typeface="微软雅黑" panose="020B0503020204020204" pitchFamily="34" charset="-122"/>
                <a:ea typeface="微软雅黑" panose="020B0503020204020204" pitchFamily="34" charset="-122"/>
              </a:rPr>
              <a:t>到</a:t>
            </a:r>
            <a:r>
              <a:rPr lang="en-US" altLang="zh-CN" sz="1600" dirty="0">
                <a:latin typeface="微软雅黑" panose="020B0503020204020204" pitchFamily="34" charset="-122"/>
                <a:ea typeface="微软雅黑" panose="020B0503020204020204" pitchFamily="34" charset="-122"/>
              </a:rPr>
              <a:t>1</a:t>
            </a:r>
            <a:r>
              <a:rPr lang="zh-CN" altLang="en-US" sz="1600" dirty="0">
                <a:latin typeface="微软雅黑" panose="020B0503020204020204" pitchFamily="34" charset="-122"/>
                <a:ea typeface="微软雅黑" panose="020B0503020204020204" pitchFamily="34" charset="-122"/>
              </a:rPr>
              <a:t>的灵感与策划环节，为你的创意锦上添花，不抢后期，只做内容起跑线的发令枪。</a:t>
            </a:r>
          </a:p>
          <a:p>
            <a:endParaRPr lang="zh-CN" altLang="en-US" dirty="0"/>
          </a:p>
        </p:txBody>
      </p:sp>
      <p:sp>
        <p:nvSpPr>
          <p:cNvPr id="5" name="文本框 4">
            <a:extLst>
              <a:ext uri="{FF2B5EF4-FFF2-40B4-BE49-F238E27FC236}">
                <a16:creationId xmlns:a16="http://schemas.microsoft.com/office/drawing/2014/main" id="{97128C4A-E61E-0E24-655C-8D381F0D6E77}"/>
              </a:ext>
            </a:extLst>
          </p:cNvPr>
          <p:cNvSpPr txBox="1"/>
          <p:nvPr/>
        </p:nvSpPr>
        <p:spPr>
          <a:xfrm>
            <a:off x="844379" y="2858543"/>
            <a:ext cx="2537254" cy="400110"/>
          </a:xfrm>
          <a:prstGeom prst="rect">
            <a:avLst/>
          </a:prstGeom>
          <a:noFill/>
        </p:spPr>
        <p:txBody>
          <a:bodyPr wrap="square" rtlCol="0">
            <a:spAutoFit/>
          </a:bodyPr>
          <a:lstStyle/>
          <a:p>
            <a:r>
              <a:rPr lang="zh-CN" altLang="en-US" sz="2000" b="1" dirty="0">
                <a:solidFill>
                  <a:schemeClr val="accent1"/>
                </a:solidFill>
                <a:latin typeface="微软雅黑" panose="020B0503020204020204" pitchFamily="34" charset="-122"/>
                <a:ea typeface="微软雅黑" panose="020B0503020204020204" pitchFamily="34" charset="-122"/>
              </a:rPr>
              <a:t>你的专业数据分析师</a:t>
            </a:r>
          </a:p>
        </p:txBody>
      </p:sp>
      <p:sp>
        <p:nvSpPr>
          <p:cNvPr id="6" name="文本框 5">
            <a:extLst>
              <a:ext uri="{FF2B5EF4-FFF2-40B4-BE49-F238E27FC236}">
                <a16:creationId xmlns:a16="http://schemas.microsoft.com/office/drawing/2014/main" id="{A67476AC-53C4-E03D-6B98-367B91928427}"/>
              </a:ext>
            </a:extLst>
          </p:cNvPr>
          <p:cNvSpPr txBox="1"/>
          <p:nvPr/>
        </p:nvSpPr>
        <p:spPr>
          <a:xfrm>
            <a:off x="844379" y="3376142"/>
            <a:ext cx="4885038" cy="830997"/>
          </a:xfrm>
          <a:prstGeom prst="rect">
            <a:avLst/>
          </a:prstGeom>
          <a:noFill/>
        </p:spPr>
        <p:txBody>
          <a:bodyPr wrap="square" rtlCol="0">
            <a:spAutoFit/>
          </a:bodyPr>
          <a:lstStyle/>
          <a:p>
            <a:r>
              <a:rPr lang="zh-CN" altLang="en-US" sz="1600" dirty="0">
                <a:latin typeface="微软雅黑" panose="020B0503020204020204" pitchFamily="34" charset="-122"/>
                <a:ea typeface="微软雅黑" panose="020B0503020204020204" pitchFamily="34" charset="-122"/>
              </a:rPr>
              <a:t>我们会结合最新的热门趋势数据分析，快速锁定用户画像，深度拆解，给你最详细的可视化数据，让你从此不再沉溺于互联网数据洪流。</a:t>
            </a:r>
          </a:p>
        </p:txBody>
      </p:sp>
      <p:sp>
        <p:nvSpPr>
          <p:cNvPr id="7" name="文本框 6">
            <a:extLst>
              <a:ext uri="{FF2B5EF4-FFF2-40B4-BE49-F238E27FC236}">
                <a16:creationId xmlns:a16="http://schemas.microsoft.com/office/drawing/2014/main" id="{48BC1219-0E8E-5C66-CF6E-7170ADF894F5}"/>
              </a:ext>
            </a:extLst>
          </p:cNvPr>
          <p:cNvSpPr txBox="1"/>
          <p:nvPr/>
        </p:nvSpPr>
        <p:spPr>
          <a:xfrm>
            <a:off x="844379" y="4341340"/>
            <a:ext cx="3542270" cy="400110"/>
          </a:xfrm>
          <a:prstGeom prst="rect">
            <a:avLst/>
          </a:prstGeom>
          <a:noFill/>
        </p:spPr>
        <p:txBody>
          <a:bodyPr wrap="square" rtlCol="0">
            <a:spAutoFit/>
          </a:bodyPr>
          <a:lstStyle/>
          <a:p>
            <a:r>
              <a:rPr lang="zh-CN" altLang="en-US" sz="2000" b="1" dirty="0">
                <a:solidFill>
                  <a:schemeClr val="accent1"/>
                </a:solidFill>
                <a:latin typeface="微软雅黑" panose="020B0503020204020204" pitchFamily="34" charset="-122"/>
                <a:ea typeface="微软雅黑" panose="020B0503020204020204" pitchFamily="34" charset="-122"/>
              </a:rPr>
              <a:t>成为你可靠的短视频设计伙伴</a:t>
            </a:r>
          </a:p>
        </p:txBody>
      </p:sp>
      <p:sp>
        <p:nvSpPr>
          <p:cNvPr id="8" name="文本框 7">
            <a:extLst>
              <a:ext uri="{FF2B5EF4-FFF2-40B4-BE49-F238E27FC236}">
                <a16:creationId xmlns:a16="http://schemas.microsoft.com/office/drawing/2014/main" id="{DA9907D4-13FC-6B69-4AA3-8ECF5DED6DEF}"/>
              </a:ext>
            </a:extLst>
          </p:cNvPr>
          <p:cNvSpPr txBox="1"/>
          <p:nvPr/>
        </p:nvSpPr>
        <p:spPr>
          <a:xfrm>
            <a:off x="844379" y="4875651"/>
            <a:ext cx="4782065" cy="1077218"/>
          </a:xfrm>
          <a:prstGeom prst="rect">
            <a:avLst/>
          </a:prstGeom>
          <a:noFill/>
        </p:spPr>
        <p:txBody>
          <a:bodyPr wrap="square" rtlCol="0">
            <a:spAutoFit/>
          </a:bodyPr>
          <a:lstStyle/>
          <a:p>
            <a:r>
              <a:rPr lang="zh-CN" altLang="en-US" sz="1600" dirty="0">
                <a:latin typeface="微软雅黑" panose="020B0503020204020204" pitchFamily="34" charset="-122"/>
                <a:ea typeface="微软雅黑" panose="020B0503020204020204" pitchFamily="34" charset="-122"/>
              </a:rPr>
              <a:t>支持风格定制，无论是治愈</a:t>
            </a:r>
            <a:r>
              <a:rPr lang="en-US" altLang="zh-CN" sz="1600" dirty="0">
                <a:latin typeface="微软雅黑" panose="020B0503020204020204" pitchFamily="34" charset="-122"/>
                <a:ea typeface="微软雅黑" panose="020B0503020204020204" pitchFamily="34" charset="-122"/>
              </a:rPr>
              <a:t>vlog</a:t>
            </a:r>
            <a:r>
              <a:rPr lang="zh-CN" altLang="en-US" sz="1600" dirty="0">
                <a:latin typeface="微软雅黑" panose="020B0503020204020204" pitchFamily="34" charset="-122"/>
                <a:ea typeface="微软雅黑" panose="020B0503020204020204" pitchFamily="34" charset="-122"/>
              </a:rPr>
              <a:t>、知识科普、剧情短片还是带货视频，都能匹配专属创意模板；更能智能推荐</a:t>
            </a:r>
            <a:r>
              <a:rPr lang="en-US" altLang="zh-CN" sz="1600" dirty="0">
                <a:latin typeface="微软雅黑" panose="020B0503020204020204" pitchFamily="34" charset="-122"/>
                <a:ea typeface="微软雅黑" panose="020B0503020204020204" pitchFamily="34" charset="-122"/>
              </a:rPr>
              <a:t>BGM</a:t>
            </a:r>
            <a:r>
              <a:rPr lang="zh-CN" altLang="en-US" sz="1600" dirty="0">
                <a:latin typeface="微软雅黑" panose="020B0503020204020204" pitchFamily="34" charset="-122"/>
                <a:ea typeface="微软雅黑" panose="020B0503020204020204" pitchFamily="34" charset="-122"/>
              </a:rPr>
              <a:t>、字幕样式和镜头转场，让创意落地效率翻倍。</a:t>
            </a:r>
          </a:p>
        </p:txBody>
      </p:sp>
      <p:sp>
        <p:nvSpPr>
          <p:cNvPr id="10" name="矩形: 圆角 9">
            <a:extLst>
              <a:ext uri="{FF2B5EF4-FFF2-40B4-BE49-F238E27FC236}">
                <a16:creationId xmlns:a16="http://schemas.microsoft.com/office/drawing/2014/main" id="{13449F79-A620-8627-3F60-47FA4FDAD6F8}"/>
              </a:ext>
            </a:extLst>
          </p:cNvPr>
          <p:cNvSpPr/>
          <p:nvPr/>
        </p:nvSpPr>
        <p:spPr>
          <a:xfrm>
            <a:off x="6697364" y="706983"/>
            <a:ext cx="4700027" cy="5103340"/>
          </a:xfrm>
          <a:prstGeom prst="roundRect">
            <a:avLst>
              <a:gd name="adj" fmla="val 0"/>
            </a:avLst>
          </a:prstGeom>
          <a:gradFill>
            <a:gsLst>
              <a:gs pos="0">
                <a:schemeClr val="accent1">
                  <a:lumMod val="5000"/>
                  <a:lumOff val="95000"/>
                </a:schemeClr>
              </a:gs>
              <a:gs pos="9000">
                <a:schemeClr val="accent1">
                  <a:alpha val="81000"/>
                </a:schemeClr>
              </a:gs>
              <a:gs pos="91000">
                <a:schemeClr val="accent1">
                  <a:alpha val="82000"/>
                </a:schemeClr>
              </a:gs>
              <a:gs pos="100000">
                <a:schemeClr val="bg1"/>
              </a:gs>
            </a:gsLst>
            <a:lin ang="10800000" scaled="0"/>
          </a:gradFill>
          <a:ln w="6055" cap="flat">
            <a:noFill/>
            <a:prstDash val="solid"/>
            <a:miter/>
          </a:ln>
        </p:spPr>
        <p:txBody>
          <a:bodyPr rtlCol="0" anchor="ctr"/>
          <a:lstStyle/>
          <a:p>
            <a:endParaRPr lang="zh-CN" altLang="en-US">
              <a:latin typeface="Arial" panose="020B0604020202020204" pitchFamily="34" charset="0"/>
              <a:ea typeface="微软雅黑" panose="020B0503020204020204" pitchFamily="34" charset="-122"/>
              <a:sym typeface="Arial" panose="020B0604020202020204" pitchFamily="34" charset="0"/>
            </a:endParaRPr>
          </a:p>
        </p:txBody>
      </p:sp>
      <p:pic>
        <p:nvPicPr>
          <p:cNvPr id="12" name="图片 11">
            <a:extLst>
              <a:ext uri="{FF2B5EF4-FFF2-40B4-BE49-F238E27FC236}">
                <a16:creationId xmlns:a16="http://schemas.microsoft.com/office/drawing/2014/main" id="{BDDCB561-5E9C-55E5-BDE5-207330D7D56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841525" y="706983"/>
            <a:ext cx="4460787" cy="5103340"/>
          </a:xfrm>
          <a:prstGeom prst="rect">
            <a:avLst/>
          </a:prstGeom>
        </p:spPr>
      </p:pic>
    </p:spTree>
    <p:extLst>
      <p:ext uri="{BB962C8B-B14F-4D97-AF65-F5344CB8AC3E}">
        <p14:creationId xmlns:p14="http://schemas.microsoft.com/office/powerpoint/2010/main" val="4133964782"/>
      </p:ext>
    </p:extLst>
  </p:cSld>
  <p:clrMapOvr>
    <a:masterClrMapping/>
  </p:clrMapOvr>
  <p:transition spd="med">
    <p:pull/>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5D87C584-6A97-749C-B8C9-AAB53B8B1021}"/>
              </a:ext>
            </a:extLst>
          </p:cNvPr>
          <p:cNvSpPr txBox="1"/>
          <p:nvPr/>
        </p:nvSpPr>
        <p:spPr>
          <a:xfrm>
            <a:off x="741406" y="552959"/>
            <a:ext cx="5000367" cy="584775"/>
          </a:xfrm>
          <a:prstGeom prst="rect">
            <a:avLst/>
          </a:prstGeom>
          <a:noFill/>
        </p:spPr>
        <p:txBody>
          <a:bodyPr wrap="square" rtlCol="0">
            <a:spAutoFit/>
          </a:bodyPr>
          <a:lstStyle/>
          <a:p>
            <a:r>
              <a:rPr lang="zh-CN" altLang="en-US" sz="3200" b="1" dirty="0">
                <a:solidFill>
                  <a:schemeClr val="accent1"/>
                </a:solidFill>
                <a:latin typeface="微软雅黑" panose="020B0503020204020204" pitchFamily="34" charset="-122"/>
                <a:ea typeface="微软雅黑" panose="020B0503020204020204" pitchFamily="34" charset="-122"/>
              </a:rPr>
              <a:t>四步生成定制创意方案</a:t>
            </a:r>
          </a:p>
        </p:txBody>
      </p:sp>
      <p:sp>
        <p:nvSpPr>
          <p:cNvPr id="3" name="文本框 2">
            <a:extLst>
              <a:ext uri="{FF2B5EF4-FFF2-40B4-BE49-F238E27FC236}">
                <a16:creationId xmlns:a16="http://schemas.microsoft.com/office/drawing/2014/main" id="{0275BEFD-4781-2CB5-150B-8EAFD8EE6405}"/>
              </a:ext>
            </a:extLst>
          </p:cNvPr>
          <p:cNvSpPr txBox="1"/>
          <p:nvPr/>
        </p:nvSpPr>
        <p:spPr>
          <a:xfrm>
            <a:off x="741406" y="1014624"/>
            <a:ext cx="10445578" cy="369332"/>
          </a:xfrm>
          <a:prstGeom prst="rect">
            <a:avLst/>
          </a:prstGeom>
          <a:noFill/>
        </p:spPr>
        <p:txBody>
          <a:bodyPr wrap="square" rtlCol="0">
            <a:spAutoFit/>
          </a:bodyPr>
          <a:lstStyle/>
          <a:p>
            <a:r>
              <a:rPr lang="en-US" altLang="zh-CN" b="1" dirty="0">
                <a:solidFill>
                  <a:schemeClr val="accent1"/>
                </a:solidFill>
              </a:rPr>
              <a:t>_________________________________________________________________________________________</a:t>
            </a:r>
            <a:endParaRPr lang="zh-CN" altLang="en-US" b="1" dirty="0">
              <a:solidFill>
                <a:schemeClr val="accent1"/>
              </a:solidFill>
            </a:endParaRPr>
          </a:p>
        </p:txBody>
      </p:sp>
      <p:sp>
        <p:nvSpPr>
          <p:cNvPr id="4" name="文本框 3">
            <a:extLst>
              <a:ext uri="{FF2B5EF4-FFF2-40B4-BE49-F238E27FC236}">
                <a16:creationId xmlns:a16="http://schemas.microsoft.com/office/drawing/2014/main" id="{3595E308-F78E-94D1-D782-CD4DB6D5ED60}"/>
              </a:ext>
            </a:extLst>
          </p:cNvPr>
          <p:cNvSpPr txBox="1"/>
          <p:nvPr/>
        </p:nvSpPr>
        <p:spPr>
          <a:xfrm>
            <a:off x="996778" y="1581665"/>
            <a:ext cx="2133600" cy="369332"/>
          </a:xfrm>
          <a:prstGeom prst="rect">
            <a:avLst/>
          </a:prstGeom>
          <a:noFill/>
        </p:spPr>
        <p:txBody>
          <a:bodyPr wrap="square" rtlCol="0">
            <a:spAutoFit/>
          </a:bodyPr>
          <a:lstStyle/>
          <a:p>
            <a:r>
              <a:rPr lang="zh-CN" altLang="en-US" b="1" dirty="0">
                <a:solidFill>
                  <a:schemeClr val="accent1"/>
                </a:solidFill>
                <a:latin typeface="微软雅黑" panose="020B0503020204020204" pitchFamily="34" charset="-122"/>
                <a:ea typeface="微软雅黑" panose="020B0503020204020204" pitchFamily="34" charset="-122"/>
              </a:rPr>
              <a:t>用户输入</a:t>
            </a:r>
          </a:p>
        </p:txBody>
      </p:sp>
      <p:sp>
        <p:nvSpPr>
          <p:cNvPr id="5" name="文本框 4">
            <a:extLst>
              <a:ext uri="{FF2B5EF4-FFF2-40B4-BE49-F238E27FC236}">
                <a16:creationId xmlns:a16="http://schemas.microsoft.com/office/drawing/2014/main" id="{078B8DC6-ABEF-6FD0-9F62-E1F1004A36B4}"/>
              </a:ext>
            </a:extLst>
          </p:cNvPr>
          <p:cNvSpPr txBox="1"/>
          <p:nvPr/>
        </p:nvSpPr>
        <p:spPr>
          <a:xfrm>
            <a:off x="996778" y="2191265"/>
            <a:ext cx="1960606" cy="1846659"/>
          </a:xfrm>
          <a:prstGeom prst="rect">
            <a:avLst/>
          </a:prstGeom>
          <a:noFill/>
        </p:spPr>
        <p:txBody>
          <a:bodyPr wrap="square" rtlCol="0">
            <a:spAutoFit/>
          </a:bodyPr>
          <a:lstStyle/>
          <a:p>
            <a:r>
              <a:rPr lang="zh-CN" altLang="en-US" sz="1600" dirty="0">
                <a:latin typeface="微软雅黑" panose="020B0503020204020204" pitchFamily="34" charset="-122"/>
                <a:ea typeface="微软雅黑" panose="020B0503020204020204" pitchFamily="34" charset="-122"/>
              </a:rPr>
              <a:t>用户输入主题类型、灵感关键词与用户基本信息，这是创意生成的第一步，为后续的分析和创作提供基础。</a:t>
            </a:r>
          </a:p>
          <a:p>
            <a:endParaRPr lang="zh-CN" altLang="en-US" dirty="0"/>
          </a:p>
        </p:txBody>
      </p:sp>
      <p:sp>
        <p:nvSpPr>
          <p:cNvPr id="6" name="文本框 5">
            <a:extLst>
              <a:ext uri="{FF2B5EF4-FFF2-40B4-BE49-F238E27FC236}">
                <a16:creationId xmlns:a16="http://schemas.microsoft.com/office/drawing/2014/main" id="{279644F5-3236-EF4A-9302-ADC05DF5F022}"/>
              </a:ext>
            </a:extLst>
          </p:cNvPr>
          <p:cNvSpPr txBox="1"/>
          <p:nvPr/>
        </p:nvSpPr>
        <p:spPr>
          <a:xfrm>
            <a:off x="3542271" y="1581665"/>
            <a:ext cx="2034746" cy="646331"/>
          </a:xfrm>
          <a:prstGeom prst="rect">
            <a:avLst/>
          </a:prstGeom>
          <a:noFill/>
        </p:spPr>
        <p:txBody>
          <a:bodyPr wrap="square" rtlCol="0">
            <a:spAutoFit/>
          </a:bodyPr>
          <a:lstStyle/>
          <a:p>
            <a:r>
              <a:rPr lang="zh-CN" altLang="en-US" b="1" dirty="0">
                <a:solidFill>
                  <a:schemeClr val="accent1"/>
                </a:solidFill>
                <a:latin typeface="微软雅黑" panose="020B0503020204020204" pitchFamily="34" charset="-122"/>
                <a:ea typeface="微软雅黑" panose="020B0503020204020204" pitchFamily="34" charset="-122"/>
              </a:rPr>
              <a:t>数据分析</a:t>
            </a:r>
            <a:endParaRPr lang="zh-CN" altLang="en-US" dirty="0">
              <a:solidFill>
                <a:schemeClr val="accent1"/>
              </a:solidFill>
              <a:latin typeface="微软雅黑" panose="020B0503020204020204" pitchFamily="34" charset="-122"/>
              <a:ea typeface="微软雅黑" panose="020B0503020204020204" pitchFamily="34" charset="-122"/>
            </a:endParaRPr>
          </a:p>
          <a:p>
            <a:endParaRPr lang="zh-CN" altLang="en-US" dirty="0"/>
          </a:p>
        </p:txBody>
      </p:sp>
      <p:sp>
        <p:nvSpPr>
          <p:cNvPr id="7" name="文本框 6">
            <a:extLst>
              <a:ext uri="{FF2B5EF4-FFF2-40B4-BE49-F238E27FC236}">
                <a16:creationId xmlns:a16="http://schemas.microsoft.com/office/drawing/2014/main" id="{9A9AEEE6-4B7D-4F81-FD89-56D3CFBFA045}"/>
              </a:ext>
            </a:extLst>
          </p:cNvPr>
          <p:cNvSpPr txBox="1"/>
          <p:nvPr/>
        </p:nvSpPr>
        <p:spPr>
          <a:xfrm>
            <a:off x="3542271" y="2191265"/>
            <a:ext cx="1960606" cy="1846659"/>
          </a:xfrm>
          <a:prstGeom prst="rect">
            <a:avLst/>
          </a:prstGeom>
          <a:noFill/>
        </p:spPr>
        <p:txBody>
          <a:bodyPr wrap="square" rtlCol="0">
            <a:spAutoFit/>
          </a:bodyPr>
          <a:lstStyle/>
          <a:p>
            <a:r>
              <a:rPr lang="zh-CN" altLang="en-US" sz="1600" dirty="0">
                <a:latin typeface="微软雅黑" panose="020B0503020204020204" pitchFamily="34" charset="-122"/>
                <a:ea typeface="微软雅黑" panose="020B0503020204020204" pitchFamily="34" charset="-122"/>
              </a:rPr>
              <a:t>后台数据分析引擎抓取平台一周热点、情绪曲线与竞品表现，为创意提供数据支持，确保内容的时效性和竞争力。</a:t>
            </a:r>
          </a:p>
          <a:p>
            <a:endParaRPr lang="zh-CN" altLang="en-US" dirty="0"/>
          </a:p>
        </p:txBody>
      </p:sp>
      <p:sp>
        <p:nvSpPr>
          <p:cNvPr id="8" name="文本框 7">
            <a:extLst>
              <a:ext uri="{FF2B5EF4-FFF2-40B4-BE49-F238E27FC236}">
                <a16:creationId xmlns:a16="http://schemas.microsoft.com/office/drawing/2014/main" id="{8A8F16DB-B6D7-C7DA-0FE1-5CAFB2CF08A0}"/>
              </a:ext>
            </a:extLst>
          </p:cNvPr>
          <p:cNvSpPr txBox="1"/>
          <p:nvPr/>
        </p:nvSpPr>
        <p:spPr>
          <a:xfrm>
            <a:off x="6614985" y="1581665"/>
            <a:ext cx="1845276" cy="646331"/>
          </a:xfrm>
          <a:prstGeom prst="rect">
            <a:avLst/>
          </a:prstGeom>
          <a:noFill/>
        </p:spPr>
        <p:txBody>
          <a:bodyPr wrap="square" rtlCol="0">
            <a:spAutoFit/>
          </a:bodyPr>
          <a:lstStyle/>
          <a:p>
            <a:r>
              <a:rPr lang="zh-CN" altLang="en-US" b="1" dirty="0">
                <a:solidFill>
                  <a:schemeClr val="accent1"/>
                </a:solidFill>
                <a:latin typeface="微软雅黑" panose="020B0503020204020204" pitchFamily="34" charset="-122"/>
                <a:ea typeface="微软雅黑" panose="020B0503020204020204" pitchFamily="34" charset="-122"/>
              </a:rPr>
              <a:t>创意生成</a:t>
            </a:r>
            <a:endParaRPr lang="zh-CN" altLang="en-US" dirty="0">
              <a:solidFill>
                <a:schemeClr val="accent1"/>
              </a:solidFill>
              <a:latin typeface="微软雅黑" panose="020B0503020204020204" pitchFamily="34" charset="-122"/>
              <a:ea typeface="微软雅黑" panose="020B0503020204020204" pitchFamily="34" charset="-122"/>
            </a:endParaRPr>
          </a:p>
          <a:p>
            <a:endParaRPr lang="zh-CN" altLang="en-US" dirty="0"/>
          </a:p>
        </p:txBody>
      </p:sp>
      <p:sp>
        <p:nvSpPr>
          <p:cNvPr id="9" name="文本框 8">
            <a:extLst>
              <a:ext uri="{FF2B5EF4-FFF2-40B4-BE49-F238E27FC236}">
                <a16:creationId xmlns:a16="http://schemas.microsoft.com/office/drawing/2014/main" id="{76EDFAED-E2BE-A00B-B6F4-822707E975E8}"/>
              </a:ext>
            </a:extLst>
          </p:cNvPr>
          <p:cNvSpPr txBox="1"/>
          <p:nvPr/>
        </p:nvSpPr>
        <p:spPr>
          <a:xfrm>
            <a:off x="6614984" y="2227996"/>
            <a:ext cx="2529015" cy="2585323"/>
          </a:xfrm>
          <a:prstGeom prst="rect">
            <a:avLst/>
          </a:prstGeom>
          <a:noFill/>
        </p:spPr>
        <p:txBody>
          <a:bodyPr wrap="square" rtlCol="0">
            <a:spAutoFit/>
          </a:bodyPr>
          <a:lstStyle/>
          <a:p>
            <a:r>
              <a:rPr lang="en-US" altLang="zh-CN" sz="1600" dirty="0">
                <a:latin typeface="微软雅黑" panose="020B0503020204020204" pitchFamily="34" charset="-122"/>
                <a:ea typeface="微软雅黑" panose="020B0503020204020204" pitchFamily="34" charset="-122"/>
              </a:rPr>
              <a:t>AI</a:t>
            </a:r>
            <a:r>
              <a:rPr lang="zh-CN" altLang="en-US" sz="1600" dirty="0">
                <a:latin typeface="微软雅黑" panose="020B0503020204020204" pitchFamily="34" charset="-122"/>
                <a:ea typeface="微软雅黑" panose="020B0503020204020204" pitchFamily="34" charset="-122"/>
              </a:rPr>
              <a:t>创意引擎将结构模板、受众偏好与热点语义融合，且根据用户信息生成画像，进行定制的脚本生成，生成三套脚本、分镜草图及标题组合，以及提供同类型爆款视频案例供用户参考，为创作者提供多样化的选择。</a:t>
            </a:r>
          </a:p>
          <a:p>
            <a:endParaRPr lang="zh-CN" altLang="en-US" dirty="0"/>
          </a:p>
        </p:txBody>
      </p:sp>
      <p:sp>
        <p:nvSpPr>
          <p:cNvPr id="10" name="文本框 9">
            <a:extLst>
              <a:ext uri="{FF2B5EF4-FFF2-40B4-BE49-F238E27FC236}">
                <a16:creationId xmlns:a16="http://schemas.microsoft.com/office/drawing/2014/main" id="{883BDA4F-4AAE-237E-A9D5-3D081D869B82}"/>
              </a:ext>
            </a:extLst>
          </p:cNvPr>
          <p:cNvSpPr txBox="1"/>
          <p:nvPr/>
        </p:nvSpPr>
        <p:spPr>
          <a:xfrm>
            <a:off x="9424086" y="1581664"/>
            <a:ext cx="1664044" cy="646331"/>
          </a:xfrm>
          <a:prstGeom prst="rect">
            <a:avLst/>
          </a:prstGeom>
          <a:noFill/>
        </p:spPr>
        <p:txBody>
          <a:bodyPr wrap="square" rtlCol="0">
            <a:spAutoFit/>
          </a:bodyPr>
          <a:lstStyle/>
          <a:p>
            <a:r>
              <a:rPr lang="zh-CN" altLang="en-US" b="1" dirty="0">
                <a:solidFill>
                  <a:schemeClr val="accent1"/>
                </a:solidFill>
                <a:latin typeface="微软雅黑" panose="020B0503020204020204" pitchFamily="34" charset="-122"/>
                <a:ea typeface="微软雅黑" panose="020B0503020204020204" pitchFamily="34" charset="-122"/>
              </a:rPr>
              <a:t>输出报告</a:t>
            </a:r>
            <a:endParaRPr lang="zh-CN" altLang="en-US" dirty="0">
              <a:solidFill>
                <a:schemeClr val="accent1"/>
              </a:solidFill>
              <a:latin typeface="微软雅黑" panose="020B0503020204020204" pitchFamily="34" charset="-122"/>
              <a:ea typeface="微软雅黑" panose="020B0503020204020204" pitchFamily="34" charset="-122"/>
            </a:endParaRPr>
          </a:p>
          <a:p>
            <a:endParaRPr lang="zh-CN" altLang="en-US" dirty="0"/>
          </a:p>
        </p:txBody>
      </p:sp>
      <p:sp>
        <p:nvSpPr>
          <p:cNvPr id="11" name="文本框 10">
            <a:extLst>
              <a:ext uri="{FF2B5EF4-FFF2-40B4-BE49-F238E27FC236}">
                <a16:creationId xmlns:a16="http://schemas.microsoft.com/office/drawing/2014/main" id="{2B40E3CD-1140-6D7A-C3EC-053B6892B2A7}"/>
              </a:ext>
            </a:extLst>
          </p:cNvPr>
          <p:cNvSpPr txBox="1"/>
          <p:nvPr/>
        </p:nvSpPr>
        <p:spPr>
          <a:xfrm>
            <a:off x="9275805" y="2227995"/>
            <a:ext cx="2215979" cy="2585323"/>
          </a:xfrm>
          <a:prstGeom prst="rect">
            <a:avLst/>
          </a:prstGeom>
          <a:noFill/>
        </p:spPr>
        <p:txBody>
          <a:bodyPr wrap="square" rtlCol="0">
            <a:spAutoFit/>
          </a:bodyPr>
          <a:lstStyle/>
          <a:p>
            <a:r>
              <a:rPr lang="zh-CN" altLang="en-US" sz="1600" dirty="0">
                <a:latin typeface="微软雅黑" panose="020B0503020204020204" pitchFamily="34" charset="-122"/>
                <a:ea typeface="微软雅黑" panose="020B0503020204020204" pitchFamily="34" charset="-122"/>
              </a:rPr>
              <a:t>最终输出一份带数据可视化图表背书的</a:t>
            </a:r>
            <a:r>
              <a:rPr lang="en-US" altLang="zh-CN" sz="1600" dirty="0">
                <a:latin typeface="微软雅黑" panose="020B0503020204020204" pitchFamily="34" charset="-122"/>
                <a:ea typeface="微软雅黑" panose="020B0503020204020204" pitchFamily="34" charset="-122"/>
              </a:rPr>
              <a:t>《</a:t>
            </a:r>
            <a:r>
              <a:rPr lang="zh-CN" altLang="en-US" sz="1600" dirty="0">
                <a:latin typeface="微软雅黑" panose="020B0503020204020204" pitchFamily="34" charset="-122"/>
                <a:ea typeface="微软雅黑" panose="020B0503020204020204" pitchFamily="34" charset="-122"/>
              </a:rPr>
              <a:t>创意灵感报告</a:t>
            </a:r>
            <a:r>
              <a:rPr lang="en-US" altLang="zh-CN" sz="1600" dirty="0">
                <a:latin typeface="微软雅黑" panose="020B0503020204020204" pitchFamily="34" charset="-122"/>
                <a:ea typeface="微软雅黑" panose="020B0503020204020204" pitchFamily="34" charset="-122"/>
              </a:rPr>
              <a:t>》</a:t>
            </a:r>
            <a:r>
              <a:rPr lang="zh-CN" altLang="en-US" sz="1600" dirty="0">
                <a:latin typeface="微软雅黑" panose="020B0503020204020204" pitchFamily="34" charset="-122"/>
                <a:ea typeface="微软雅黑" panose="020B0503020204020204" pitchFamily="34" charset="-122"/>
              </a:rPr>
              <a:t>，分析用户灵感，列出详细的数据，找到同类型视频案例，进行灵感加工，灵感总结。创作者可直接据此进入拍摄或二次深加工，提高创作效率。</a:t>
            </a:r>
          </a:p>
          <a:p>
            <a:endParaRPr lang="zh-CN" altLang="en-US" dirty="0"/>
          </a:p>
        </p:txBody>
      </p:sp>
    </p:spTree>
    <p:extLst>
      <p:ext uri="{BB962C8B-B14F-4D97-AF65-F5344CB8AC3E}">
        <p14:creationId xmlns:p14="http://schemas.microsoft.com/office/powerpoint/2010/main" val="612504827"/>
      </p:ext>
    </p:extLst>
  </p:cSld>
  <p:clrMapOvr>
    <a:masterClrMapping/>
  </p:clrMapOvr>
  <p:transition spd="med">
    <p:pull/>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0398BE-F143-24DE-DB73-5FF15FE8135C}"/>
            </a:ext>
          </a:extLst>
        </p:cNvPr>
        <p:cNvGrpSpPr/>
        <p:nvPr/>
      </p:nvGrpSpPr>
      <p:grpSpPr>
        <a:xfrm>
          <a:off x="0" y="0"/>
          <a:ext cx="0" cy="0"/>
          <a:chOff x="0" y="0"/>
          <a:chExt cx="0" cy="0"/>
        </a:xfrm>
      </p:grpSpPr>
      <p:sp>
        <p:nvSpPr>
          <p:cNvPr id="2" name="文本框 1">
            <a:extLst>
              <a:ext uri="{FF2B5EF4-FFF2-40B4-BE49-F238E27FC236}">
                <a16:creationId xmlns:a16="http://schemas.microsoft.com/office/drawing/2014/main" id="{CE9B1B94-6739-CF87-8781-C69338315D79}"/>
              </a:ext>
            </a:extLst>
          </p:cNvPr>
          <p:cNvSpPr txBox="1"/>
          <p:nvPr/>
        </p:nvSpPr>
        <p:spPr>
          <a:xfrm>
            <a:off x="741406" y="297871"/>
            <a:ext cx="5000367" cy="584775"/>
          </a:xfrm>
          <a:prstGeom prst="rect">
            <a:avLst/>
          </a:prstGeom>
          <a:noFill/>
        </p:spPr>
        <p:txBody>
          <a:bodyPr wrap="square" rtlCol="0">
            <a:spAutoFit/>
          </a:bodyPr>
          <a:lstStyle/>
          <a:p>
            <a:r>
              <a:rPr lang="zh-CN" altLang="en-US" sz="3200" b="1" dirty="0">
                <a:solidFill>
                  <a:schemeClr val="accent1"/>
                </a:solidFill>
                <a:latin typeface="微软雅黑" panose="020B0503020204020204" pitchFamily="34" charset="-122"/>
                <a:ea typeface="微软雅黑" panose="020B0503020204020204" pitchFamily="34" charset="-122"/>
              </a:rPr>
              <a:t>工作流</a:t>
            </a:r>
          </a:p>
        </p:txBody>
      </p:sp>
      <p:sp>
        <p:nvSpPr>
          <p:cNvPr id="4" name="文本框 3">
            <a:extLst>
              <a:ext uri="{FF2B5EF4-FFF2-40B4-BE49-F238E27FC236}">
                <a16:creationId xmlns:a16="http://schemas.microsoft.com/office/drawing/2014/main" id="{DCA2DDDC-7852-A772-48F1-3BCCFAAB4203}"/>
              </a:ext>
            </a:extLst>
          </p:cNvPr>
          <p:cNvSpPr txBox="1"/>
          <p:nvPr/>
        </p:nvSpPr>
        <p:spPr>
          <a:xfrm>
            <a:off x="741406" y="957243"/>
            <a:ext cx="2133600" cy="369332"/>
          </a:xfrm>
          <a:prstGeom prst="rect">
            <a:avLst/>
          </a:prstGeom>
          <a:noFill/>
        </p:spPr>
        <p:txBody>
          <a:bodyPr wrap="square" rtlCol="0">
            <a:spAutoFit/>
          </a:bodyPr>
          <a:lstStyle/>
          <a:p>
            <a:r>
              <a:rPr lang="zh-CN" altLang="en-US" b="1" dirty="0">
                <a:solidFill>
                  <a:schemeClr val="accent1"/>
                </a:solidFill>
                <a:latin typeface="微软雅黑" panose="020B0503020204020204" pitchFamily="34" charset="-122"/>
                <a:ea typeface="微软雅黑" panose="020B0503020204020204" pitchFamily="34" charset="-122"/>
              </a:rPr>
              <a:t>用户输入</a:t>
            </a:r>
          </a:p>
        </p:txBody>
      </p:sp>
      <p:sp>
        <p:nvSpPr>
          <p:cNvPr id="6" name="文本框 5">
            <a:extLst>
              <a:ext uri="{FF2B5EF4-FFF2-40B4-BE49-F238E27FC236}">
                <a16:creationId xmlns:a16="http://schemas.microsoft.com/office/drawing/2014/main" id="{4B1F149A-B529-F9E2-7EEE-1A1F67988BCD}"/>
              </a:ext>
            </a:extLst>
          </p:cNvPr>
          <p:cNvSpPr txBox="1"/>
          <p:nvPr/>
        </p:nvSpPr>
        <p:spPr>
          <a:xfrm>
            <a:off x="663145" y="653506"/>
            <a:ext cx="6866239" cy="369332"/>
          </a:xfrm>
          <a:prstGeom prst="rect">
            <a:avLst/>
          </a:prstGeom>
          <a:noFill/>
        </p:spPr>
        <p:txBody>
          <a:bodyPr wrap="square" rtlCol="0">
            <a:spAutoFit/>
          </a:bodyPr>
          <a:lstStyle/>
          <a:p>
            <a:r>
              <a:rPr lang="en-US" altLang="zh-CN" b="1" dirty="0">
                <a:solidFill>
                  <a:schemeClr val="accent1"/>
                </a:solidFill>
              </a:rPr>
              <a:t>________________________________________________________</a:t>
            </a:r>
            <a:endParaRPr lang="zh-CN" altLang="en-US" b="1" dirty="0">
              <a:solidFill>
                <a:schemeClr val="accent1"/>
              </a:solidFill>
            </a:endParaRPr>
          </a:p>
        </p:txBody>
      </p:sp>
      <p:sp>
        <p:nvSpPr>
          <p:cNvPr id="8" name="文本框 7">
            <a:extLst>
              <a:ext uri="{FF2B5EF4-FFF2-40B4-BE49-F238E27FC236}">
                <a16:creationId xmlns:a16="http://schemas.microsoft.com/office/drawing/2014/main" id="{B04CB70D-7273-677B-B19D-3157F1E1657C}"/>
              </a:ext>
            </a:extLst>
          </p:cNvPr>
          <p:cNvSpPr txBox="1"/>
          <p:nvPr/>
        </p:nvSpPr>
        <p:spPr>
          <a:xfrm>
            <a:off x="6911546" y="941851"/>
            <a:ext cx="1845276" cy="646331"/>
          </a:xfrm>
          <a:prstGeom prst="rect">
            <a:avLst/>
          </a:prstGeom>
          <a:noFill/>
        </p:spPr>
        <p:txBody>
          <a:bodyPr wrap="square" rtlCol="0">
            <a:spAutoFit/>
          </a:bodyPr>
          <a:lstStyle/>
          <a:p>
            <a:r>
              <a:rPr lang="zh-CN" altLang="en-US" b="1" dirty="0">
                <a:solidFill>
                  <a:schemeClr val="accent1"/>
                </a:solidFill>
                <a:latin typeface="微软雅黑" panose="020B0503020204020204" pitchFamily="34" charset="-122"/>
                <a:ea typeface="微软雅黑" panose="020B0503020204020204" pitchFamily="34" charset="-122"/>
              </a:rPr>
              <a:t>创意生成</a:t>
            </a:r>
            <a:endParaRPr lang="zh-CN" altLang="en-US" dirty="0">
              <a:solidFill>
                <a:schemeClr val="accent1"/>
              </a:solidFill>
              <a:latin typeface="微软雅黑" panose="020B0503020204020204" pitchFamily="34" charset="-122"/>
              <a:ea typeface="微软雅黑" panose="020B0503020204020204" pitchFamily="34" charset="-122"/>
            </a:endParaRPr>
          </a:p>
          <a:p>
            <a:endParaRPr lang="zh-CN" altLang="en-US" dirty="0"/>
          </a:p>
        </p:txBody>
      </p:sp>
      <p:sp>
        <p:nvSpPr>
          <p:cNvPr id="10" name="文本框 9">
            <a:extLst>
              <a:ext uri="{FF2B5EF4-FFF2-40B4-BE49-F238E27FC236}">
                <a16:creationId xmlns:a16="http://schemas.microsoft.com/office/drawing/2014/main" id="{94EB24E7-4368-5405-1962-0DE56C6EA3B9}"/>
              </a:ext>
            </a:extLst>
          </p:cNvPr>
          <p:cNvSpPr txBox="1"/>
          <p:nvPr/>
        </p:nvSpPr>
        <p:spPr>
          <a:xfrm>
            <a:off x="634313" y="3646101"/>
            <a:ext cx="1664044" cy="646331"/>
          </a:xfrm>
          <a:prstGeom prst="rect">
            <a:avLst/>
          </a:prstGeom>
          <a:noFill/>
        </p:spPr>
        <p:txBody>
          <a:bodyPr wrap="square" rtlCol="0">
            <a:spAutoFit/>
          </a:bodyPr>
          <a:lstStyle/>
          <a:p>
            <a:r>
              <a:rPr lang="zh-CN" altLang="en-US" b="1" dirty="0">
                <a:solidFill>
                  <a:schemeClr val="accent1"/>
                </a:solidFill>
                <a:latin typeface="微软雅黑" panose="020B0503020204020204" pitchFamily="34" charset="-122"/>
                <a:ea typeface="微软雅黑" panose="020B0503020204020204" pitchFamily="34" charset="-122"/>
              </a:rPr>
              <a:t>输出报告</a:t>
            </a:r>
            <a:endParaRPr lang="zh-CN" altLang="en-US" dirty="0">
              <a:solidFill>
                <a:schemeClr val="accent1"/>
              </a:solidFill>
              <a:latin typeface="微软雅黑" panose="020B0503020204020204" pitchFamily="34" charset="-122"/>
              <a:ea typeface="微软雅黑" panose="020B0503020204020204" pitchFamily="34" charset="-122"/>
            </a:endParaRPr>
          </a:p>
          <a:p>
            <a:endParaRPr lang="zh-CN" altLang="en-US" dirty="0"/>
          </a:p>
        </p:txBody>
      </p:sp>
      <p:pic>
        <p:nvPicPr>
          <p:cNvPr id="13" name="图片 12">
            <a:extLst>
              <a:ext uri="{FF2B5EF4-FFF2-40B4-BE49-F238E27FC236}">
                <a16:creationId xmlns:a16="http://schemas.microsoft.com/office/drawing/2014/main" id="{2FA32A48-30B1-09C8-923D-1031DAA9879A}"/>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41406" y="1326575"/>
            <a:ext cx="4151870" cy="2273360"/>
          </a:xfrm>
          <a:prstGeom prst="rect">
            <a:avLst/>
          </a:prstGeom>
        </p:spPr>
      </p:pic>
      <p:pic>
        <p:nvPicPr>
          <p:cNvPr id="15" name="图片 14">
            <a:extLst>
              <a:ext uri="{FF2B5EF4-FFF2-40B4-BE49-F238E27FC236}">
                <a16:creationId xmlns:a16="http://schemas.microsoft.com/office/drawing/2014/main" id="{ADFD93AB-AAE3-2E3A-124B-AAD6634FB71A}"/>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998043" y="1265017"/>
            <a:ext cx="3859427" cy="2334918"/>
          </a:xfrm>
          <a:prstGeom prst="rect">
            <a:avLst/>
          </a:prstGeom>
        </p:spPr>
      </p:pic>
      <p:pic>
        <p:nvPicPr>
          <p:cNvPr id="17" name="图片 16">
            <a:extLst>
              <a:ext uri="{FF2B5EF4-FFF2-40B4-BE49-F238E27FC236}">
                <a16:creationId xmlns:a16="http://schemas.microsoft.com/office/drawing/2014/main" id="{177AD7B1-707F-47FD-A9F3-C35A00519C6B}"/>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4140882" y="3880319"/>
            <a:ext cx="3693302" cy="2519402"/>
          </a:xfrm>
          <a:prstGeom prst="rect">
            <a:avLst/>
          </a:prstGeom>
        </p:spPr>
      </p:pic>
      <p:pic>
        <p:nvPicPr>
          <p:cNvPr id="19" name="图片 18">
            <a:extLst>
              <a:ext uri="{FF2B5EF4-FFF2-40B4-BE49-F238E27FC236}">
                <a16:creationId xmlns:a16="http://schemas.microsoft.com/office/drawing/2014/main" id="{A5FCD708-DE25-AF2E-CA47-B157124B35D3}"/>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319735" y="3994561"/>
            <a:ext cx="3560287" cy="2273360"/>
          </a:xfrm>
          <a:prstGeom prst="rect">
            <a:avLst/>
          </a:prstGeom>
        </p:spPr>
      </p:pic>
      <p:pic>
        <p:nvPicPr>
          <p:cNvPr id="21" name="图片 20">
            <a:extLst>
              <a:ext uri="{FF2B5EF4-FFF2-40B4-BE49-F238E27FC236}">
                <a16:creationId xmlns:a16="http://schemas.microsoft.com/office/drawing/2014/main" id="{BD482E17-738A-7D63-A4BF-9D25E7751BDA}"/>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8095044" y="3880319"/>
            <a:ext cx="3604444" cy="2387602"/>
          </a:xfrm>
          <a:prstGeom prst="rect">
            <a:avLst/>
          </a:prstGeom>
        </p:spPr>
      </p:pic>
      <p:sp>
        <p:nvSpPr>
          <p:cNvPr id="22" name="箭头: 右 42">
            <a:extLst>
              <a:ext uri="{FF2B5EF4-FFF2-40B4-BE49-F238E27FC236}">
                <a16:creationId xmlns:a16="http://schemas.microsoft.com/office/drawing/2014/main" id="{D6A53D7C-D1B0-9473-9B50-C4E57FC48603}"/>
              </a:ext>
            </a:extLst>
          </p:cNvPr>
          <p:cNvSpPr/>
          <p:nvPr/>
        </p:nvSpPr>
        <p:spPr>
          <a:xfrm>
            <a:off x="5422323" y="2108394"/>
            <a:ext cx="960176" cy="768140"/>
          </a:xfrm>
          <a:prstGeom prst="rightArrow">
            <a:avLst/>
          </a:prstGeom>
          <a:solidFill>
            <a:schemeClr val="accent2">
              <a:alpha val="30000"/>
            </a:schemeClr>
          </a:solidFill>
          <a:ln w="6055" cap="flat">
            <a:noFill/>
            <a:prstDash val="solid"/>
            <a:miter/>
          </a:ln>
        </p:spPr>
        <p:txBody>
          <a:bodyPr rtlCol="0" anchor="ctr"/>
          <a:lstStyle/>
          <a:p>
            <a:endParaRPr lang="zh-CN" altLang="en-US">
              <a:latin typeface="Arial" panose="020B0604020202020204" pitchFamily="34" charset="0"/>
              <a:ea typeface="微软雅黑" panose="020B0503020204020204" pitchFamily="34" charset="-122"/>
              <a:sym typeface="Arial" panose="020B0604020202020204" pitchFamily="34" charset="0"/>
            </a:endParaRPr>
          </a:p>
        </p:txBody>
      </p:sp>
    </p:spTree>
    <p:extLst>
      <p:ext uri="{BB962C8B-B14F-4D97-AF65-F5344CB8AC3E}">
        <p14:creationId xmlns:p14="http://schemas.microsoft.com/office/powerpoint/2010/main" val="4109202245"/>
      </p:ext>
    </p:extLst>
  </p:cSld>
  <p:clrMapOvr>
    <a:masterClrMapping/>
  </p:clrMapOvr>
  <p:transition spd="med">
    <p:pull/>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588A1613-63D8-AD83-95CF-5642850E9E80}"/>
              </a:ext>
            </a:extLst>
          </p:cNvPr>
          <p:cNvSpPr txBox="1"/>
          <p:nvPr/>
        </p:nvSpPr>
        <p:spPr>
          <a:xfrm>
            <a:off x="840260" y="555880"/>
            <a:ext cx="5058032" cy="584775"/>
          </a:xfrm>
          <a:prstGeom prst="rect">
            <a:avLst/>
          </a:prstGeom>
          <a:noFill/>
        </p:spPr>
        <p:txBody>
          <a:bodyPr wrap="square" rtlCol="0">
            <a:spAutoFit/>
          </a:bodyPr>
          <a:lstStyle/>
          <a:p>
            <a:r>
              <a:rPr lang="zh-CN" altLang="en-US" sz="3200" b="1" dirty="0">
                <a:solidFill>
                  <a:schemeClr val="accent1"/>
                </a:solidFill>
                <a:latin typeface="微软雅黑" panose="020B0503020204020204" pitchFamily="34" charset="-122"/>
                <a:ea typeface="微软雅黑" panose="020B0503020204020204" pitchFamily="34" charset="-122"/>
              </a:rPr>
              <a:t>灵感热力词云</a:t>
            </a:r>
            <a:r>
              <a:rPr lang="en-US" altLang="zh-CN" sz="3200" b="1" dirty="0">
                <a:solidFill>
                  <a:schemeClr val="accent1"/>
                </a:solidFill>
                <a:latin typeface="微软雅黑" panose="020B0503020204020204" pitchFamily="34" charset="-122"/>
                <a:ea typeface="微软雅黑" panose="020B0503020204020204" pitchFamily="34" charset="-122"/>
              </a:rPr>
              <a:t>+</a:t>
            </a:r>
            <a:r>
              <a:rPr lang="zh-CN" altLang="en-US" sz="3200" b="1" dirty="0">
                <a:solidFill>
                  <a:schemeClr val="accent1"/>
                </a:solidFill>
                <a:latin typeface="微软雅黑" panose="020B0503020204020204" pitchFamily="34" charset="-122"/>
                <a:ea typeface="微软雅黑" panose="020B0503020204020204" pitchFamily="34" charset="-122"/>
              </a:rPr>
              <a:t>个性化脚本</a:t>
            </a:r>
          </a:p>
        </p:txBody>
      </p:sp>
      <p:sp>
        <p:nvSpPr>
          <p:cNvPr id="3" name="文本框 2">
            <a:extLst>
              <a:ext uri="{FF2B5EF4-FFF2-40B4-BE49-F238E27FC236}">
                <a16:creationId xmlns:a16="http://schemas.microsoft.com/office/drawing/2014/main" id="{E8D968E3-5C52-A537-B4E6-30FAA64C2AAF}"/>
              </a:ext>
            </a:extLst>
          </p:cNvPr>
          <p:cNvSpPr txBox="1"/>
          <p:nvPr/>
        </p:nvSpPr>
        <p:spPr>
          <a:xfrm>
            <a:off x="939114" y="1449858"/>
            <a:ext cx="2463113" cy="646331"/>
          </a:xfrm>
          <a:prstGeom prst="rect">
            <a:avLst/>
          </a:prstGeom>
          <a:noFill/>
        </p:spPr>
        <p:txBody>
          <a:bodyPr wrap="square" rtlCol="0">
            <a:spAutoFit/>
          </a:bodyPr>
          <a:lstStyle/>
          <a:p>
            <a:r>
              <a:rPr lang="zh-CN" altLang="en-US" b="1" dirty="0">
                <a:solidFill>
                  <a:schemeClr val="accent1"/>
                </a:solidFill>
                <a:latin typeface="微软雅黑" panose="020B0503020204020204" pitchFamily="34" charset="-122"/>
                <a:ea typeface="微软雅黑" panose="020B0503020204020204" pitchFamily="34" charset="-122"/>
              </a:rPr>
              <a:t>灵感热力分析</a:t>
            </a:r>
            <a:endParaRPr lang="zh-CN" altLang="en-US" dirty="0">
              <a:solidFill>
                <a:schemeClr val="accent1"/>
              </a:solidFill>
              <a:latin typeface="微软雅黑" panose="020B0503020204020204" pitchFamily="34" charset="-122"/>
              <a:ea typeface="微软雅黑" panose="020B0503020204020204" pitchFamily="34" charset="-122"/>
            </a:endParaRPr>
          </a:p>
          <a:p>
            <a:endParaRPr lang="zh-CN" altLang="en-US" dirty="0"/>
          </a:p>
        </p:txBody>
      </p:sp>
      <p:sp>
        <p:nvSpPr>
          <p:cNvPr id="4" name="文本框 3">
            <a:extLst>
              <a:ext uri="{FF2B5EF4-FFF2-40B4-BE49-F238E27FC236}">
                <a16:creationId xmlns:a16="http://schemas.microsoft.com/office/drawing/2014/main" id="{7577D617-3FE9-48F9-0251-AC4877D6BCF5}"/>
              </a:ext>
            </a:extLst>
          </p:cNvPr>
          <p:cNvSpPr txBox="1"/>
          <p:nvPr/>
        </p:nvSpPr>
        <p:spPr>
          <a:xfrm>
            <a:off x="939114" y="1852820"/>
            <a:ext cx="4876800" cy="1107996"/>
          </a:xfrm>
          <a:prstGeom prst="rect">
            <a:avLst/>
          </a:prstGeom>
          <a:noFill/>
        </p:spPr>
        <p:txBody>
          <a:bodyPr wrap="square" rtlCol="0">
            <a:spAutoFit/>
          </a:bodyPr>
          <a:lstStyle/>
          <a:p>
            <a:r>
              <a:rPr lang="zh-CN" altLang="en-US" sz="1600" dirty="0">
                <a:latin typeface="微软雅黑" panose="020B0503020204020204" pitchFamily="34" charset="-122"/>
                <a:ea typeface="微软雅黑" panose="020B0503020204020204" pitchFamily="34" charset="-122"/>
              </a:rPr>
              <a:t>功能一‘灵感热力分析’在用户输入‘宠物萌宠’，‘搞笑视频’后，输出近七日猫狗迷惑行为的高互动词云与情绪峰值时段，为选题提供时间窗口。</a:t>
            </a:r>
          </a:p>
          <a:p>
            <a:endParaRPr lang="zh-CN" altLang="en-US" dirty="0"/>
          </a:p>
        </p:txBody>
      </p:sp>
      <p:sp>
        <p:nvSpPr>
          <p:cNvPr id="5" name="文本框 4">
            <a:extLst>
              <a:ext uri="{FF2B5EF4-FFF2-40B4-BE49-F238E27FC236}">
                <a16:creationId xmlns:a16="http://schemas.microsoft.com/office/drawing/2014/main" id="{7480486F-95C0-7264-5683-AF7BFF097DA6}"/>
              </a:ext>
            </a:extLst>
          </p:cNvPr>
          <p:cNvSpPr txBox="1"/>
          <p:nvPr/>
        </p:nvSpPr>
        <p:spPr>
          <a:xfrm>
            <a:off x="939114" y="3179805"/>
            <a:ext cx="2339546" cy="646331"/>
          </a:xfrm>
          <a:prstGeom prst="rect">
            <a:avLst/>
          </a:prstGeom>
          <a:noFill/>
        </p:spPr>
        <p:txBody>
          <a:bodyPr wrap="square" rtlCol="0">
            <a:spAutoFit/>
          </a:bodyPr>
          <a:lstStyle/>
          <a:p>
            <a:r>
              <a:rPr lang="zh-CN" altLang="en-US" b="1" dirty="0">
                <a:solidFill>
                  <a:schemeClr val="accent1"/>
                </a:solidFill>
                <a:latin typeface="微软雅黑" panose="020B0503020204020204" pitchFamily="34" charset="-122"/>
                <a:ea typeface="微软雅黑" panose="020B0503020204020204" pitchFamily="34" charset="-122"/>
              </a:rPr>
              <a:t>个性化脚本工厂</a:t>
            </a:r>
            <a:endParaRPr lang="zh-CN" altLang="en-US" dirty="0">
              <a:solidFill>
                <a:schemeClr val="accent1"/>
              </a:solidFill>
              <a:latin typeface="微软雅黑" panose="020B0503020204020204" pitchFamily="34" charset="-122"/>
              <a:ea typeface="微软雅黑" panose="020B0503020204020204" pitchFamily="34" charset="-122"/>
            </a:endParaRPr>
          </a:p>
          <a:p>
            <a:endParaRPr lang="zh-CN" altLang="en-US" dirty="0"/>
          </a:p>
        </p:txBody>
      </p:sp>
      <p:sp>
        <p:nvSpPr>
          <p:cNvPr id="6" name="文本框 5">
            <a:extLst>
              <a:ext uri="{FF2B5EF4-FFF2-40B4-BE49-F238E27FC236}">
                <a16:creationId xmlns:a16="http://schemas.microsoft.com/office/drawing/2014/main" id="{41073462-C00D-A92B-6E0E-F76F6FF148AC}"/>
              </a:ext>
            </a:extLst>
          </p:cNvPr>
          <p:cNvSpPr txBox="1"/>
          <p:nvPr/>
        </p:nvSpPr>
        <p:spPr>
          <a:xfrm>
            <a:off x="963827" y="3709419"/>
            <a:ext cx="4876800" cy="2554545"/>
          </a:xfrm>
          <a:prstGeom prst="rect">
            <a:avLst/>
          </a:prstGeom>
          <a:noFill/>
        </p:spPr>
        <p:txBody>
          <a:bodyPr wrap="square" rtlCol="0">
            <a:spAutoFit/>
          </a:bodyPr>
          <a:lstStyle/>
          <a:p>
            <a:r>
              <a:rPr lang="zh-CN" altLang="en-US" sz="1600" dirty="0">
                <a:latin typeface="微软雅黑" panose="020B0503020204020204" pitchFamily="34" charset="-122"/>
                <a:ea typeface="微软雅黑" panose="020B0503020204020204" pitchFamily="34" charset="-122"/>
              </a:rPr>
              <a:t>功能二‘个性化脚本工厂’针对同一‘职场’主题，可为应届生生成‘整顿职场’爽剧节奏，同时为经理人输出‘高效沟通’干货结构，实现同题不同面，满足分层受众。</a:t>
            </a:r>
            <a:endParaRPr lang="en-US" altLang="zh-CN" sz="1600" dirty="0">
              <a:latin typeface="微软雅黑" panose="020B0503020204020204" pitchFamily="34" charset="-122"/>
              <a:ea typeface="微软雅黑" panose="020B0503020204020204" pitchFamily="34" charset="-122"/>
            </a:endParaRPr>
          </a:p>
          <a:p>
            <a:r>
              <a:rPr lang="zh-CN" altLang="en-US" sz="1600" dirty="0">
                <a:latin typeface="微软雅黑" panose="020B0503020204020204" pitchFamily="34" charset="-122"/>
                <a:ea typeface="微软雅黑" panose="020B0503020204020204" pitchFamily="34" charset="-122"/>
              </a:rPr>
              <a:t>针对不同年龄段的用户，生成的脚本实现难易程度也是不同，降低门槛，让年龄较小的创作者也可以实现自己的创意。</a:t>
            </a:r>
            <a:endParaRPr lang="en-US" altLang="zh-CN" sz="1600" dirty="0">
              <a:latin typeface="微软雅黑" panose="020B0503020204020204" pitchFamily="34" charset="-122"/>
              <a:ea typeface="微软雅黑" panose="020B0503020204020204" pitchFamily="34" charset="-122"/>
            </a:endParaRPr>
          </a:p>
          <a:p>
            <a:r>
              <a:rPr lang="zh-CN" altLang="en-US" sz="1600" dirty="0">
                <a:latin typeface="微软雅黑" panose="020B0503020204020204" pitchFamily="34" charset="-122"/>
                <a:ea typeface="微软雅黑" panose="020B0503020204020204" pitchFamily="34" charset="-122"/>
              </a:rPr>
              <a:t>针对不同需求用户，诸如涨粉需求，播放量需求，点赞量需求的用户，我们都可以结合数据和案例给出详细的脚本。</a:t>
            </a:r>
            <a:endParaRPr lang="zh-CN" altLang="en-US" dirty="0"/>
          </a:p>
        </p:txBody>
      </p:sp>
    </p:spTree>
    <p:extLst>
      <p:ext uri="{BB962C8B-B14F-4D97-AF65-F5344CB8AC3E}">
        <p14:creationId xmlns:p14="http://schemas.microsoft.com/office/powerpoint/2010/main" val="1196816276"/>
      </p:ext>
    </p:extLst>
  </p:cSld>
  <p:clrMapOvr>
    <a:masterClrMapping/>
  </p:clrMapOvr>
  <p:transition spd="med">
    <p:pull/>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77915B2A-97B6-EDFD-41DA-0B6CCD0DEEA0}"/>
              </a:ext>
            </a:extLst>
          </p:cNvPr>
          <p:cNvSpPr txBox="1"/>
          <p:nvPr/>
        </p:nvSpPr>
        <p:spPr>
          <a:xfrm>
            <a:off x="782594" y="610285"/>
            <a:ext cx="6096000" cy="584775"/>
          </a:xfrm>
          <a:prstGeom prst="rect">
            <a:avLst/>
          </a:prstGeom>
          <a:noFill/>
        </p:spPr>
        <p:txBody>
          <a:bodyPr wrap="square">
            <a:spAutoFit/>
          </a:bodyPr>
          <a:lstStyle/>
          <a:p>
            <a:pPr>
              <a:buNone/>
            </a:pPr>
            <a:r>
              <a:rPr lang="zh-CN" altLang="en-US" sz="3200" b="1" dirty="0">
                <a:solidFill>
                  <a:schemeClr val="accent1"/>
                </a:solidFill>
                <a:effectLst/>
                <a:latin typeface="微软雅黑" panose="020B0503020204020204" pitchFamily="34" charset="-122"/>
                <a:ea typeface="微软雅黑" panose="020B0503020204020204" pitchFamily="34" charset="-122"/>
              </a:rPr>
              <a:t>成熟模型堆栈加速落地</a:t>
            </a:r>
            <a:endParaRPr lang="zh-CN" altLang="en-US" sz="3200" dirty="0">
              <a:solidFill>
                <a:schemeClr val="accent1"/>
              </a:solidFill>
              <a:latin typeface="微软雅黑" panose="020B0503020204020204" pitchFamily="34" charset="-122"/>
              <a:ea typeface="微软雅黑" panose="020B0503020204020204" pitchFamily="34" charset="-122"/>
            </a:endParaRPr>
          </a:p>
        </p:txBody>
      </p:sp>
      <p:sp>
        <p:nvSpPr>
          <p:cNvPr id="5" name="文本框 4">
            <a:extLst>
              <a:ext uri="{FF2B5EF4-FFF2-40B4-BE49-F238E27FC236}">
                <a16:creationId xmlns:a16="http://schemas.microsoft.com/office/drawing/2014/main" id="{E85AEE42-8EAF-5568-A83A-643D4EA7A107}"/>
              </a:ext>
            </a:extLst>
          </p:cNvPr>
          <p:cNvSpPr txBox="1"/>
          <p:nvPr/>
        </p:nvSpPr>
        <p:spPr>
          <a:xfrm>
            <a:off x="848497" y="1466335"/>
            <a:ext cx="2693773" cy="646331"/>
          </a:xfrm>
          <a:prstGeom prst="rect">
            <a:avLst/>
          </a:prstGeom>
          <a:noFill/>
        </p:spPr>
        <p:txBody>
          <a:bodyPr wrap="square" rtlCol="0">
            <a:spAutoFit/>
          </a:bodyPr>
          <a:lstStyle/>
          <a:p>
            <a:r>
              <a:rPr lang="zh-CN" altLang="en-US" b="1" dirty="0">
                <a:solidFill>
                  <a:schemeClr val="accent1"/>
                </a:solidFill>
                <a:latin typeface="微软雅黑" panose="020B0503020204020204" pitchFamily="34" charset="-122"/>
                <a:ea typeface="微软雅黑" panose="020B0503020204020204" pitchFamily="34" charset="-122"/>
              </a:rPr>
              <a:t>四层堆栈架构</a:t>
            </a:r>
            <a:endParaRPr lang="zh-CN" altLang="en-US" dirty="0">
              <a:solidFill>
                <a:schemeClr val="accent1"/>
              </a:solidFill>
              <a:latin typeface="微软雅黑" panose="020B0503020204020204" pitchFamily="34" charset="-122"/>
              <a:ea typeface="微软雅黑" panose="020B0503020204020204" pitchFamily="34" charset="-122"/>
            </a:endParaRPr>
          </a:p>
          <a:p>
            <a:endParaRPr lang="zh-CN" altLang="en-US" dirty="0"/>
          </a:p>
        </p:txBody>
      </p:sp>
      <p:sp>
        <p:nvSpPr>
          <p:cNvPr id="6" name="文本框 5">
            <a:extLst>
              <a:ext uri="{FF2B5EF4-FFF2-40B4-BE49-F238E27FC236}">
                <a16:creationId xmlns:a16="http://schemas.microsoft.com/office/drawing/2014/main" id="{004E2F77-1EB7-DBAF-8099-90334670C6E8}"/>
              </a:ext>
            </a:extLst>
          </p:cNvPr>
          <p:cNvSpPr txBox="1"/>
          <p:nvPr/>
        </p:nvSpPr>
        <p:spPr>
          <a:xfrm>
            <a:off x="848497" y="1860832"/>
            <a:ext cx="6755027" cy="1107996"/>
          </a:xfrm>
          <a:prstGeom prst="rect">
            <a:avLst/>
          </a:prstGeom>
          <a:noFill/>
        </p:spPr>
        <p:txBody>
          <a:bodyPr wrap="square" rtlCol="0">
            <a:spAutoFit/>
          </a:bodyPr>
          <a:lstStyle/>
          <a:p>
            <a:r>
              <a:rPr lang="zh-CN" altLang="en-US" sz="1600" dirty="0">
                <a:latin typeface="微软雅黑" panose="020B0503020204020204" pitchFamily="34" charset="-122"/>
                <a:ea typeface="微软雅黑" panose="020B0503020204020204" pitchFamily="34" charset="-122"/>
              </a:rPr>
              <a:t>技术架构采用四层堆栈：用户层负责多模态输入，应用层提供</a:t>
            </a:r>
            <a:r>
              <a:rPr lang="en-US" altLang="zh-CN" sz="1600" dirty="0">
                <a:latin typeface="微软雅黑" panose="020B0503020204020204" pitchFamily="34" charset="-122"/>
                <a:ea typeface="微软雅黑" panose="020B0503020204020204" pitchFamily="34" charset="-122"/>
              </a:rPr>
              <a:t>Web</a:t>
            </a:r>
            <a:r>
              <a:rPr lang="zh-CN" altLang="en-US" sz="1600" dirty="0">
                <a:latin typeface="微软雅黑" panose="020B0503020204020204" pitchFamily="34" charset="-122"/>
                <a:ea typeface="微软雅黑" panose="020B0503020204020204" pitchFamily="34" charset="-122"/>
              </a:rPr>
              <a:t>与小程序体验，算法层调用通义千问等大模型完成语义理解与脚本生成，数据层实时接入平台热点</a:t>
            </a:r>
            <a:r>
              <a:rPr lang="en-US" altLang="zh-CN" sz="1600" dirty="0">
                <a:latin typeface="微软雅黑" panose="020B0503020204020204" pitchFamily="34" charset="-122"/>
                <a:ea typeface="微软雅黑" panose="020B0503020204020204" pitchFamily="34" charset="-122"/>
              </a:rPr>
              <a:t>API</a:t>
            </a:r>
            <a:r>
              <a:rPr lang="zh-CN" altLang="en-US" sz="1600" dirty="0">
                <a:latin typeface="微软雅黑" panose="020B0503020204020204" pitchFamily="34" charset="-122"/>
                <a:ea typeface="微软雅黑" panose="020B0503020204020204" pitchFamily="34" charset="-122"/>
              </a:rPr>
              <a:t>、受众画像库及互动指标。</a:t>
            </a:r>
          </a:p>
          <a:p>
            <a:endParaRPr lang="zh-CN" altLang="en-US" dirty="0"/>
          </a:p>
        </p:txBody>
      </p:sp>
      <p:sp>
        <p:nvSpPr>
          <p:cNvPr id="7" name="文本框 6">
            <a:extLst>
              <a:ext uri="{FF2B5EF4-FFF2-40B4-BE49-F238E27FC236}">
                <a16:creationId xmlns:a16="http://schemas.microsoft.com/office/drawing/2014/main" id="{5753A823-2289-FF67-486D-C44FB7DFF47E}"/>
              </a:ext>
            </a:extLst>
          </p:cNvPr>
          <p:cNvSpPr txBox="1"/>
          <p:nvPr/>
        </p:nvSpPr>
        <p:spPr>
          <a:xfrm>
            <a:off x="848497" y="2968828"/>
            <a:ext cx="1935891" cy="646331"/>
          </a:xfrm>
          <a:prstGeom prst="rect">
            <a:avLst/>
          </a:prstGeom>
          <a:noFill/>
        </p:spPr>
        <p:txBody>
          <a:bodyPr wrap="square" rtlCol="0">
            <a:spAutoFit/>
          </a:bodyPr>
          <a:lstStyle/>
          <a:p>
            <a:r>
              <a:rPr lang="zh-CN" altLang="en-US" b="1" dirty="0">
                <a:solidFill>
                  <a:schemeClr val="accent1"/>
                </a:solidFill>
                <a:latin typeface="微软雅黑" panose="020B0503020204020204" pitchFamily="34" charset="-122"/>
                <a:ea typeface="微软雅黑" panose="020B0503020204020204" pitchFamily="34" charset="-122"/>
              </a:rPr>
              <a:t>复用成熟模型</a:t>
            </a:r>
            <a:endParaRPr lang="zh-CN" altLang="en-US" dirty="0">
              <a:solidFill>
                <a:schemeClr val="accent1"/>
              </a:solidFill>
              <a:latin typeface="微软雅黑" panose="020B0503020204020204" pitchFamily="34" charset="-122"/>
              <a:ea typeface="微软雅黑" panose="020B0503020204020204" pitchFamily="34" charset="-122"/>
            </a:endParaRPr>
          </a:p>
          <a:p>
            <a:endParaRPr lang="zh-CN" altLang="en-US" dirty="0"/>
          </a:p>
        </p:txBody>
      </p:sp>
      <p:sp>
        <p:nvSpPr>
          <p:cNvPr id="8" name="文本框 7">
            <a:extLst>
              <a:ext uri="{FF2B5EF4-FFF2-40B4-BE49-F238E27FC236}">
                <a16:creationId xmlns:a16="http://schemas.microsoft.com/office/drawing/2014/main" id="{E84EF2F9-6545-4D4D-E757-820DCB0A1C59}"/>
              </a:ext>
            </a:extLst>
          </p:cNvPr>
          <p:cNvSpPr txBox="1"/>
          <p:nvPr/>
        </p:nvSpPr>
        <p:spPr>
          <a:xfrm>
            <a:off x="848496" y="3394103"/>
            <a:ext cx="6755027" cy="861774"/>
          </a:xfrm>
          <a:prstGeom prst="rect">
            <a:avLst/>
          </a:prstGeom>
          <a:noFill/>
        </p:spPr>
        <p:txBody>
          <a:bodyPr wrap="square" rtlCol="0">
            <a:spAutoFit/>
          </a:bodyPr>
          <a:lstStyle/>
          <a:p>
            <a:r>
              <a:rPr lang="zh-CN" altLang="en-US" sz="1600" dirty="0">
                <a:latin typeface="微软雅黑" panose="020B0503020204020204" pitchFamily="34" charset="-122"/>
                <a:ea typeface="微软雅黑" panose="020B0503020204020204" pitchFamily="34" charset="-122"/>
              </a:rPr>
              <a:t>复用成熟模型降低自研成本，三个月即可完成可商用原型，并预留插件接口供后续扩展至音频、图文等多场景。</a:t>
            </a:r>
          </a:p>
          <a:p>
            <a:endParaRPr lang="zh-CN" altLang="en-US" dirty="0"/>
          </a:p>
        </p:txBody>
      </p:sp>
      <p:sp>
        <p:nvSpPr>
          <p:cNvPr id="9" name="文本框 8">
            <a:extLst>
              <a:ext uri="{FF2B5EF4-FFF2-40B4-BE49-F238E27FC236}">
                <a16:creationId xmlns:a16="http://schemas.microsoft.com/office/drawing/2014/main" id="{BEF5547F-6357-6547-1F29-562E8A6357E9}"/>
              </a:ext>
            </a:extLst>
          </p:cNvPr>
          <p:cNvSpPr txBox="1"/>
          <p:nvPr/>
        </p:nvSpPr>
        <p:spPr>
          <a:xfrm>
            <a:off x="848495" y="4148155"/>
            <a:ext cx="1993556" cy="646331"/>
          </a:xfrm>
          <a:prstGeom prst="rect">
            <a:avLst/>
          </a:prstGeom>
          <a:noFill/>
        </p:spPr>
        <p:txBody>
          <a:bodyPr wrap="square" rtlCol="0">
            <a:spAutoFit/>
          </a:bodyPr>
          <a:lstStyle/>
          <a:p>
            <a:r>
              <a:rPr lang="zh-CN" altLang="en-US" b="1" dirty="0">
                <a:solidFill>
                  <a:schemeClr val="accent1"/>
                </a:solidFill>
                <a:latin typeface="微软雅黑" panose="020B0503020204020204" pitchFamily="34" charset="-122"/>
                <a:ea typeface="微软雅黑" panose="020B0503020204020204" pitchFamily="34" charset="-122"/>
              </a:rPr>
              <a:t>加速落地</a:t>
            </a:r>
            <a:endParaRPr lang="zh-CN" altLang="en-US" dirty="0">
              <a:solidFill>
                <a:schemeClr val="accent1"/>
              </a:solidFill>
              <a:latin typeface="微软雅黑" panose="020B0503020204020204" pitchFamily="34" charset="-122"/>
              <a:ea typeface="微软雅黑" panose="020B0503020204020204" pitchFamily="34" charset="-122"/>
            </a:endParaRPr>
          </a:p>
          <a:p>
            <a:endParaRPr lang="zh-CN" altLang="en-US" dirty="0"/>
          </a:p>
        </p:txBody>
      </p:sp>
      <p:sp>
        <p:nvSpPr>
          <p:cNvPr id="10" name="文本框 9">
            <a:extLst>
              <a:ext uri="{FF2B5EF4-FFF2-40B4-BE49-F238E27FC236}">
                <a16:creationId xmlns:a16="http://schemas.microsoft.com/office/drawing/2014/main" id="{8540E73F-051A-7348-1904-F4E383939BCB}"/>
              </a:ext>
            </a:extLst>
          </p:cNvPr>
          <p:cNvSpPr txBox="1"/>
          <p:nvPr/>
        </p:nvSpPr>
        <p:spPr>
          <a:xfrm>
            <a:off x="848495" y="4546367"/>
            <a:ext cx="6755027" cy="861774"/>
          </a:xfrm>
          <a:prstGeom prst="rect">
            <a:avLst/>
          </a:prstGeom>
          <a:noFill/>
        </p:spPr>
        <p:txBody>
          <a:bodyPr wrap="square" rtlCol="0">
            <a:spAutoFit/>
          </a:bodyPr>
          <a:lstStyle/>
          <a:p>
            <a:r>
              <a:rPr lang="zh-CN" altLang="en-US" sz="1600" dirty="0">
                <a:latin typeface="微软雅黑" panose="020B0503020204020204" pitchFamily="34" charset="-122"/>
                <a:ea typeface="微软雅黑" panose="020B0503020204020204" pitchFamily="34" charset="-122"/>
              </a:rPr>
              <a:t>通过成熟模型的复用，我们能够快速实现产品的落地，为创作者提供及时有效的创意支持。</a:t>
            </a:r>
          </a:p>
          <a:p>
            <a:endParaRPr lang="zh-CN" altLang="en-US" dirty="0"/>
          </a:p>
        </p:txBody>
      </p:sp>
      <p:pic>
        <p:nvPicPr>
          <p:cNvPr id="12" name="图片 11">
            <a:extLst>
              <a:ext uri="{FF2B5EF4-FFF2-40B4-BE49-F238E27FC236}">
                <a16:creationId xmlns:a16="http://schemas.microsoft.com/office/drawing/2014/main" id="{D1B53E19-54CA-5FA7-A418-2374E8E9C89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121668" y="362463"/>
            <a:ext cx="3674636" cy="5354595"/>
          </a:xfrm>
          <a:prstGeom prst="rect">
            <a:avLst/>
          </a:prstGeom>
        </p:spPr>
      </p:pic>
    </p:spTree>
    <p:extLst>
      <p:ext uri="{BB962C8B-B14F-4D97-AF65-F5344CB8AC3E}">
        <p14:creationId xmlns:p14="http://schemas.microsoft.com/office/powerpoint/2010/main" val="87322584"/>
      </p:ext>
    </p:extLst>
  </p:cSld>
  <p:clrMapOvr>
    <a:masterClrMapping/>
  </p:clrMapOvr>
  <p:transition spd="med">
    <p:pull/>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31A615-BF5B-7328-D754-B0D177A40103}"/>
            </a:ext>
          </a:extLst>
        </p:cNvPr>
        <p:cNvGrpSpPr/>
        <p:nvPr/>
      </p:nvGrpSpPr>
      <p:grpSpPr>
        <a:xfrm>
          <a:off x="0" y="0"/>
          <a:ext cx="0" cy="0"/>
          <a:chOff x="0" y="0"/>
          <a:chExt cx="0" cy="0"/>
        </a:xfrm>
      </p:grpSpPr>
      <p:grpSp>
        <p:nvGrpSpPr>
          <p:cNvPr id="7" name="组合 6">
            <a:extLst>
              <a:ext uri="{FF2B5EF4-FFF2-40B4-BE49-F238E27FC236}">
                <a16:creationId xmlns:a16="http://schemas.microsoft.com/office/drawing/2014/main" id="{5B798FC2-C821-7057-8FCF-A7433931DB37}"/>
              </a:ext>
            </a:extLst>
          </p:cNvPr>
          <p:cNvGrpSpPr/>
          <p:nvPr/>
        </p:nvGrpSpPr>
        <p:grpSpPr>
          <a:xfrm>
            <a:off x="846086" y="1279089"/>
            <a:ext cx="8749361" cy="3770264"/>
            <a:chOff x="4337595" y="290321"/>
            <a:chExt cx="8749361" cy="3770264"/>
          </a:xfrm>
        </p:grpSpPr>
        <p:sp>
          <p:nvSpPr>
            <p:cNvPr id="9" name="文本框 8">
              <a:extLst>
                <a:ext uri="{FF2B5EF4-FFF2-40B4-BE49-F238E27FC236}">
                  <a16:creationId xmlns:a16="http://schemas.microsoft.com/office/drawing/2014/main" id="{BC0402D1-184D-366A-D19D-E7DCA940E126}"/>
                </a:ext>
              </a:extLst>
            </p:cNvPr>
            <p:cNvSpPr txBox="1"/>
            <p:nvPr/>
          </p:nvSpPr>
          <p:spPr>
            <a:xfrm>
              <a:off x="4337595" y="290322"/>
              <a:ext cx="8442960" cy="3770263"/>
            </a:xfrm>
            <a:prstGeom prst="rect">
              <a:avLst/>
            </a:prstGeom>
            <a:noFill/>
            <a:scene3d>
              <a:camera prst="orthographicFront">
                <a:rot lat="450000" lon="18143998" rev="0"/>
              </a:camera>
              <a:lightRig rig="brightRoom" dir="t"/>
            </a:scene3d>
            <a:sp3d prstMaterial="matte"/>
          </p:spPr>
          <p:txBody>
            <a:bodyPr wrap="square" rtlCol="0">
              <a:spAutoFit/>
              <a:sp3d extrusionH="342900" prstMaterial="translucentPowder"/>
            </a:bodyPr>
            <a:lstStyle/>
            <a:p>
              <a:r>
                <a:rPr lang="en-US" altLang="zh-CN" sz="23900" b="1" dirty="0">
                  <a:gradFill>
                    <a:gsLst>
                      <a:gs pos="100000">
                        <a:schemeClr val="accent1">
                          <a:lumMod val="20000"/>
                          <a:lumOff val="80000"/>
                        </a:schemeClr>
                      </a:gs>
                      <a:gs pos="4000">
                        <a:schemeClr val="accent2"/>
                      </a:gs>
                    </a:gsLst>
                    <a:path path="circle">
                      <a:fillToRect r="100000" b="100000"/>
                    </a:path>
                  </a:gradFill>
                  <a:effectLst>
                    <a:reflection blurRad="38100" stA="55000" endA="300" endPos="15000" dir="5400000" sy="-100000" algn="bl" rotWithShape="0"/>
                  </a:effectLst>
                  <a:latin typeface="微软雅黑" panose="020B0503020204020204" pitchFamily="34" charset="-122"/>
                  <a:ea typeface="微软雅黑" panose="020B0503020204020204" pitchFamily="34" charset="-122"/>
                </a:rPr>
                <a:t>03</a:t>
              </a:r>
              <a:endParaRPr lang="zh-CN" altLang="en-US" sz="23900" b="1" dirty="0">
                <a:gradFill>
                  <a:gsLst>
                    <a:gs pos="100000">
                      <a:schemeClr val="accent1">
                        <a:lumMod val="20000"/>
                        <a:lumOff val="80000"/>
                      </a:schemeClr>
                    </a:gs>
                    <a:gs pos="4000">
                      <a:schemeClr val="accent2"/>
                    </a:gs>
                  </a:gsLst>
                  <a:path path="circle">
                    <a:fillToRect r="100000" b="100000"/>
                  </a:path>
                </a:gradFill>
                <a:effectLst>
                  <a:reflection blurRad="38100" stA="55000" endA="300" endPos="15000" dir="5400000" sy="-100000" algn="bl" rotWithShape="0"/>
                </a:effectLst>
                <a:latin typeface="微软雅黑" panose="020B0503020204020204" pitchFamily="34" charset="-122"/>
                <a:ea typeface="微软雅黑" panose="020B0503020204020204" pitchFamily="34" charset="-122"/>
              </a:endParaRPr>
            </a:p>
          </p:txBody>
        </p:sp>
        <p:sp>
          <p:nvSpPr>
            <p:cNvPr id="11" name="文本框 10">
              <a:extLst>
                <a:ext uri="{FF2B5EF4-FFF2-40B4-BE49-F238E27FC236}">
                  <a16:creationId xmlns:a16="http://schemas.microsoft.com/office/drawing/2014/main" id="{7225A007-FD0A-5621-692F-5090D7DCD6B0}"/>
                </a:ext>
              </a:extLst>
            </p:cNvPr>
            <p:cNvSpPr txBox="1"/>
            <p:nvPr/>
          </p:nvSpPr>
          <p:spPr>
            <a:xfrm>
              <a:off x="4643996" y="290321"/>
              <a:ext cx="8442960" cy="3770263"/>
            </a:xfrm>
            <a:prstGeom prst="rect">
              <a:avLst/>
            </a:prstGeom>
            <a:noFill/>
            <a:effectLst/>
            <a:scene3d>
              <a:camera prst="orthographicFront">
                <a:rot lat="450000" lon="18143998" rev="0"/>
              </a:camera>
              <a:lightRig rig="contrasting" dir="t"/>
            </a:scene3d>
            <a:sp3d prstMaterial="matte"/>
          </p:spPr>
          <p:txBody>
            <a:bodyPr wrap="square" rtlCol="0">
              <a:spAutoFit/>
              <a:sp3d prstMaterial="translucentPowder"/>
            </a:bodyPr>
            <a:lstStyle/>
            <a:p>
              <a:r>
                <a:rPr lang="en-US" altLang="zh-CN" sz="23900" b="1" dirty="0">
                  <a:gradFill>
                    <a:gsLst>
                      <a:gs pos="100000">
                        <a:schemeClr val="accent1"/>
                      </a:gs>
                      <a:gs pos="4000">
                        <a:schemeClr val="accent2">
                          <a:lumMod val="60000"/>
                          <a:lumOff val="40000"/>
                        </a:schemeClr>
                      </a:gs>
                    </a:gsLst>
                    <a:path path="circle">
                      <a:fillToRect r="100000" b="100000"/>
                    </a:path>
                  </a:gradFill>
                  <a:effectLst>
                    <a:reflection blurRad="38100" stA="55000" endA="300" endPos="15000" dir="5400000" sy="-100000" algn="bl" rotWithShape="0"/>
                  </a:effectLst>
                  <a:latin typeface="微软雅黑" panose="020B0503020204020204" pitchFamily="34" charset="-122"/>
                  <a:ea typeface="微软雅黑" panose="020B0503020204020204" pitchFamily="34" charset="-122"/>
                </a:rPr>
                <a:t>03</a:t>
              </a:r>
              <a:endParaRPr lang="zh-CN" altLang="en-US" sz="23900" b="1" dirty="0">
                <a:gradFill>
                  <a:gsLst>
                    <a:gs pos="100000">
                      <a:schemeClr val="accent1"/>
                    </a:gs>
                    <a:gs pos="4000">
                      <a:schemeClr val="accent2">
                        <a:lumMod val="60000"/>
                        <a:lumOff val="40000"/>
                      </a:schemeClr>
                    </a:gs>
                  </a:gsLst>
                  <a:path path="circle">
                    <a:fillToRect r="100000" b="100000"/>
                  </a:path>
                </a:gradFill>
                <a:effectLst>
                  <a:reflection blurRad="38100" stA="55000" endA="300" endPos="15000" dir="5400000" sy="-100000" algn="bl" rotWithShape="0"/>
                </a:effectLst>
                <a:latin typeface="微软雅黑" panose="020B0503020204020204" pitchFamily="34" charset="-122"/>
                <a:ea typeface="微软雅黑" panose="020B0503020204020204" pitchFamily="34" charset="-122"/>
              </a:endParaRPr>
            </a:p>
          </p:txBody>
        </p:sp>
      </p:grpSp>
      <p:sp>
        <p:nvSpPr>
          <p:cNvPr id="13" name="文本框 12">
            <a:extLst>
              <a:ext uri="{FF2B5EF4-FFF2-40B4-BE49-F238E27FC236}">
                <a16:creationId xmlns:a16="http://schemas.microsoft.com/office/drawing/2014/main" id="{F0BC648D-A7C6-A5BD-AD1E-E88615934A64}"/>
              </a:ext>
            </a:extLst>
          </p:cNvPr>
          <p:cNvSpPr txBox="1"/>
          <p:nvPr/>
        </p:nvSpPr>
        <p:spPr>
          <a:xfrm>
            <a:off x="6506776" y="2520701"/>
            <a:ext cx="3971599" cy="307777"/>
          </a:xfrm>
          <a:prstGeom prst="rect">
            <a:avLst/>
          </a:prstGeom>
          <a:noFill/>
        </p:spPr>
        <p:txBody>
          <a:bodyPr wrap="square" rtlCol="0">
            <a:spAutoFit/>
          </a:bodyPr>
          <a:lstStyle/>
          <a:p>
            <a:pPr algn="dist"/>
            <a:r>
              <a:rPr lang="en-US" altLang="zh-CN" sz="1400" dirty="0">
                <a:solidFill>
                  <a:schemeClr val="accent2"/>
                </a:solidFill>
                <a:latin typeface="微软雅黑" panose="020B0503020204020204" pitchFamily="34" charset="-122"/>
                <a:ea typeface="微软雅黑" panose="020B0503020204020204" pitchFamily="34" charset="-122"/>
              </a:rPr>
              <a:t>PLAN IMPLEMENTATION</a:t>
            </a:r>
            <a:endParaRPr lang="zh-CN" altLang="en-US" sz="1400" dirty="0">
              <a:solidFill>
                <a:schemeClr val="accent2"/>
              </a:solidFill>
              <a:latin typeface="微软雅黑" panose="020B0503020204020204" pitchFamily="34" charset="-122"/>
              <a:ea typeface="微软雅黑" panose="020B0503020204020204" pitchFamily="34" charset="-122"/>
            </a:endParaRPr>
          </a:p>
        </p:txBody>
      </p:sp>
      <p:sp>
        <p:nvSpPr>
          <p:cNvPr id="14" name="任意多边形: 形状 13">
            <a:extLst>
              <a:ext uri="{FF2B5EF4-FFF2-40B4-BE49-F238E27FC236}">
                <a16:creationId xmlns:a16="http://schemas.microsoft.com/office/drawing/2014/main" id="{49380962-F841-6F61-4295-D820B9C12681}"/>
              </a:ext>
            </a:extLst>
          </p:cNvPr>
          <p:cNvSpPr/>
          <p:nvPr/>
        </p:nvSpPr>
        <p:spPr>
          <a:xfrm>
            <a:off x="6506775" y="4064000"/>
            <a:ext cx="4016675" cy="409575"/>
          </a:xfrm>
          <a:custGeom>
            <a:avLst/>
            <a:gdLst>
              <a:gd name="connsiteX0" fmla="*/ 0 w 4114800"/>
              <a:gd name="connsiteY0" fmla="*/ 0 h 409575"/>
              <a:gd name="connsiteX1" fmla="*/ 1181100 w 4114800"/>
              <a:gd name="connsiteY1" fmla="*/ 0 h 409575"/>
              <a:gd name="connsiteX2" fmla="*/ 1181100 w 4114800"/>
              <a:gd name="connsiteY2" fmla="*/ 409575 h 409575"/>
              <a:gd name="connsiteX3" fmla="*/ 1581150 w 4114800"/>
              <a:gd name="connsiteY3" fmla="*/ 9525 h 409575"/>
              <a:gd name="connsiteX4" fmla="*/ 4114800 w 4114800"/>
              <a:gd name="connsiteY4" fmla="*/ 9525 h 409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114800" h="409575">
                <a:moveTo>
                  <a:pt x="0" y="0"/>
                </a:moveTo>
                <a:lnTo>
                  <a:pt x="1181100" y="0"/>
                </a:lnTo>
                <a:lnTo>
                  <a:pt x="1181100" y="409575"/>
                </a:lnTo>
                <a:lnTo>
                  <a:pt x="1581150" y="9525"/>
                </a:lnTo>
                <a:lnTo>
                  <a:pt x="4114800" y="9525"/>
                </a:lnTo>
              </a:path>
            </a:pathLst>
          </a:cu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solidFill>
                <a:schemeClr val="accent1"/>
              </a:solidFill>
              <a:latin typeface="微软雅黑" panose="020B0503020204020204" pitchFamily="34" charset="-122"/>
              <a:ea typeface="微软雅黑" panose="020B0503020204020204" pitchFamily="34" charset="-122"/>
            </a:endParaRPr>
          </a:p>
        </p:txBody>
      </p:sp>
      <p:sp>
        <p:nvSpPr>
          <p:cNvPr id="3" name="文本框 2">
            <a:extLst>
              <a:ext uri="{FF2B5EF4-FFF2-40B4-BE49-F238E27FC236}">
                <a16:creationId xmlns:a16="http://schemas.microsoft.com/office/drawing/2014/main" id="{6D85957F-EFD5-17C3-09F3-4CB1CEAD8F60}"/>
              </a:ext>
            </a:extLst>
          </p:cNvPr>
          <p:cNvSpPr txBox="1"/>
          <p:nvPr/>
        </p:nvSpPr>
        <p:spPr>
          <a:xfrm>
            <a:off x="6292591" y="3013501"/>
            <a:ext cx="4565689" cy="830997"/>
          </a:xfrm>
          <a:prstGeom prst="rect">
            <a:avLst/>
          </a:prstGeom>
          <a:noFill/>
        </p:spPr>
        <p:txBody>
          <a:bodyPr wrap="square" rtlCol="0">
            <a:spAutoFit/>
          </a:bodyPr>
          <a:lstStyle/>
          <a:p>
            <a:r>
              <a:rPr lang="zh-CN" altLang="en-US" sz="4800" b="1" dirty="0">
                <a:solidFill>
                  <a:schemeClr val="accent1"/>
                </a:solidFill>
                <a:latin typeface="微软雅黑" panose="020B0503020204020204" pitchFamily="34" charset="-122"/>
                <a:ea typeface="微软雅黑" panose="020B0503020204020204" pitchFamily="34" charset="-122"/>
              </a:rPr>
              <a:t>护城河与赢面</a:t>
            </a:r>
          </a:p>
        </p:txBody>
      </p:sp>
    </p:spTree>
    <p:extLst>
      <p:ext uri="{BB962C8B-B14F-4D97-AF65-F5344CB8AC3E}">
        <p14:creationId xmlns:p14="http://schemas.microsoft.com/office/powerpoint/2010/main" val="2673204427"/>
      </p:ext>
    </p:extLst>
  </p:cSld>
  <p:clrMapOvr>
    <a:masterClrMapping/>
  </p:clrMapOvr>
  <p:transition spd="med">
    <p:pull/>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8200A2A1-987C-1A5E-4A30-DC9898AD0129}"/>
              </a:ext>
            </a:extLst>
          </p:cNvPr>
          <p:cNvSpPr txBox="1"/>
          <p:nvPr/>
        </p:nvSpPr>
        <p:spPr>
          <a:xfrm>
            <a:off x="815546" y="401248"/>
            <a:ext cx="4374292" cy="861774"/>
          </a:xfrm>
          <a:prstGeom prst="rect">
            <a:avLst/>
          </a:prstGeom>
          <a:noFill/>
        </p:spPr>
        <p:txBody>
          <a:bodyPr wrap="square" rtlCol="0">
            <a:spAutoFit/>
          </a:bodyPr>
          <a:lstStyle/>
          <a:p>
            <a:r>
              <a:rPr lang="en-US" altLang="zh-CN" sz="3200" b="1" dirty="0">
                <a:solidFill>
                  <a:schemeClr val="accent1"/>
                </a:solidFill>
                <a:latin typeface="微软雅黑" panose="020B0503020204020204" pitchFamily="34" charset="-122"/>
                <a:ea typeface="微软雅黑" panose="020B0503020204020204" pitchFamily="34" charset="-122"/>
              </a:rPr>
              <a:t>F2P</a:t>
            </a:r>
            <a:r>
              <a:rPr lang="zh-CN" altLang="en-US" sz="3200" b="1" dirty="0">
                <a:solidFill>
                  <a:schemeClr val="accent1"/>
                </a:solidFill>
                <a:latin typeface="微软雅黑" panose="020B0503020204020204" pitchFamily="34" charset="-122"/>
                <a:ea typeface="微软雅黑" panose="020B0503020204020204" pitchFamily="34" charset="-122"/>
              </a:rPr>
              <a:t>商业模式清晰变现</a:t>
            </a:r>
            <a:endParaRPr lang="zh-CN" altLang="en-US" sz="3200" dirty="0">
              <a:solidFill>
                <a:schemeClr val="accent1"/>
              </a:solidFill>
              <a:latin typeface="微软雅黑" panose="020B0503020204020204" pitchFamily="34" charset="-122"/>
              <a:ea typeface="微软雅黑" panose="020B0503020204020204" pitchFamily="34" charset="-122"/>
            </a:endParaRPr>
          </a:p>
          <a:p>
            <a:endParaRPr lang="zh-CN" altLang="en-US" dirty="0"/>
          </a:p>
        </p:txBody>
      </p:sp>
      <p:sp>
        <p:nvSpPr>
          <p:cNvPr id="3" name="文本框 2">
            <a:extLst>
              <a:ext uri="{FF2B5EF4-FFF2-40B4-BE49-F238E27FC236}">
                <a16:creationId xmlns:a16="http://schemas.microsoft.com/office/drawing/2014/main" id="{89857501-4E0B-FD04-816D-1A3131D15535}"/>
              </a:ext>
            </a:extLst>
          </p:cNvPr>
          <p:cNvSpPr txBox="1"/>
          <p:nvPr/>
        </p:nvSpPr>
        <p:spPr>
          <a:xfrm>
            <a:off x="1013254" y="1894703"/>
            <a:ext cx="1713470" cy="646331"/>
          </a:xfrm>
          <a:prstGeom prst="rect">
            <a:avLst/>
          </a:prstGeom>
          <a:noFill/>
        </p:spPr>
        <p:txBody>
          <a:bodyPr wrap="square" rtlCol="0">
            <a:spAutoFit/>
          </a:bodyPr>
          <a:lstStyle/>
          <a:p>
            <a:r>
              <a:rPr lang="zh-CN" altLang="en-US" b="1" dirty="0">
                <a:solidFill>
                  <a:schemeClr val="accent1"/>
                </a:solidFill>
                <a:latin typeface="微软雅黑" panose="020B0503020204020204" pitchFamily="34" charset="-122"/>
                <a:ea typeface="微软雅黑" panose="020B0503020204020204" pitchFamily="34" charset="-122"/>
              </a:rPr>
              <a:t>基础版免费</a:t>
            </a:r>
            <a:endParaRPr lang="zh-CN" altLang="en-US" dirty="0">
              <a:solidFill>
                <a:schemeClr val="accent1"/>
              </a:solidFill>
              <a:latin typeface="微软雅黑" panose="020B0503020204020204" pitchFamily="34" charset="-122"/>
              <a:ea typeface="微软雅黑" panose="020B0503020204020204" pitchFamily="34" charset="-122"/>
            </a:endParaRPr>
          </a:p>
          <a:p>
            <a:endParaRPr lang="zh-CN" altLang="en-US" dirty="0"/>
          </a:p>
        </p:txBody>
      </p:sp>
      <p:sp>
        <p:nvSpPr>
          <p:cNvPr id="4" name="文本框 3">
            <a:extLst>
              <a:ext uri="{FF2B5EF4-FFF2-40B4-BE49-F238E27FC236}">
                <a16:creationId xmlns:a16="http://schemas.microsoft.com/office/drawing/2014/main" id="{3C626F1A-DEAD-7919-B9E5-6DB880DA73B1}"/>
              </a:ext>
            </a:extLst>
          </p:cNvPr>
          <p:cNvSpPr txBox="1"/>
          <p:nvPr/>
        </p:nvSpPr>
        <p:spPr>
          <a:xfrm>
            <a:off x="1013254" y="2296291"/>
            <a:ext cx="1820562" cy="1600438"/>
          </a:xfrm>
          <a:prstGeom prst="rect">
            <a:avLst/>
          </a:prstGeom>
          <a:noFill/>
        </p:spPr>
        <p:txBody>
          <a:bodyPr wrap="square" rtlCol="0">
            <a:spAutoFit/>
          </a:bodyPr>
          <a:lstStyle/>
          <a:p>
            <a:r>
              <a:rPr lang="zh-CN" altLang="en-US" sz="1600" dirty="0">
                <a:latin typeface="微软雅黑" panose="020B0503020204020204" pitchFamily="34" charset="-122"/>
                <a:ea typeface="微软雅黑" panose="020B0503020204020204" pitchFamily="34" charset="-122"/>
              </a:rPr>
              <a:t>基础版免费提供热点灵感与简易脚本，降低试用门槛，吸引更多用户尝试我们的产品。</a:t>
            </a:r>
          </a:p>
          <a:p>
            <a:endParaRPr lang="zh-CN" altLang="en-US" dirty="0"/>
          </a:p>
        </p:txBody>
      </p:sp>
      <p:sp>
        <p:nvSpPr>
          <p:cNvPr id="5" name="文本框 4">
            <a:extLst>
              <a:ext uri="{FF2B5EF4-FFF2-40B4-BE49-F238E27FC236}">
                <a16:creationId xmlns:a16="http://schemas.microsoft.com/office/drawing/2014/main" id="{F9ACD16D-A187-9EFF-5BEF-039546410D37}"/>
              </a:ext>
            </a:extLst>
          </p:cNvPr>
          <p:cNvSpPr txBox="1"/>
          <p:nvPr/>
        </p:nvSpPr>
        <p:spPr>
          <a:xfrm>
            <a:off x="4366054" y="1894703"/>
            <a:ext cx="2224216" cy="646331"/>
          </a:xfrm>
          <a:prstGeom prst="rect">
            <a:avLst/>
          </a:prstGeom>
          <a:noFill/>
        </p:spPr>
        <p:txBody>
          <a:bodyPr wrap="square" rtlCol="0">
            <a:spAutoFit/>
          </a:bodyPr>
          <a:lstStyle/>
          <a:p>
            <a:r>
              <a:rPr lang="zh-CN" altLang="en-US" b="1" dirty="0">
                <a:solidFill>
                  <a:schemeClr val="accent1"/>
                </a:solidFill>
                <a:latin typeface="微软雅黑" panose="020B0503020204020204" pitchFamily="34" charset="-122"/>
                <a:ea typeface="微软雅黑" panose="020B0503020204020204" pitchFamily="34" charset="-122"/>
              </a:rPr>
              <a:t>专业版订阅</a:t>
            </a:r>
            <a:endParaRPr lang="zh-CN" altLang="en-US" dirty="0">
              <a:solidFill>
                <a:schemeClr val="accent1"/>
              </a:solidFill>
              <a:latin typeface="微软雅黑" panose="020B0503020204020204" pitchFamily="34" charset="-122"/>
              <a:ea typeface="微软雅黑" panose="020B0503020204020204" pitchFamily="34" charset="-122"/>
            </a:endParaRPr>
          </a:p>
          <a:p>
            <a:endParaRPr lang="zh-CN" altLang="en-US" dirty="0"/>
          </a:p>
        </p:txBody>
      </p:sp>
      <p:sp>
        <p:nvSpPr>
          <p:cNvPr id="6" name="文本框 5">
            <a:extLst>
              <a:ext uri="{FF2B5EF4-FFF2-40B4-BE49-F238E27FC236}">
                <a16:creationId xmlns:a16="http://schemas.microsoft.com/office/drawing/2014/main" id="{E636D237-5027-63A0-FE50-6380243B78FD}"/>
              </a:ext>
            </a:extLst>
          </p:cNvPr>
          <p:cNvSpPr txBox="1"/>
          <p:nvPr/>
        </p:nvSpPr>
        <p:spPr>
          <a:xfrm>
            <a:off x="4324866" y="2296291"/>
            <a:ext cx="2356022" cy="1600438"/>
          </a:xfrm>
          <a:prstGeom prst="rect">
            <a:avLst/>
          </a:prstGeom>
          <a:noFill/>
        </p:spPr>
        <p:txBody>
          <a:bodyPr wrap="square" rtlCol="0">
            <a:spAutoFit/>
          </a:bodyPr>
          <a:lstStyle/>
          <a:p>
            <a:r>
              <a:rPr lang="zh-CN" altLang="en-US" sz="1600" dirty="0">
                <a:latin typeface="微软雅黑" panose="020B0503020204020204" pitchFamily="34" charset="-122"/>
                <a:ea typeface="微软雅黑" panose="020B0503020204020204" pitchFamily="34" charset="-122"/>
              </a:rPr>
              <a:t>专业版按月订阅解锁深度行业报告、爆款模板库与多账号数据追踪，为专业创作者提供更深入的创意支持。</a:t>
            </a:r>
          </a:p>
          <a:p>
            <a:endParaRPr lang="zh-CN" altLang="en-US" dirty="0"/>
          </a:p>
        </p:txBody>
      </p:sp>
      <p:sp>
        <p:nvSpPr>
          <p:cNvPr id="7" name="文本框 6">
            <a:extLst>
              <a:ext uri="{FF2B5EF4-FFF2-40B4-BE49-F238E27FC236}">
                <a16:creationId xmlns:a16="http://schemas.microsoft.com/office/drawing/2014/main" id="{00CC0883-D797-A81A-5D1A-7C083869A443}"/>
              </a:ext>
            </a:extLst>
          </p:cNvPr>
          <p:cNvSpPr txBox="1"/>
          <p:nvPr/>
        </p:nvSpPr>
        <p:spPr>
          <a:xfrm>
            <a:off x="8122508" y="1894703"/>
            <a:ext cx="1655806" cy="646331"/>
          </a:xfrm>
          <a:prstGeom prst="rect">
            <a:avLst/>
          </a:prstGeom>
          <a:noFill/>
        </p:spPr>
        <p:txBody>
          <a:bodyPr wrap="square" rtlCol="0">
            <a:spAutoFit/>
          </a:bodyPr>
          <a:lstStyle/>
          <a:p>
            <a:r>
              <a:rPr lang="zh-CN" altLang="en-US" b="1" dirty="0">
                <a:solidFill>
                  <a:schemeClr val="accent1"/>
                </a:solidFill>
                <a:latin typeface="微软雅黑" panose="020B0503020204020204" pitchFamily="34" charset="-122"/>
                <a:ea typeface="微软雅黑" panose="020B0503020204020204" pitchFamily="34" charset="-122"/>
              </a:rPr>
              <a:t>旗舰版服务</a:t>
            </a:r>
            <a:endParaRPr lang="zh-CN" altLang="en-US" dirty="0">
              <a:solidFill>
                <a:schemeClr val="accent1"/>
              </a:solidFill>
              <a:latin typeface="微软雅黑" panose="020B0503020204020204" pitchFamily="34" charset="-122"/>
              <a:ea typeface="微软雅黑" panose="020B0503020204020204" pitchFamily="34" charset="-122"/>
            </a:endParaRPr>
          </a:p>
          <a:p>
            <a:endParaRPr lang="zh-CN" altLang="en-US" dirty="0"/>
          </a:p>
        </p:txBody>
      </p:sp>
      <p:sp>
        <p:nvSpPr>
          <p:cNvPr id="8" name="文本框 7">
            <a:extLst>
              <a:ext uri="{FF2B5EF4-FFF2-40B4-BE49-F238E27FC236}">
                <a16:creationId xmlns:a16="http://schemas.microsoft.com/office/drawing/2014/main" id="{A8C08784-5550-3A3D-5D2E-353150C2398C}"/>
              </a:ext>
            </a:extLst>
          </p:cNvPr>
          <p:cNvSpPr txBox="1"/>
          <p:nvPr/>
        </p:nvSpPr>
        <p:spPr>
          <a:xfrm>
            <a:off x="8089556" y="2356022"/>
            <a:ext cx="2356022" cy="1354217"/>
          </a:xfrm>
          <a:prstGeom prst="rect">
            <a:avLst/>
          </a:prstGeom>
          <a:noFill/>
        </p:spPr>
        <p:txBody>
          <a:bodyPr wrap="square" rtlCol="0">
            <a:spAutoFit/>
          </a:bodyPr>
          <a:lstStyle/>
          <a:p>
            <a:r>
              <a:rPr lang="zh-CN" altLang="en-US" sz="1600" dirty="0">
                <a:latin typeface="微软雅黑" panose="020B0503020204020204" pitchFamily="34" charset="-122"/>
                <a:ea typeface="微软雅黑" panose="020B0503020204020204" pitchFamily="34" charset="-122"/>
              </a:rPr>
              <a:t>旗舰版提供专属顾问式复盘与</a:t>
            </a:r>
            <a:r>
              <a:rPr lang="en-US" altLang="zh-CN" sz="1600" dirty="0">
                <a:latin typeface="微软雅黑" panose="020B0503020204020204" pitchFamily="34" charset="-122"/>
                <a:ea typeface="微软雅黑" panose="020B0503020204020204" pitchFamily="34" charset="-122"/>
              </a:rPr>
              <a:t>API</a:t>
            </a:r>
            <a:r>
              <a:rPr lang="zh-CN" altLang="en-US" sz="1600" dirty="0">
                <a:latin typeface="微软雅黑" panose="020B0503020204020204" pitchFamily="34" charset="-122"/>
                <a:ea typeface="微软雅黑" panose="020B0503020204020204" pitchFamily="34" charset="-122"/>
              </a:rPr>
              <a:t>接入，面向</a:t>
            </a:r>
            <a:r>
              <a:rPr lang="en-US" altLang="zh-CN" sz="1600" dirty="0">
                <a:latin typeface="微软雅黑" panose="020B0503020204020204" pitchFamily="34" charset="-122"/>
                <a:ea typeface="微软雅黑" panose="020B0503020204020204" pitchFamily="34" charset="-122"/>
              </a:rPr>
              <a:t>MCN</a:t>
            </a:r>
            <a:r>
              <a:rPr lang="zh-CN" altLang="en-US" sz="1600" dirty="0">
                <a:latin typeface="微软雅黑" panose="020B0503020204020204" pitchFamily="34" charset="-122"/>
                <a:ea typeface="微软雅黑" panose="020B0503020204020204" pitchFamily="34" charset="-122"/>
              </a:rPr>
              <a:t>及品牌内容团队，满足高端用户的需求。</a:t>
            </a:r>
          </a:p>
          <a:p>
            <a:endParaRPr lang="zh-CN" altLang="en-US" dirty="0"/>
          </a:p>
        </p:txBody>
      </p:sp>
      <p:sp>
        <p:nvSpPr>
          <p:cNvPr id="9" name="文本框 8">
            <a:extLst>
              <a:ext uri="{FF2B5EF4-FFF2-40B4-BE49-F238E27FC236}">
                <a16:creationId xmlns:a16="http://schemas.microsoft.com/office/drawing/2014/main" id="{1CEB5E8D-C3A2-D116-7D78-C664BF702C42}"/>
              </a:ext>
            </a:extLst>
          </p:cNvPr>
          <p:cNvSpPr txBox="1"/>
          <p:nvPr/>
        </p:nvSpPr>
        <p:spPr>
          <a:xfrm rot="5400000">
            <a:off x="433514" y="4655299"/>
            <a:ext cx="6351373" cy="369332"/>
          </a:xfrm>
          <a:prstGeom prst="rect">
            <a:avLst/>
          </a:prstGeom>
          <a:noFill/>
        </p:spPr>
        <p:txBody>
          <a:bodyPr wrap="square" rtlCol="0">
            <a:spAutoFit/>
          </a:bodyPr>
          <a:lstStyle/>
          <a:p>
            <a:r>
              <a:rPr lang="en-US" altLang="zh-CN" b="1" dirty="0">
                <a:solidFill>
                  <a:schemeClr val="accent1"/>
                </a:solidFill>
              </a:rPr>
              <a:t>_____________________________</a:t>
            </a:r>
            <a:endParaRPr lang="zh-CN" altLang="en-US" b="1" dirty="0">
              <a:solidFill>
                <a:schemeClr val="accent1"/>
              </a:solidFill>
            </a:endParaRPr>
          </a:p>
        </p:txBody>
      </p:sp>
      <p:sp>
        <p:nvSpPr>
          <p:cNvPr id="10" name="文本框 9">
            <a:extLst>
              <a:ext uri="{FF2B5EF4-FFF2-40B4-BE49-F238E27FC236}">
                <a16:creationId xmlns:a16="http://schemas.microsoft.com/office/drawing/2014/main" id="{CB2BD880-7391-B53A-A3FF-E8F62BF9361C}"/>
              </a:ext>
            </a:extLst>
          </p:cNvPr>
          <p:cNvSpPr txBox="1"/>
          <p:nvPr/>
        </p:nvSpPr>
        <p:spPr>
          <a:xfrm rot="5400000">
            <a:off x="4198204" y="4655299"/>
            <a:ext cx="6351373" cy="369332"/>
          </a:xfrm>
          <a:prstGeom prst="rect">
            <a:avLst/>
          </a:prstGeom>
          <a:noFill/>
        </p:spPr>
        <p:txBody>
          <a:bodyPr wrap="square" rtlCol="0">
            <a:spAutoFit/>
          </a:bodyPr>
          <a:lstStyle/>
          <a:p>
            <a:r>
              <a:rPr lang="en-US" altLang="zh-CN" b="1" dirty="0">
                <a:solidFill>
                  <a:schemeClr val="accent1"/>
                </a:solidFill>
              </a:rPr>
              <a:t>_____________________________</a:t>
            </a:r>
            <a:endParaRPr lang="zh-CN" altLang="en-US" b="1" dirty="0">
              <a:solidFill>
                <a:schemeClr val="accent1"/>
              </a:solidFill>
            </a:endParaRPr>
          </a:p>
        </p:txBody>
      </p:sp>
      <p:sp>
        <p:nvSpPr>
          <p:cNvPr id="11" name="文本框 10">
            <a:extLst>
              <a:ext uri="{FF2B5EF4-FFF2-40B4-BE49-F238E27FC236}">
                <a16:creationId xmlns:a16="http://schemas.microsoft.com/office/drawing/2014/main" id="{58222D9D-9E20-0280-37F6-D7D29E96DAC9}"/>
              </a:ext>
            </a:extLst>
          </p:cNvPr>
          <p:cNvSpPr txBox="1"/>
          <p:nvPr/>
        </p:nvSpPr>
        <p:spPr>
          <a:xfrm>
            <a:off x="1112108" y="3710239"/>
            <a:ext cx="1713470" cy="461665"/>
          </a:xfrm>
          <a:prstGeom prst="rect">
            <a:avLst/>
          </a:prstGeom>
          <a:noFill/>
        </p:spPr>
        <p:txBody>
          <a:bodyPr wrap="square" rtlCol="0">
            <a:spAutoFit/>
          </a:bodyPr>
          <a:lstStyle/>
          <a:p>
            <a:r>
              <a:rPr lang="zh-CN" altLang="en-US" sz="1200" dirty="0">
                <a:solidFill>
                  <a:schemeClr val="tx1">
                    <a:lumMod val="65000"/>
                    <a:lumOff val="35000"/>
                  </a:schemeClr>
                </a:solidFill>
                <a:latin typeface="微软雅黑" panose="020B0503020204020204" pitchFamily="34" charset="-122"/>
                <a:ea typeface="微软雅黑" panose="020B0503020204020204" pitchFamily="34" charset="-122"/>
              </a:rPr>
              <a:t>针对于小型个人创作者和在校学生的版本</a:t>
            </a:r>
          </a:p>
        </p:txBody>
      </p:sp>
      <p:sp>
        <p:nvSpPr>
          <p:cNvPr id="13" name="文本框 12">
            <a:extLst>
              <a:ext uri="{FF2B5EF4-FFF2-40B4-BE49-F238E27FC236}">
                <a16:creationId xmlns:a16="http://schemas.microsoft.com/office/drawing/2014/main" id="{7EE7843C-F632-4F34-CD9E-9EBFCEEA4A66}"/>
              </a:ext>
            </a:extLst>
          </p:cNvPr>
          <p:cNvSpPr txBox="1"/>
          <p:nvPr/>
        </p:nvSpPr>
        <p:spPr>
          <a:xfrm>
            <a:off x="4366054" y="3734603"/>
            <a:ext cx="2356022" cy="461665"/>
          </a:xfrm>
          <a:prstGeom prst="rect">
            <a:avLst/>
          </a:prstGeom>
          <a:noFill/>
        </p:spPr>
        <p:txBody>
          <a:bodyPr wrap="square" rtlCol="0">
            <a:spAutoFit/>
          </a:bodyPr>
          <a:lstStyle/>
          <a:p>
            <a:r>
              <a:rPr lang="zh-CN" altLang="en-US" sz="1200" dirty="0">
                <a:solidFill>
                  <a:schemeClr val="tx1">
                    <a:lumMod val="65000"/>
                    <a:lumOff val="35000"/>
                  </a:schemeClr>
                </a:solidFill>
                <a:latin typeface="微软雅黑" panose="020B0503020204020204" pitchFamily="34" charset="-122"/>
                <a:ea typeface="微软雅黑" panose="020B0503020204020204" pitchFamily="34" charset="-122"/>
              </a:rPr>
              <a:t>对于拥有一定付费能力的创作博主和小型团队</a:t>
            </a:r>
          </a:p>
        </p:txBody>
      </p:sp>
      <p:sp>
        <p:nvSpPr>
          <p:cNvPr id="14" name="文本框 13">
            <a:extLst>
              <a:ext uri="{FF2B5EF4-FFF2-40B4-BE49-F238E27FC236}">
                <a16:creationId xmlns:a16="http://schemas.microsoft.com/office/drawing/2014/main" id="{519D88D2-B1AE-CA63-47FE-E367ABB56F53}"/>
              </a:ext>
            </a:extLst>
          </p:cNvPr>
          <p:cNvSpPr txBox="1"/>
          <p:nvPr/>
        </p:nvSpPr>
        <p:spPr>
          <a:xfrm>
            <a:off x="8122508" y="3734602"/>
            <a:ext cx="2257168" cy="461665"/>
          </a:xfrm>
          <a:prstGeom prst="rect">
            <a:avLst/>
          </a:prstGeom>
          <a:noFill/>
        </p:spPr>
        <p:txBody>
          <a:bodyPr wrap="square" rtlCol="0">
            <a:spAutoFit/>
          </a:bodyPr>
          <a:lstStyle/>
          <a:p>
            <a:r>
              <a:rPr lang="zh-CN" altLang="en-US" sz="1200" dirty="0">
                <a:solidFill>
                  <a:schemeClr val="tx1">
                    <a:lumMod val="65000"/>
                    <a:lumOff val="35000"/>
                  </a:schemeClr>
                </a:solidFill>
                <a:latin typeface="微软雅黑" panose="020B0503020204020204" pitchFamily="34" charset="-122"/>
                <a:ea typeface="微软雅黑" panose="020B0503020204020204" pitchFamily="34" charset="-122"/>
              </a:rPr>
              <a:t>对于大型的创作团队和百万粉丝大</a:t>
            </a:r>
            <a:r>
              <a:rPr lang="en-US" altLang="zh-CN" sz="1200" dirty="0">
                <a:solidFill>
                  <a:schemeClr val="tx1">
                    <a:lumMod val="65000"/>
                    <a:lumOff val="35000"/>
                  </a:schemeClr>
                </a:solidFill>
                <a:latin typeface="微软雅黑" panose="020B0503020204020204" pitchFamily="34" charset="-122"/>
                <a:ea typeface="微软雅黑" panose="020B0503020204020204" pitchFamily="34" charset="-122"/>
              </a:rPr>
              <a:t>V</a:t>
            </a:r>
            <a:r>
              <a:rPr lang="zh-CN" altLang="en-US" sz="1200" dirty="0">
                <a:solidFill>
                  <a:schemeClr val="tx1">
                    <a:lumMod val="65000"/>
                    <a:lumOff val="35000"/>
                  </a:schemeClr>
                </a:solidFill>
                <a:latin typeface="微软雅黑" panose="020B0503020204020204" pitchFamily="34" charset="-122"/>
                <a:ea typeface="微软雅黑" panose="020B0503020204020204" pitchFamily="34" charset="-122"/>
              </a:rPr>
              <a:t>博主</a:t>
            </a:r>
          </a:p>
        </p:txBody>
      </p:sp>
    </p:spTree>
    <p:extLst>
      <p:ext uri="{BB962C8B-B14F-4D97-AF65-F5344CB8AC3E}">
        <p14:creationId xmlns:p14="http://schemas.microsoft.com/office/powerpoint/2010/main" val="347246510"/>
      </p:ext>
    </p:extLst>
  </p:cSld>
  <p:clrMapOvr>
    <a:masterClrMapping/>
  </p:clrMapOvr>
  <p:transition spd="med">
    <p:pull/>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8D5876CC-A05E-0AC5-7536-0D9D9F12116F}"/>
              </a:ext>
            </a:extLst>
          </p:cNvPr>
          <p:cNvSpPr txBox="1"/>
          <p:nvPr/>
        </p:nvSpPr>
        <p:spPr>
          <a:xfrm>
            <a:off x="873211" y="411892"/>
            <a:ext cx="4456670" cy="861774"/>
          </a:xfrm>
          <a:prstGeom prst="rect">
            <a:avLst/>
          </a:prstGeom>
          <a:noFill/>
        </p:spPr>
        <p:txBody>
          <a:bodyPr wrap="square" rtlCol="0">
            <a:spAutoFit/>
          </a:bodyPr>
          <a:lstStyle/>
          <a:p>
            <a:r>
              <a:rPr lang="zh-CN" altLang="en-US" sz="3200" b="1" dirty="0">
                <a:solidFill>
                  <a:schemeClr val="accent1"/>
                </a:solidFill>
                <a:latin typeface="微软雅黑" panose="020B0503020204020204" pitchFamily="34" charset="-122"/>
                <a:ea typeface="微软雅黑" panose="020B0503020204020204" pitchFamily="34" charset="-122"/>
              </a:rPr>
              <a:t>错位竞争与生态位互补</a:t>
            </a:r>
            <a:endParaRPr lang="zh-CN" altLang="en-US" sz="3200" dirty="0">
              <a:solidFill>
                <a:schemeClr val="accent1"/>
              </a:solidFill>
              <a:latin typeface="微软雅黑" panose="020B0503020204020204" pitchFamily="34" charset="-122"/>
              <a:ea typeface="微软雅黑" panose="020B0503020204020204" pitchFamily="34" charset="-122"/>
            </a:endParaRPr>
          </a:p>
          <a:p>
            <a:endParaRPr lang="zh-CN" altLang="en-US" dirty="0"/>
          </a:p>
        </p:txBody>
      </p:sp>
      <p:sp>
        <p:nvSpPr>
          <p:cNvPr id="3" name="矩形: 圆角 2">
            <a:extLst>
              <a:ext uri="{FF2B5EF4-FFF2-40B4-BE49-F238E27FC236}">
                <a16:creationId xmlns:a16="http://schemas.microsoft.com/office/drawing/2014/main" id="{ACA709F5-37DA-4AFA-8549-02428BD792DD}"/>
              </a:ext>
            </a:extLst>
          </p:cNvPr>
          <p:cNvSpPr/>
          <p:nvPr/>
        </p:nvSpPr>
        <p:spPr>
          <a:xfrm>
            <a:off x="1202724" y="1493108"/>
            <a:ext cx="3231462" cy="3674076"/>
          </a:xfrm>
          <a:prstGeom prst="roundRect">
            <a:avLst>
              <a:gd name="adj" fmla="val 0"/>
            </a:avLst>
          </a:prstGeom>
          <a:solidFill>
            <a:schemeClr val="accent1">
              <a:alpha val="69000"/>
            </a:schemeClr>
          </a:solidFill>
          <a:ln w="6055" cap="flat">
            <a:noFill/>
            <a:prstDash val="solid"/>
            <a:miter/>
          </a:ln>
        </p:spPr>
        <p:txBody>
          <a:bodyPr rtlCol="0" anchor="ctr"/>
          <a:lstStyle/>
          <a:p>
            <a:endParaRPr lang="zh-CN" altLang="en-US">
              <a:latin typeface="Arial" panose="020B0604020202020204" pitchFamily="34" charset="0"/>
              <a:ea typeface="微软雅黑" panose="020B0503020204020204" pitchFamily="34" charset="-122"/>
              <a:sym typeface="Arial" panose="020B0604020202020204" pitchFamily="34" charset="0"/>
            </a:endParaRPr>
          </a:p>
        </p:txBody>
      </p:sp>
      <p:sp>
        <p:nvSpPr>
          <p:cNvPr id="4" name="矩形: 圆角 3">
            <a:extLst>
              <a:ext uri="{FF2B5EF4-FFF2-40B4-BE49-F238E27FC236}">
                <a16:creationId xmlns:a16="http://schemas.microsoft.com/office/drawing/2014/main" id="{71E99745-3D7F-61D4-BF2F-010405BFA5D5}"/>
              </a:ext>
            </a:extLst>
          </p:cNvPr>
          <p:cNvSpPr/>
          <p:nvPr/>
        </p:nvSpPr>
        <p:spPr>
          <a:xfrm>
            <a:off x="7185283" y="1493108"/>
            <a:ext cx="3044222" cy="3674076"/>
          </a:xfrm>
          <a:prstGeom prst="roundRect">
            <a:avLst>
              <a:gd name="adj" fmla="val 0"/>
            </a:avLst>
          </a:prstGeom>
          <a:solidFill>
            <a:schemeClr val="accent1">
              <a:alpha val="74000"/>
            </a:schemeClr>
          </a:solidFill>
          <a:ln w="6055" cap="flat">
            <a:noFill/>
            <a:prstDash val="solid"/>
            <a:miter/>
          </a:ln>
        </p:spPr>
        <p:txBody>
          <a:bodyPr rtlCol="0" anchor="ctr"/>
          <a:lstStyle/>
          <a:p>
            <a:endParaRPr lang="zh-CN" altLang="en-US">
              <a:latin typeface="Arial" panose="020B0604020202020204" pitchFamily="34" charset="0"/>
              <a:ea typeface="微软雅黑" panose="020B0503020204020204" pitchFamily="34" charset="-122"/>
              <a:sym typeface="Arial" panose="020B0604020202020204" pitchFamily="34" charset="0"/>
            </a:endParaRPr>
          </a:p>
        </p:txBody>
      </p:sp>
      <p:sp>
        <p:nvSpPr>
          <p:cNvPr id="5" name="文本框 4">
            <a:extLst>
              <a:ext uri="{FF2B5EF4-FFF2-40B4-BE49-F238E27FC236}">
                <a16:creationId xmlns:a16="http://schemas.microsoft.com/office/drawing/2014/main" id="{3A108FF1-BF2D-E01D-E337-BB40CD6F0491}"/>
              </a:ext>
            </a:extLst>
          </p:cNvPr>
          <p:cNvSpPr txBox="1"/>
          <p:nvPr/>
        </p:nvSpPr>
        <p:spPr>
          <a:xfrm>
            <a:off x="1202724" y="1509584"/>
            <a:ext cx="2356022" cy="646331"/>
          </a:xfrm>
          <a:prstGeom prst="rect">
            <a:avLst/>
          </a:prstGeom>
          <a:noFill/>
        </p:spPr>
        <p:txBody>
          <a:bodyPr wrap="square" rtlCol="0">
            <a:spAutoFit/>
          </a:bodyPr>
          <a:lstStyle/>
          <a:p>
            <a:r>
              <a:rPr lang="zh-CN" altLang="en-US" b="1" dirty="0">
                <a:solidFill>
                  <a:schemeClr val="bg1"/>
                </a:solidFill>
                <a:latin typeface="微软雅黑" panose="020B0503020204020204" pitchFamily="34" charset="-122"/>
                <a:ea typeface="微软雅黑" panose="020B0503020204020204" pitchFamily="34" charset="-122"/>
              </a:rPr>
              <a:t>聚焦专业人群</a:t>
            </a:r>
            <a:endParaRPr lang="zh-CN" altLang="en-US" dirty="0">
              <a:solidFill>
                <a:schemeClr val="bg1"/>
              </a:solidFill>
              <a:latin typeface="微软雅黑" panose="020B0503020204020204" pitchFamily="34" charset="-122"/>
              <a:ea typeface="微软雅黑" panose="020B0503020204020204" pitchFamily="34" charset="-122"/>
            </a:endParaRPr>
          </a:p>
          <a:p>
            <a:endParaRPr lang="zh-CN" altLang="en-US" dirty="0"/>
          </a:p>
        </p:txBody>
      </p:sp>
      <p:sp>
        <p:nvSpPr>
          <p:cNvPr id="6" name="文本框 5">
            <a:extLst>
              <a:ext uri="{FF2B5EF4-FFF2-40B4-BE49-F238E27FC236}">
                <a16:creationId xmlns:a16="http://schemas.microsoft.com/office/drawing/2014/main" id="{C3D81DD4-DD4F-7097-EE28-A38220077CC6}"/>
              </a:ext>
            </a:extLst>
          </p:cNvPr>
          <p:cNvSpPr txBox="1"/>
          <p:nvPr/>
        </p:nvSpPr>
        <p:spPr>
          <a:xfrm>
            <a:off x="1385071" y="1914959"/>
            <a:ext cx="2866767" cy="1354217"/>
          </a:xfrm>
          <a:prstGeom prst="rect">
            <a:avLst/>
          </a:prstGeom>
          <a:noFill/>
        </p:spPr>
        <p:txBody>
          <a:bodyPr wrap="square" rtlCol="0">
            <a:spAutoFit/>
          </a:bodyPr>
          <a:lstStyle/>
          <a:p>
            <a:r>
              <a:rPr lang="zh-CN" altLang="en-US" sz="1600" dirty="0">
                <a:solidFill>
                  <a:schemeClr val="bg1">
                    <a:lumMod val="95000"/>
                  </a:schemeClr>
                </a:solidFill>
                <a:latin typeface="微软雅黑" panose="020B0503020204020204" pitchFamily="34" charset="-122"/>
                <a:ea typeface="微软雅黑" panose="020B0503020204020204" pitchFamily="34" charset="-122"/>
              </a:rPr>
              <a:t>市场切入先聚焦知识博主、品牌新媒体与微短剧编剧三类对创意质量极度敏感的专业人群，避开大众娱乐赛道红海。</a:t>
            </a:r>
          </a:p>
          <a:p>
            <a:endParaRPr lang="zh-CN" altLang="en-US" dirty="0"/>
          </a:p>
        </p:txBody>
      </p:sp>
      <p:sp>
        <p:nvSpPr>
          <p:cNvPr id="7" name="文本框 6">
            <a:extLst>
              <a:ext uri="{FF2B5EF4-FFF2-40B4-BE49-F238E27FC236}">
                <a16:creationId xmlns:a16="http://schemas.microsoft.com/office/drawing/2014/main" id="{DF993C7D-577A-8B7D-909F-959504309D5C}"/>
              </a:ext>
            </a:extLst>
          </p:cNvPr>
          <p:cNvSpPr txBox="1"/>
          <p:nvPr/>
        </p:nvSpPr>
        <p:spPr>
          <a:xfrm>
            <a:off x="7185283" y="1509583"/>
            <a:ext cx="1944130" cy="646331"/>
          </a:xfrm>
          <a:prstGeom prst="rect">
            <a:avLst/>
          </a:prstGeom>
          <a:noFill/>
        </p:spPr>
        <p:txBody>
          <a:bodyPr wrap="square" rtlCol="0">
            <a:spAutoFit/>
          </a:bodyPr>
          <a:lstStyle/>
          <a:p>
            <a:r>
              <a:rPr lang="zh-CN" altLang="en-US" b="1" dirty="0">
                <a:solidFill>
                  <a:schemeClr val="bg1">
                    <a:lumMod val="95000"/>
                  </a:schemeClr>
                </a:solidFill>
                <a:latin typeface="微软雅黑" panose="020B0503020204020204" pitchFamily="34" charset="-122"/>
                <a:ea typeface="微软雅黑" panose="020B0503020204020204" pitchFamily="34" charset="-122"/>
              </a:rPr>
              <a:t>生态位互补</a:t>
            </a:r>
            <a:endParaRPr lang="zh-CN" altLang="en-US" dirty="0">
              <a:solidFill>
                <a:schemeClr val="bg1">
                  <a:lumMod val="95000"/>
                </a:schemeClr>
              </a:solidFill>
              <a:latin typeface="微软雅黑" panose="020B0503020204020204" pitchFamily="34" charset="-122"/>
              <a:ea typeface="微软雅黑" panose="020B0503020204020204" pitchFamily="34" charset="-122"/>
            </a:endParaRPr>
          </a:p>
          <a:p>
            <a:endParaRPr lang="zh-CN" altLang="en-US" dirty="0"/>
          </a:p>
        </p:txBody>
      </p:sp>
      <p:sp>
        <p:nvSpPr>
          <p:cNvPr id="8" name="文本框 7">
            <a:extLst>
              <a:ext uri="{FF2B5EF4-FFF2-40B4-BE49-F238E27FC236}">
                <a16:creationId xmlns:a16="http://schemas.microsoft.com/office/drawing/2014/main" id="{1C9FB278-AA5E-C76F-A0BA-19686FFD510F}"/>
              </a:ext>
            </a:extLst>
          </p:cNvPr>
          <p:cNvSpPr txBox="1"/>
          <p:nvPr/>
        </p:nvSpPr>
        <p:spPr>
          <a:xfrm>
            <a:off x="7405815" y="1914959"/>
            <a:ext cx="2603157" cy="2308324"/>
          </a:xfrm>
          <a:prstGeom prst="rect">
            <a:avLst/>
          </a:prstGeom>
          <a:noFill/>
        </p:spPr>
        <p:txBody>
          <a:bodyPr wrap="square" rtlCol="0">
            <a:spAutoFit/>
          </a:bodyPr>
          <a:lstStyle/>
          <a:p>
            <a:r>
              <a:rPr lang="zh-CN" altLang="en-US" sz="1600" dirty="0">
                <a:solidFill>
                  <a:schemeClr val="bg1">
                    <a:lumMod val="95000"/>
                  </a:schemeClr>
                </a:solidFill>
                <a:latin typeface="微软雅黑" panose="020B0503020204020204" pitchFamily="34" charset="-122"/>
                <a:ea typeface="微软雅黑" panose="020B0503020204020204" pitchFamily="34" charset="-122"/>
              </a:rPr>
              <a:t>定位上强调与</a:t>
            </a:r>
            <a:r>
              <a:rPr lang="en-US" altLang="zh-CN" sz="1600" dirty="0">
                <a:solidFill>
                  <a:schemeClr val="bg1">
                    <a:lumMod val="95000"/>
                  </a:schemeClr>
                </a:solidFill>
                <a:latin typeface="微软雅黑" panose="020B0503020204020204" pitchFamily="34" charset="-122"/>
                <a:ea typeface="微软雅黑" panose="020B0503020204020204" pitchFamily="34" charset="-122"/>
              </a:rPr>
              <a:t>Sora</a:t>
            </a:r>
            <a:r>
              <a:rPr lang="zh-CN" altLang="en-US" sz="1600" dirty="0">
                <a:solidFill>
                  <a:schemeClr val="bg1">
                    <a:lumMod val="95000"/>
                  </a:schemeClr>
                </a:solidFill>
                <a:latin typeface="微软雅黑" panose="020B0503020204020204" pitchFamily="34" charset="-122"/>
                <a:ea typeface="微软雅黑" panose="020B0503020204020204" pitchFamily="34" charset="-122"/>
              </a:rPr>
              <a:t>、万兴等生成工具互补共生：我们输出创意蓝图，他们完成视觉落地，共同缩短创作周期。</a:t>
            </a:r>
          </a:p>
          <a:p>
            <a:r>
              <a:rPr lang="zh-CN" altLang="en-US" sz="1600" dirty="0">
                <a:solidFill>
                  <a:schemeClr val="bg1"/>
                </a:solidFill>
                <a:latin typeface="微软雅黑" panose="020B0503020204020204" pitchFamily="34" charset="-122"/>
                <a:ea typeface="微软雅黑" panose="020B0503020204020204" pitchFamily="34" charset="-122"/>
              </a:rPr>
              <a:t>与</a:t>
            </a:r>
            <a:r>
              <a:rPr lang="en-US" altLang="zh-CN" sz="1600" dirty="0">
                <a:solidFill>
                  <a:schemeClr val="bg1"/>
                </a:solidFill>
                <a:latin typeface="微软雅黑" panose="020B0503020204020204" pitchFamily="34" charset="-122"/>
                <a:ea typeface="微软雅黑" panose="020B0503020204020204" pitchFamily="34" charset="-122"/>
              </a:rPr>
              <a:t>AI</a:t>
            </a:r>
            <a:r>
              <a:rPr lang="zh-CN" altLang="en-US" sz="1600" dirty="0">
                <a:solidFill>
                  <a:schemeClr val="bg1"/>
                </a:solidFill>
                <a:latin typeface="微软雅黑" panose="020B0503020204020204" pitchFamily="34" charset="-122"/>
                <a:ea typeface="微软雅黑" panose="020B0503020204020204" pitchFamily="34" charset="-122"/>
              </a:rPr>
              <a:t>短视频不同的是我们是引导和辅助用户完成视频创作前夕的工作，而并非进行</a:t>
            </a:r>
            <a:r>
              <a:rPr lang="en-US" altLang="zh-CN" sz="1600" dirty="0">
                <a:solidFill>
                  <a:schemeClr val="bg1"/>
                </a:solidFill>
                <a:latin typeface="微软雅黑" panose="020B0503020204020204" pitchFamily="34" charset="-122"/>
                <a:ea typeface="微软雅黑" panose="020B0503020204020204" pitchFamily="34" charset="-122"/>
              </a:rPr>
              <a:t>AI</a:t>
            </a:r>
            <a:r>
              <a:rPr lang="zh-CN" altLang="en-US" sz="1600" dirty="0">
                <a:solidFill>
                  <a:schemeClr val="bg1"/>
                </a:solidFill>
                <a:latin typeface="微软雅黑" panose="020B0503020204020204" pitchFamily="34" charset="-122"/>
                <a:ea typeface="微软雅黑" panose="020B0503020204020204" pitchFamily="34" charset="-122"/>
              </a:rPr>
              <a:t>生成作品操作</a:t>
            </a:r>
          </a:p>
        </p:txBody>
      </p:sp>
    </p:spTree>
    <p:extLst>
      <p:ext uri="{BB962C8B-B14F-4D97-AF65-F5344CB8AC3E}">
        <p14:creationId xmlns:p14="http://schemas.microsoft.com/office/powerpoint/2010/main" val="2049536852"/>
      </p:ext>
    </p:extLst>
  </p:cSld>
  <p:clrMapOvr>
    <a:masterClrMapping/>
  </p:clrMapOvr>
  <p:transition spd="med">
    <p:pull/>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F6A456-1261-106E-B7F5-F5B8C9608B84}"/>
            </a:ext>
          </a:extLst>
        </p:cNvPr>
        <p:cNvGrpSpPr/>
        <p:nvPr/>
      </p:nvGrpSpPr>
      <p:grpSpPr>
        <a:xfrm>
          <a:off x="0" y="0"/>
          <a:ext cx="0" cy="0"/>
          <a:chOff x="0" y="0"/>
          <a:chExt cx="0" cy="0"/>
        </a:xfrm>
      </p:grpSpPr>
      <p:grpSp>
        <p:nvGrpSpPr>
          <p:cNvPr id="7" name="组合 6">
            <a:extLst>
              <a:ext uri="{FF2B5EF4-FFF2-40B4-BE49-F238E27FC236}">
                <a16:creationId xmlns:a16="http://schemas.microsoft.com/office/drawing/2014/main" id="{A49CE49C-85B2-3B64-4724-65FF0C5DB77A}"/>
              </a:ext>
            </a:extLst>
          </p:cNvPr>
          <p:cNvGrpSpPr/>
          <p:nvPr/>
        </p:nvGrpSpPr>
        <p:grpSpPr>
          <a:xfrm>
            <a:off x="846086" y="1279090"/>
            <a:ext cx="8722410" cy="3773009"/>
            <a:chOff x="4337595" y="290322"/>
            <a:chExt cx="8722410" cy="3773009"/>
          </a:xfrm>
        </p:grpSpPr>
        <p:sp>
          <p:nvSpPr>
            <p:cNvPr id="9" name="文本框 8">
              <a:extLst>
                <a:ext uri="{FF2B5EF4-FFF2-40B4-BE49-F238E27FC236}">
                  <a16:creationId xmlns:a16="http://schemas.microsoft.com/office/drawing/2014/main" id="{96A214FC-38B1-5AF3-F21B-9CE5E7246D3F}"/>
                </a:ext>
              </a:extLst>
            </p:cNvPr>
            <p:cNvSpPr txBox="1"/>
            <p:nvPr/>
          </p:nvSpPr>
          <p:spPr>
            <a:xfrm>
              <a:off x="4337595" y="290322"/>
              <a:ext cx="8442960" cy="3770263"/>
            </a:xfrm>
            <a:prstGeom prst="rect">
              <a:avLst/>
            </a:prstGeom>
            <a:noFill/>
            <a:scene3d>
              <a:camera prst="orthographicFront">
                <a:rot lat="450000" lon="18143998" rev="0"/>
              </a:camera>
              <a:lightRig rig="brightRoom" dir="t"/>
            </a:scene3d>
            <a:sp3d prstMaterial="matte"/>
          </p:spPr>
          <p:txBody>
            <a:bodyPr wrap="square" rtlCol="0">
              <a:spAutoFit/>
              <a:sp3d extrusionH="342900" prstMaterial="translucentPowder"/>
            </a:bodyPr>
            <a:lstStyle/>
            <a:p>
              <a:r>
                <a:rPr lang="en-US" altLang="zh-CN" sz="23900" b="1" dirty="0">
                  <a:gradFill>
                    <a:gsLst>
                      <a:gs pos="100000">
                        <a:schemeClr val="accent1">
                          <a:lumMod val="20000"/>
                          <a:lumOff val="80000"/>
                        </a:schemeClr>
                      </a:gs>
                      <a:gs pos="4000">
                        <a:schemeClr val="accent2"/>
                      </a:gs>
                    </a:gsLst>
                    <a:path path="circle">
                      <a:fillToRect r="100000" b="100000"/>
                    </a:path>
                  </a:gradFill>
                  <a:effectLst>
                    <a:reflection blurRad="38100" stA="55000" endA="300" endPos="15000" dir="5400000" sy="-100000" algn="bl" rotWithShape="0"/>
                  </a:effectLst>
                  <a:latin typeface="微软雅黑" panose="020B0503020204020204" pitchFamily="34" charset="-122"/>
                  <a:ea typeface="微软雅黑" panose="020B0503020204020204" pitchFamily="34" charset="-122"/>
                </a:rPr>
                <a:t>04</a:t>
              </a:r>
              <a:endParaRPr lang="zh-CN" altLang="en-US" sz="23900" b="1" dirty="0">
                <a:gradFill>
                  <a:gsLst>
                    <a:gs pos="100000">
                      <a:schemeClr val="accent1">
                        <a:lumMod val="20000"/>
                        <a:lumOff val="80000"/>
                      </a:schemeClr>
                    </a:gs>
                    <a:gs pos="4000">
                      <a:schemeClr val="accent2"/>
                    </a:gs>
                  </a:gsLst>
                  <a:path path="circle">
                    <a:fillToRect r="100000" b="100000"/>
                  </a:path>
                </a:gradFill>
                <a:effectLst>
                  <a:reflection blurRad="38100" stA="55000" endA="300" endPos="15000" dir="5400000" sy="-100000" algn="bl" rotWithShape="0"/>
                </a:effectLst>
                <a:latin typeface="微软雅黑" panose="020B0503020204020204" pitchFamily="34" charset="-122"/>
                <a:ea typeface="微软雅黑" panose="020B0503020204020204" pitchFamily="34" charset="-122"/>
              </a:endParaRPr>
            </a:p>
          </p:txBody>
        </p:sp>
        <p:sp>
          <p:nvSpPr>
            <p:cNvPr id="11" name="文本框 10">
              <a:extLst>
                <a:ext uri="{FF2B5EF4-FFF2-40B4-BE49-F238E27FC236}">
                  <a16:creationId xmlns:a16="http://schemas.microsoft.com/office/drawing/2014/main" id="{6AD673E7-0E07-45A5-70F7-2BC1DE40D3D7}"/>
                </a:ext>
              </a:extLst>
            </p:cNvPr>
            <p:cNvSpPr txBox="1"/>
            <p:nvPr/>
          </p:nvSpPr>
          <p:spPr>
            <a:xfrm>
              <a:off x="4617045" y="293068"/>
              <a:ext cx="8442960" cy="3770263"/>
            </a:xfrm>
            <a:prstGeom prst="rect">
              <a:avLst/>
            </a:prstGeom>
            <a:noFill/>
            <a:effectLst/>
            <a:scene3d>
              <a:camera prst="orthographicFront">
                <a:rot lat="450000" lon="18143998" rev="0"/>
              </a:camera>
              <a:lightRig rig="contrasting" dir="t"/>
            </a:scene3d>
            <a:sp3d prstMaterial="matte"/>
          </p:spPr>
          <p:txBody>
            <a:bodyPr wrap="square" rtlCol="0">
              <a:spAutoFit/>
              <a:sp3d prstMaterial="translucentPowder"/>
            </a:bodyPr>
            <a:lstStyle/>
            <a:p>
              <a:r>
                <a:rPr lang="en-US" altLang="zh-CN" sz="23900" b="1" dirty="0">
                  <a:gradFill>
                    <a:gsLst>
                      <a:gs pos="100000">
                        <a:schemeClr val="accent1"/>
                      </a:gs>
                      <a:gs pos="4000">
                        <a:schemeClr val="accent2">
                          <a:lumMod val="60000"/>
                          <a:lumOff val="40000"/>
                        </a:schemeClr>
                      </a:gs>
                    </a:gsLst>
                    <a:path path="circle">
                      <a:fillToRect r="100000" b="100000"/>
                    </a:path>
                  </a:gradFill>
                  <a:effectLst>
                    <a:reflection blurRad="38100" stA="55000" endA="300" endPos="15000" dir="5400000" sy="-100000" algn="bl" rotWithShape="0"/>
                  </a:effectLst>
                  <a:latin typeface="微软雅黑" panose="020B0503020204020204" pitchFamily="34" charset="-122"/>
                  <a:ea typeface="微软雅黑" panose="020B0503020204020204" pitchFamily="34" charset="-122"/>
                </a:rPr>
                <a:t>04</a:t>
              </a:r>
              <a:endParaRPr lang="zh-CN" altLang="en-US" sz="23900" b="1" dirty="0">
                <a:gradFill>
                  <a:gsLst>
                    <a:gs pos="100000">
                      <a:schemeClr val="accent1"/>
                    </a:gs>
                    <a:gs pos="4000">
                      <a:schemeClr val="accent2">
                        <a:lumMod val="60000"/>
                        <a:lumOff val="40000"/>
                      </a:schemeClr>
                    </a:gs>
                  </a:gsLst>
                  <a:path path="circle">
                    <a:fillToRect r="100000" b="100000"/>
                  </a:path>
                </a:gradFill>
                <a:effectLst>
                  <a:reflection blurRad="38100" stA="55000" endA="300" endPos="15000" dir="5400000" sy="-100000" algn="bl" rotWithShape="0"/>
                </a:effectLst>
                <a:latin typeface="微软雅黑" panose="020B0503020204020204" pitchFamily="34" charset="-122"/>
                <a:ea typeface="微软雅黑" panose="020B0503020204020204" pitchFamily="34" charset="-122"/>
              </a:endParaRPr>
            </a:p>
          </p:txBody>
        </p:sp>
      </p:grpSp>
      <p:sp>
        <p:nvSpPr>
          <p:cNvPr id="13" name="文本框 12">
            <a:extLst>
              <a:ext uri="{FF2B5EF4-FFF2-40B4-BE49-F238E27FC236}">
                <a16:creationId xmlns:a16="http://schemas.microsoft.com/office/drawing/2014/main" id="{FEBFB964-2302-B99A-4378-17C60EF03931}"/>
              </a:ext>
            </a:extLst>
          </p:cNvPr>
          <p:cNvSpPr txBox="1"/>
          <p:nvPr/>
        </p:nvSpPr>
        <p:spPr>
          <a:xfrm>
            <a:off x="6506776" y="2520701"/>
            <a:ext cx="3971599" cy="307777"/>
          </a:xfrm>
          <a:prstGeom prst="rect">
            <a:avLst/>
          </a:prstGeom>
          <a:noFill/>
        </p:spPr>
        <p:txBody>
          <a:bodyPr wrap="square" rtlCol="0">
            <a:spAutoFit/>
          </a:bodyPr>
          <a:lstStyle/>
          <a:p>
            <a:pPr algn="dist"/>
            <a:r>
              <a:rPr lang="en-US" altLang="zh-CN" sz="1400" dirty="0">
                <a:solidFill>
                  <a:schemeClr val="accent2"/>
                </a:solidFill>
                <a:latin typeface="微软雅黑" panose="020B0503020204020204" pitchFamily="34" charset="-122"/>
                <a:ea typeface="微软雅黑" panose="020B0503020204020204" pitchFamily="34" charset="-122"/>
              </a:rPr>
              <a:t>PLAN IMPLEMENTATION</a:t>
            </a:r>
            <a:endParaRPr lang="zh-CN" altLang="en-US" sz="1400" dirty="0">
              <a:solidFill>
                <a:schemeClr val="accent2"/>
              </a:solidFill>
              <a:latin typeface="微软雅黑" panose="020B0503020204020204" pitchFamily="34" charset="-122"/>
              <a:ea typeface="微软雅黑" panose="020B0503020204020204" pitchFamily="34" charset="-122"/>
            </a:endParaRPr>
          </a:p>
        </p:txBody>
      </p:sp>
      <p:sp>
        <p:nvSpPr>
          <p:cNvPr id="14" name="任意多边形: 形状 13">
            <a:extLst>
              <a:ext uri="{FF2B5EF4-FFF2-40B4-BE49-F238E27FC236}">
                <a16:creationId xmlns:a16="http://schemas.microsoft.com/office/drawing/2014/main" id="{24AA6EE8-8E02-1C62-664C-47CCC80FF80D}"/>
              </a:ext>
            </a:extLst>
          </p:cNvPr>
          <p:cNvSpPr/>
          <p:nvPr/>
        </p:nvSpPr>
        <p:spPr>
          <a:xfrm>
            <a:off x="6506775" y="4064000"/>
            <a:ext cx="4016675" cy="409575"/>
          </a:xfrm>
          <a:custGeom>
            <a:avLst/>
            <a:gdLst>
              <a:gd name="connsiteX0" fmla="*/ 0 w 4114800"/>
              <a:gd name="connsiteY0" fmla="*/ 0 h 409575"/>
              <a:gd name="connsiteX1" fmla="*/ 1181100 w 4114800"/>
              <a:gd name="connsiteY1" fmla="*/ 0 h 409575"/>
              <a:gd name="connsiteX2" fmla="*/ 1181100 w 4114800"/>
              <a:gd name="connsiteY2" fmla="*/ 409575 h 409575"/>
              <a:gd name="connsiteX3" fmla="*/ 1581150 w 4114800"/>
              <a:gd name="connsiteY3" fmla="*/ 9525 h 409575"/>
              <a:gd name="connsiteX4" fmla="*/ 4114800 w 4114800"/>
              <a:gd name="connsiteY4" fmla="*/ 9525 h 409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114800" h="409575">
                <a:moveTo>
                  <a:pt x="0" y="0"/>
                </a:moveTo>
                <a:lnTo>
                  <a:pt x="1181100" y="0"/>
                </a:lnTo>
                <a:lnTo>
                  <a:pt x="1181100" y="409575"/>
                </a:lnTo>
                <a:lnTo>
                  <a:pt x="1581150" y="9525"/>
                </a:lnTo>
                <a:lnTo>
                  <a:pt x="4114800" y="9525"/>
                </a:lnTo>
              </a:path>
            </a:pathLst>
          </a:cu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solidFill>
                <a:schemeClr val="accent1"/>
              </a:solidFill>
              <a:latin typeface="微软雅黑" panose="020B0503020204020204" pitchFamily="34" charset="-122"/>
              <a:ea typeface="微软雅黑" panose="020B0503020204020204" pitchFamily="34" charset="-122"/>
            </a:endParaRPr>
          </a:p>
        </p:txBody>
      </p:sp>
      <p:sp>
        <p:nvSpPr>
          <p:cNvPr id="3" name="文本框 2">
            <a:extLst>
              <a:ext uri="{FF2B5EF4-FFF2-40B4-BE49-F238E27FC236}">
                <a16:creationId xmlns:a16="http://schemas.microsoft.com/office/drawing/2014/main" id="{33E83868-C8BF-1D61-A756-37BB3F86B120}"/>
              </a:ext>
            </a:extLst>
          </p:cNvPr>
          <p:cNvSpPr txBox="1"/>
          <p:nvPr/>
        </p:nvSpPr>
        <p:spPr>
          <a:xfrm>
            <a:off x="7215230" y="3013501"/>
            <a:ext cx="4565689" cy="830997"/>
          </a:xfrm>
          <a:prstGeom prst="rect">
            <a:avLst/>
          </a:prstGeom>
          <a:noFill/>
        </p:spPr>
        <p:txBody>
          <a:bodyPr wrap="square" rtlCol="0">
            <a:spAutoFit/>
          </a:bodyPr>
          <a:lstStyle/>
          <a:p>
            <a:r>
              <a:rPr lang="zh-CN" altLang="en-US" sz="4800" b="1" dirty="0">
                <a:solidFill>
                  <a:schemeClr val="accent1"/>
                </a:solidFill>
                <a:latin typeface="微软雅黑" panose="020B0503020204020204" pitchFamily="34" charset="-122"/>
                <a:ea typeface="微软雅黑" panose="020B0503020204020204" pitchFamily="34" charset="-122"/>
              </a:rPr>
              <a:t>价值总结</a:t>
            </a:r>
          </a:p>
        </p:txBody>
      </p:sp>
    </p:spTree>
    <p:extLst>
      <p:ext uri="{BB962C8B-B14F-4D97-AF65-F5344CB8AC3E}">
        <p14:creationId xmlns:p14="http://schemas.microsoft.com/office/powerpoint/2010/main" val="1941127607"/>
      </p:ext>
    </p:extLst>
  </p:cSld>
  <p:clrMapOvr>
    <a:masterClrMapping/>
  </p:clrMapOvr>
  <p:transition spd="med">
    <p:pull/>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7">
            <a:extLst>
              <a:ext uri="{FF2B5EF4-FFF2-40B4-BE49-F238E27FC236}">
                <a16:creationId xmlns:a16="http://schemas.microsoft.com/office/drawing/2014/main" id="{43D44045-33A4-B7B1-A267-95EC49772777}"/>
              </a:ext>
            </a:extLst>
          </p:cNvPr>
          <p:cNvSpPr txBox="1"/>
          <p:nvPr/>
        </p:nvSpPr>
        <p:spPr>
          <a:xfrm>
            <a:off x="660399" y="417642"/>
            <a:ext cx="7001422" cy="584775"/>
          </a:xfrm>
          <a:prstGeom prst="rect">
            <a:avLst/>
          </a:prstGeom>
          <a:noFill/>
        </p:spPr>
        <p:txBody>
          <a:bodyPr wrap="square" rtlCol="0">
            <a:spAutoFit/>
          </a:bodyPr>
          <a:lstStyle/>
          <a:p>
            <a:r>
              <a:rPr lang="zh-CN" altLang="en-US" sz="3200" b="1" dirty="0">
                <a:solidFill>
                  <a:schemeClr val="accent1"/>
                </a:solidFill>
                <a:latin typeface="微软雅黑" panose="020B0503020204020204" pitchFamily="34" charset="-122"/>
                <a:ea typeface="微软雅黑" panose="020B0503020204020204" pitchFamily="34" charset="-122"/>
              </a:rPr>
              <a:t>让创意不再靠天吃饭</a:t>
            </a:r>
            <a:endParaRPr lang="zh-CN" altLang="en-US" sz="3200" dirty="0">
              <a:solidFill>
                <a:schemeClr val="accent1"/>
              </a:solidFill>
              <a:latin typeface="微软雅黑" panose="020B0503020204020204" pitchFamily="34" charset="-122"/>
              <a:ea typeface="微软雅黑" panose="020B0503020204020204" pitchFamily="34" charset="-122"/>
            </a:endParaRPr>
          </a:p>
        </p:txBody>
      </p:sp>
      <p:sp>
        <p:nvSpPr>
          <p:cNvPr id="2" name="文本框 1">
            <a:extLst>
              <a:ext uri="{FF2B5EF4-FFF2-40B4-BE49-F238E27FC236}">
                <a16:creationId xmlns:a16="http://schemas.microsoft.com/office/drawing/2014/main" id="{1EAA9106-8DED-7C4C-30C6-F587AC444551}"/>
              </a:ext>
            </a:extLst>
          </p:cNvPr>
          <p:cNvSpPr txBox="1"/>
          <p:nvPr/>
        </p:nvSpPr>
        <p:spPr>
          <a:xfrm>
            <a:off x="790832" y="1367481"/>
            <a:ext cx="2578444" cy="646331"/>
          </a:xfrm>
          <a:prstGeom prst="rect">
            <a:avLst/>
          </a:prstGeom>
          <a:noFill/>
        </p:spPr>
        <p:txBody>
          <a:bodyPr wrap="square" rtlCol="0">
            <a:spAutoFit/>
          </a:bodyPr>
          <a:lstStyle/>
          <a:p>
            <a:r>
              <a:rPr lang="zh-CN" altLang="en-US" b="1" dirty="0">
                <a:solidFill>
                  <a:schemeClr val="accent1"/>
                </a:solidFill>
                <a:latin typeface="微软雅黑" panose="020B0503020204020204" pitchFamily="34" charset="-122"/>
                <a:ea typeface="微软雅黑" panose="020B0503020204020204" pitchFamily="34" charset="-122"/>
              </a:rPr>
              <a:t>愿景与价值</a:t>
            </a:r>
            <a:endParaRPr lang="zh-CN" altLang="en-US" dirty="0">
              <a:solidFill>
                <a:schemeClr val="accent1"/>
              </a:solidFill>
              <a:latin typeface="微软雅黑" panose="020B0503020204020204" pitchFamily="34" charset="-122"/>
              <a:ea typeface="微软雅黑" panose="020B0503020204020204" pitchFamily="34" charset="-122"/>
            </a:endParaRPr>
          </a:p>
          <a:p>
            <a:endParaRPr lang="zh-CN" altLang="en-US" dirty="0"/>
          </a:p>
        </p:txBody>
      </p:sp>
      <p:sp>
        <p:nvSpPr>
          <p:cNvPr id="3" name="文本框 2">
            <a:extLst>
              <a:ext uri="{FF2B5EF4-FFF2-40B4-BE49-F238E27FC236}">
                <a16:creationId xmlns:a16="http://schemas.microsoft.com/office/drawing/2014/main" id="{839B39D0-BB23-5071-B5FC-226E034F90FC}"/>
              </a:ext>
            </a:extLst>
          </p:cNvPr>
          <p:cNvSpPr txBox="1"/>
          <p:nvPr/>
        </p:nvSpPr>
        <p:spPr>
          <a:xfrm>
            <a:off x="897924" y="2013812"/>
            <a:ext cx="9621795" cy="1354217"/>
          </a:xfrm>
          <a:prstGeom prst="rect">
            <a:avLst/>
          </a:prstGeom>
          <a:noFill/>
        </p:spPr>
        <p:txBody>
          <a:bodyPr wrap="square" rtlCol="0">
            <a:spAutoFit/>
          </a:bodyPr>
          <a:lstStyle/>
          <a:p>
            <a:r>
              <a:rPr lang="zh-CN" altLang="en-US" sz="1600" dirty="0">
                <a:latin typeface="微软雅黑" panose="020B0503020204020204" pitchFamily="34" charset="-122"/>
                <a:ea typeface="微软雅黑" panose="020B0503020204020204" pitchFamily="34" charset="-122"/>
              </a:rPr>
              <a:t>项目最终愿景是把随机爆发的个人灵感转化为可复用、可预测的数据驱动方案，使短视频创作从‘玄学’变‘工程’。当每位创作者都拥有自己的</a:t>
            </a:r>
            <a:r>
              <a:rPr lang="en-US" altLang="zh-CN" sz="1600" dirty="0">
                <a:latin typeface="微软雅黑" panose="020B0503020204020204" pitchFamily="34" charset="-122"/>
                <a:ea typeface="微软雅黑" panose="020B0503020204020204" pitchFamily="34" charset="-122"/>
              </a:rPr>
              <a:t>AI</a:t>
            </a:r>
            <a:r>
              <a:rPr lang="zh-CN" altLang="en-US" sz="1600" dirty="0">
                <a:latin typeface="微软雅黑" panose="020B0503020204020204" pitchFamily="34" charset="-122"/>
                <a:ea typeface="微软雅黑" panose="020B0503020204020204" pitchFamily="34" charset="-122"/>
              </a:rPr>
              <a:t>创意合伙人，内容供给将呈现多元与精品并存的新局面，也让每位创作者渡过灵感的瓶颈期，平台生态也因高质量创意持续繁荣，我们则成为隐藏在水面下的创意基础设施，长期分享行业增长红利。</a:t>
            </a:r>
          </a:p>
          <a:p>
            <a:endParaRPr lang="zh-CN" altLang="en-US" dirty="0"/>
          </a:p>
        </p:txBody>
      </p:sp>
    </p:spTree>
    <p:extLst>
      <p:ext uri="{BB962C8B-B14F-4D97-AF65-F5344CB8AC3E}">
        <p14:creationId xmlns:p14="http://schemas.microsoft.com/office/powerpoint/2010/main" val="2099190813"/>
      </p:ext>
    </p:extLst>
  </p:cSld>
  <p:clrMapOvr>
    <a:masterClrMapping/>
  </p:clrMapOvr>
  <p:transition spd="med">
    <p:pull/>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D28148A0-0A9E-39B1-AD5A-9982F27683CC}"/>
              </a:ext>
            </a:extLst>
          </p:cNvPr>
          <p:cNvSpPr txBox="1"/>
          <p:nvPr/>
        </p:nvSpPr>
        <p:spPr>
          <a:xfrm>
            <a:off x="3777096" y="2049831"/>
            <a:ext cx="4637808" cy="1323439"/>
          </a:xfrm>
          <a:prstGeom prst="rect">
            <a:avLst/>
          </a:prstGeom>
          <a:noFill/>
        </p:spPr>
        <p:txBody>
          <a:bodyPr wrap="none" rtlCol="0">
            <a:spAutoFit/>
          </a:bodyPr>
          <a:lstStyle/>
          <a:p>
            <a:pPr algn="ctr"/>
            <a:r>
              <a:rPr lang="en-US" altLang="zh-CN" sz="8000" b="1" dirty="0">
                <a:solidFill>
                  <a:schemeClr val="bg1"/>
                </a:solidFill>
                <a:latin typeface="微软雅黑" panose="020B0503020204020204" pitchFamily="34" charset="-122"/>
                <a:ea typeface="微软雅黑" panose="020B0503020204020204" pitchFamily="34" charset="-122"/>
              </a:rPr>
              <a:t>THANKS</a:t>
            </a:r>
          </a:p>
        </p:txBody>
      </p:sp>
      <p:sp>
        <p:nvSpPr>
          <p:cNvPr id="3" name="文本框 2">
            <a:extLst>
              <a:ext uri="{FF2B5EF4-FFF2-40B4-BE49-F238E27FC236}">
                <a16:creationId xmlns:a16="http://schemas.microsoft.com/office/drawing/2014/main" id="{F168E697-D95A-8DAA-6B8F-6BCE7E3C763F}"/>
              </a:ext>
            </a:extLst>
          </p:cNvPr>
          <p:cNvSpPr txBox="1"/>
          <p:nvPr/>
        </p:nvSpPr>
        <p:spPr>
          <a:xfrm>
            <a:off x="4737100" y="3230594"/>
            <a:ext cx="2717800" cy="707886"/>
          </a:xfrm>
          <a:prstGeom prst="rect">
            <a:avLst/>
          </a:prstGeom>
          <a:noFill/>
        </p:spPr>
        <p:txBody>
          <a:bodyPr wrap="square" rtlCol="0">
            <a:spAutoFit/>
          </a:bodyPr>
          <a:lstStyle/>
          <a:p>
            <a:pPr algn="dist"/>
            <a:r>
              <a:rPr kumimoji="0" lang="zh-CN" altLang="en-US" sz="40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rPr>
              <a:t>谢谢观看</a:t>
            </a:r>
          </a:p>
        </p:txBody>
      </p:sp>
    </p:spTree>
    <p:extLst>
      <p:ext uri="{BB962C8B-B14F-4D97-AF65-F5344CB8AC3E}">
        <p14:creationId xmlns:p14="http://schemas.microsoft.com/office/powerpoint/2010/main" val="693944628"/>
      </p:ext>
    </p:extLst>
  </p:cSld>
  <p:clrMapOvr>
    <a:masterClrMapping/>
  </p:clrMapOvr>
  <p:transition spd="med">
    <p:pull/>
  </p:transition>
</p:sld>
</file>

<file path=ppt/tags/tag1.xml><?xml version="1.0" encoding="utf-8"?>
<p:tagLst xmlns:a="http://schemas.openxmlformats.org/drawingml/2006/main" xmlns:r="http://schemas.openxmlformats.org/officeDocument/2006/relationships" xmlns:p="http://schemas.openxmlformats.org/presentationml/2006/main">
  <p:tag name="COMMONDATA" val="eyJoZGlkIjoiOTUyODZkOTBlMzQ2MTY0YmM3MTFhNGUxMWRjMjhlODcifQ=="/>
  <p:tag name="ISLIDE.GUIDESSETTING" val="{&quot;Id&quot;:&quot;GuidesStyle_Normal&quot;,&quot;Name&quot;:&quot;GuidesStyle_Normal&quot;,&quot;Kind&quot;:0,&quot;OldGuidesSetting&quot;:{&quot;HeaderHeight&quot;:15.0,&quot;FooterHeight&quot;:9.0,&quot;SideMargin&quot;:5.5,&quot;TopMargin&quot;:0.0,&quot;BottomMargin&quot;:0.0,&quot;IntervalMargin&quot;:1.5}}"/>
</p:tagLst>
</file>

<file path=ppt/theme/theme1.xml><?xml version="1.0" encoding="utf-8"?>
<a:theme xmlns:a="http://schemas.openxmlformats.org/drawingml/2006/main" name="Office 主题">
  <a:themeElements>
    <a:clrScheme name="自定义 40">
      <a:dk1>
        <a:sysClr val="windowText" lastClr="000000"/>
      </a:dk1>
      <a:lt1>
        <a:sysClr val="window" lastClr="FFFFFF"/>
      </a:lt1>
      <a:dk2>
        <a:srgbClr val="44546A"/>
      </a:dk2>
      <a:lt2>
        <a:srgbClr val="E7E6E6"/>
      </a:lt2>
      <a:accent1>
        <a:srgbClr val="2819A9"/>
      </a:accent1>
      <a:accent2>
        <a:srgbClr val="627FEB"/>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6AB9CB8CCF997C40928251C6A1072050" ma:contentTypeVersion="3" ma:contentTypeDescription="Create a new document." ma:contentTypeScope="" ma:versionID="0c352f63cbe85e9d3f8a9ed27782605b">
  <xsd:schema xmlns:xsd="http://www.w3.org/2001/XMLSchema" xmlns:xs="http://www.w3.org/2001/XMLSchema" xmlns:p="http://schemas.microsoft.com/office/2006/metadata/properties" xmlns:ns3="c81ed1cc-ca45-45ee-8035-7feaa955e6d1" targetNamespace="http://schemas.microsoft.com/office/2006/metadata/properties" ma:root="true" ma:fieldsID="203b549c40e5ef0562e8175c6237262f" ns3:_="">
    <xsd:import namespace="c81ed1cc-ca45-45ee-8035-7feaa955e6d1"/>
    <xsd:element name="properties">
      <xsd:complexType>
        <xsd:sequence>
          <xsd:element name="documentManagement">
            <xsd:complexType>
              <xsd:all>
                <xsd:element ref="ns3:MediaServiceMetadata" minOccurs="0"/>
                <xsd:element ref="ns3:MediaServiceFastMetadata" minOccurs="0"/>
                <xsd:element ref="ns3: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c81ed1cc-ca45-45ee-8035-7feaa955e6d1"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bjectDetectorVersions" ma:index="10" nillable="true" ma:displayName="MediaServiceObjectDetectorVersions" ma:hidden="true" ma:indexed="true" ma:internalName="MediaServiceObjectDetectorVersions"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4A05ACA5-B7B5-4B41-A46B-3604F32173E6}">
  <ds:schemaRefs>
    <ds:schemaRef ds:uri="http://schemas.microsoft.com/sharepoint/v3/contenttype/forms"/>
  </ds:schemaRefs>
</ds:datastoreItem>
</file>

<file path=customXml/itemProps2.xml><?xml version="1.0" encoding="utf-8"?>
<ds:datastoreItem xmlns:ds="http://schemas.openxmlformats.org/officeDocument/2006/customXml" ds:itemID="{E62CAA77-01C7-47F2-AED8-491FFB620AA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c81ed1cc-ca45-45ee-8035-7feaa955e6d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190DCB10-26A9-49B7-A2A1-9EA40699BF8A}">
  <ds:schemaRefs>
    <ds:schemaRef ds:uri="http://schemas.microsoft.com/office/2006/documentManagement/types"/>
    <ds:schemaRef ds:uri="http://schemas.openxmlformats.org/package/2006/metadata/core-properties"/>
    <ds:schemaRef ds:uri="http://purl.org/dc/dcmitype/"/>
    <ds:schemaRef ds:uri="http://purl.org/dc/terms/"/>
    <ds:schemaRef ds:uri="http://purl.org/dc/elements/1.1/"/>
    <ds:schemaRef ds:uri="http://schemas.microsoft.com/office/2006/metadata/properties"/>
    <ds:schemaRef ds:uri="c81ed1cc-ca45-45ee-8035-7feaa955e6d1"/>
    <ds:schemaRef ds:uri="http://www.w3.org/XML/1998/namespace"/>
    <ds:schemaRef ds:uri="http://schemas.microsoft.com/office/infopath/2007/PartnerControls"/>
  </ds:schemaRefs>
</ds:datastoreItem>
</file>

<file path=docProps/app.xml><?xml version="1.0" encoding="utf-8"?>
<Properties xmlns="http://schemas.openxmlformats.org/officeDocument/2006/extended-properties" xmlns:vt="http://schemas.openxmlformats.org/officeDocument/2006/docPropsVTypes">
  <TotalTime>1086</TotalTime>
  <Words>1695</Words>
  <Application>Microsoft Office PowerPoint</Application>
  <PresentationFormat>宽屏</PresentationFormat>
  <Paragraphs>126</Paragraphs>
  <Slides>20</Slides>
  <Notes>0</Notes>
  <HiddenSlides>0</HiddenSlides>
  <MMClips>0</MMClips>
  <ScaleCrop>false</ScaleCrop>
  <HeadingPairs>
    <vt:vector size="6" baseType="variant">
      <vt:variant>
        <vt:lpstr>已用的字体</vt:lpstr>
      </vt:variant>
      <vt:variant>
        <vt:i4>5</vt:i4>
      </vt:variant>
      <vt:variant>
        <vt:lpstr>主题</vt:lpstr>
      </vt:variant>
      <vt:variant>
        <vt:i4>1</vt:i4>
      </vt:variant>
      <vt:variant>
        <vt:lpstr>幻灯片标题</vt:lpstr>
      </vt:variant>
      <vt:variant>
        <vt:i4>20</vt:i4>
      </vt:variant>
    </vt:vector>
  </HeadingPairs>
  <TitlesOfParts>
    <vt:vector size="26" baseType="lpstr">
      <vt:lpstr>等线</vt:lpstr>
      <vt:lpstr>微软雅黑</vt:lpstr>
      <vt:lpstr>Arial</vt:lpstr>
      <vt:lpstr>Calibri</vt:lpstr>
      <vt:lpstr>Calibri Light</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岚子设计</dc:creator>
  <cp:lastModifiedBy>真琴 花岗</cp:lastModifiedBy>
  <cp:revision>81</cp:revision>
  <dcterms:created xsi:type="dcterms:W3CDTF">2022-07-25T01:29:00Z</dcterms:created>
  <dcterms:modified xsi:type="dcterms:W3CDTF">2025-12-10T09:47:51Z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EB944CC3A3EE4BA0AAC7BFC51E748084_13</vt:lpwstr>
  </property>
  <property fmtid="{D5CDD505-2E9C-101B-9397-08002B2CF9AE}" pid="3" name="KSOProductBuildVer">
    <vt:lpwstr>2052-12.1.0.15374</vt:lpwstr>
  </property>
  <property fmtid="{D5CDD505-2E9C-101B-9397-08002B2CF9AE}" pid="4" name="ContentTypeId">
    <vt:lpwstr>0x0101006AB9CB8CCF997C40928251C6A1072050</vt:lpwstr>
  </property>
</Properties>
</file>